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sldSz cx="18288000" cy="10287000"/>
  <p:notesSz cx="6858000" cy="9144000"/>
  <p:embeddedFontLst>
    <p:embeddedFont>
      <p:font typeface="Calibri" panose="020F0502020204030204" pitchFamily="34" charset="0"/>
      <p:regular r:id="rId51"/>
      <p:bold r:id="rId52"/>
      <p:italic r:id="rId53"/>
      <p:boldItalic r:id="rId54"/>
    </p:embeddedFont>
    <p:embeddedFont>
      <p:font typeface="League Spartan" panose="020B0604020202020204" charset="0"/>
      <p:bold r:id="rId55"/>
    </p:embeddedFont>
    <p:embeddedFont>
      <p:font typeface="Montserrat" panose="020B0604020202020204" pitchFamily="2" charset="0"/>
      <p:regular r:id="rId56"/>
      <p:bold r:id="rId57"/>
      <p:boldItalic r:id="rId5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9" roundtripDataSignature="AMtx7mjwC0kfbtVr0PUeoUni/fiW8mV/Z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46" d="100"/>
          <a:sy n="46" d="100"/>
        </p:scale>
        <p:origin x="756" y="4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font" Target="fonts/font5.fntdata"/><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3.fntdata"/><Relationship Id="rId58" Type="http://schemas.openxmlformats.org/officeDocument/2006/relationships/font" Target="fonts/font8.fntdata"/><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6.fntdata"/><Relationship Id="rId8" Type="http://schemas.openxmlformats.org/officeDocument/2006/relationships/slide" Target="slides/slide7.xml"/><Relationship Id="rId51" Type="http://schemas.openxmlformats.org/officeDocument/2006/relationships/font" Target="fonts/font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customschemas.google.com/relationships/presentationmetadata" Target="meta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4.fntdata"/><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7.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2.fntdata"/><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fr-FR"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a:t>Bonjour à toutes et à tous,</a:t>
            </a:r>
            <a:endParaRPr/>
          </a:p>
          <a:p>
            <a:pPr marL="0" lvl="0" indent="0" algn="l" rtl="0">
              <a:spcBef>
                <a:spcPts val="0"/>
              </a:spcBef>
              <a:spcAft>
                <a:spcPts val="0"/>
              </a:spcAft>
              <a:buNone/>
            </a:pPr>
            <a:r>
              <a:rPr lang="fr-FR"/>
              <a:t>Messieurs les membres du jury, je vous souhaite la bienvenue et vous remercie sincèrement d'avoir bien voulu accorder de votre précieux temps et d'être présents aujourd'hui pour évaluer mon Travail de Fin d'Études. Je vous remercie également d'avance pour votre écoute attentive tout au long de cette présentation.</a:t>
            </a:r>
            <a:endParaRPr/>
          </a:p>
          <a:p>
            <a:pPr marL="0" lvl="0" indent="0" algn="l" rtl="0">
              <a:spcBef>
                <a:spcPts val="0"/>
              </a:spcBef>
              <a:spcAft>
                <a:spcPts val="0"/>
              </a:spcAft>
              <a:buNone/>
            </a:pPr>
            <a:r>
              <a:rPr lang="fr-FR"/>
              <a:t>Mon stage de Projet de Fin d'Études s'est déroulé au sein du groupe OCP, sur le site industriel de Safi. Le projet sur lequel j'ai eu l'opportunité de travailler est d'une grande importance et a été choisi pour répondre à un besoin urgent identifié par le service concerné au sein d'OCP.</a:t>
            </a:r>
            <a:endParaRPr/>
          </a:p>
          <a:p>
            <a:pPr marL="0" lvl="0" indent="0" algn="l" rtl="0">
              <a:spcBef>
                <a:spcPts val="0"/>
              </a:spcBef>
              <a:spcAft>
                <a:spcPts val="0"/>
              </a:spcAft>
              <a:buNone/>
            </a:pPr>
            <a:r>
              <a:rPr lang="fr-FR"/>
              <a:t>Ce projet est intitulé : </a:t>
            </a:r>
            <a:r>
              <a:rPr lang="fr-FR" b="1"/>
              <a:t>'La conception et la mise en place d'un système de suivi et de traçabilité de performance'.</a:t>
            </a:r>
            <a:endParaRPr/>
          </a:p>
          <a:p>
            <a:pPr marL="0" lvl="0" indent="0" algn="l" rtl="0">
              <a:spcBef>
                <a:spcPts val="0"/>
              </a:spcBef>
              <a:spcAft>
                <a:spcPts val="0"/>
              </a:spcAft>
              <a:buNone/>
            </a:pPr>
            <a:r>
              <a:rPr lang="fr-FR"/>
              <a:t>Je suis la de vous présenter les détails de ce travail</a:t>
            </a:r>
            <a:endParaRPr/>
          </a:p>
          <a:p>
            <a:pPr marL="0" lvl="0" indent="0" algn="l" rtl="0">
              <a:spcBef>
                <a:spcPts val="0"/>
              </a:spcBef>
              <a:spcAft>
                <a:spcPts val="0"/>
              </a:spcAft>
              <a:buNone/>
            </a:pPr>
            <a:endParaRPr/>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None/>
            </a:pPr>
            <a:r>
              <a:rPr lang="fr-FR" sz="1200">
                <a:solidFill>
                  <a:srgbClr val="2E2E2E"/>
                </a:solidFill>
                <a:latin typeface="Montserrat"/>
                <a:ea typeface="Montserrat"/>
                <a:cs typeface="Montserrat"/>
                <a:sym typeface="Montserrat"/>
              </a:rPr>
              <a:t> Mon stage s’est déroulé du 19 mars au 20 juillet 2025, d’une durée de environ 18 semaines, au sein de l’Atelier de l'MCP au sein du pôle Maroc Chimie, site industriel de Safi chez OCP Group. </a:t>
            </a:r>
            <a:endParaRPr/>
          </a:p>
          <a:p>
            <a:pPr marL="0" lvl="0" indent="0" algn="l" rtl="0">
              <a:lnSpc>
                <a:spcPct val="150000"/>
              </a:lnSpc>
              <a:spcBef>
                <a:spcPts val="0"/>
              </a:spcBef>
              <a:spcAft>
                <a:spcPts val="0"/>
              </a:spcAft>
              <a:buNone/>
            </a:pPr>
            <a:endParaRPr sz="1200">
              <a:solidFill>
                <a:srgbClr val="2E2E2E"/>
              </a:solidFill>
              <a:latin typeface="Montserrat"/>
              <a:ea typeface="Montserrat"/>
              <a:cs typeface="Montserrat"/>
              <a:sym typeface="Montserrat"/>
            </a:endParaRPr>
          </a:p>
          <a:p>
            <a:pPr marL="0" lvl="0" indent="0" algn="l" rtl="0">
              <a:lnSpc>
                <a:spcPct val="150000"/>
              </a:lnSpc>
              <a:spcBef>
                <a:spcPts val="0"/>
              </a:spcBef>
              <a:spcAft>
                <a:spcPts val="0"/>
              </a:spcAft>
              <a:buNone/>
            </a:pPr>
            <a:r>
              <a:rPr lang="fr-FR" sz="1200">
                <a:solidFill>
                  <a:srgbClr val="2E2E2E"/>
                </a:solidFill>
                <a:latin typeface="Montserrat"/>
                <a:ea typeface="Montserrat"/>
                <a:cs typeface="Montserrat"/>
                <a:sym typeface="Montserrat"/>
              </a:rPr>
              <a:t>Cette expérience s’inscrivait dans le cadre de ma formation de Master de Recherche en Mécanique, Robotique et Matériaux Innovants (MRMI) à l’ENSET Mohammedia et portait sur un projet d'optimisation de la ligne d'ensachage du (MCP) par la conception et la mise en place d'un système de suivi et de traçabilité de performance. </a:t>
            </a:r>
            <a:endParaRPr/>
          </a:p>
          <a:p>
            <a:pPr marL="0" lvl="0" indent="0" algn="l" rtl="0">
              <a:lnSpc>
                <a:spcPct val="150000"/>
              </a:lnSpc>
              <a:spcBef>
                <a:spcPts val="0"/>
              </a:spcBef>
              <a:spcAft>
                <a:spcPts val="0"/>
              </a:spcAft>
              <a:buNone/>
            </a:pPr>
            <a:endParaRPr sz="1200">
              <a:solidFill>
                <a:srgbClr val="2E2E2E"/>
              </a:solidFill>
              <a:latin typeface="Montserrat"/>
              <a:ea typeface="Montserrat"/>
              <a:cs typeface="Montserrat"/>
              <a:sym typeface="Montserrat"/>
            </a:endParaRPr>
          </a:p>
          <a:p>
            <a:pPr marL="0" lvl="0" indent="0" algn="l" rtl="0">
              <a:lnSpc>
                <a:spcPct val="150000"/>
              </a:lnSpc>
              <a:spcBef>
                <a:spcPts val="0"/>
              </a:spcBef>
              <a:spcAft>
                <a:spcPts val="0"/>
              </a:spcAft>
              <a:buNone/>
            </a:pPr>
            <a:r>
              <a:rPr lang="fr-FR" sz="1200">
                <a:solidFill>
                  <a:srgbClr val="2E2E2E"/>
                </a:solidFill>
                <a:latin typeface="Montserrat"/>
                <a:ea typeface="Montserrat"/>
                <a:cs typeface="Montserrat"/>
                <a:sym typeface="Montserrat"/>
              </a:rPr>
              <a:t>Encadré par M. ATLAS Said, Chef de service de l'atelier MCP, et par Pr. SAMRI Hassan, mon encadrant pédagogique, j’ai été intégré à l'équipe de l'atelier MCP.</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109" name="Google Shape;109;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a:t>organisation de OCP est structurée autour de trois piliers principaux :</a:t>
            </a:r>
            <a:endParaRPr/>
          </a:p>
          <a:p>
            <a:pPr marL="0" lvl="0" indent="0" algn="l" rtl="0">
              <a:spcBef>
                <a:spcPts val="0"/>
              </a:spcBef>
              <a:spcAft>
                <a:spcPts val="0"/>
              </a:spcAft>
              <a:buNone/>
            </a:pPr>
            <a:br>
              <a:rPr lang="fr-FR"/>
            </a:br>
            <a:endParaRPr/>
          </a:p>
          <a:p>
            <a:pPr marL="0" lvl="0" indent="0" algn="l" rtl="0">
              <a:spcBef>
                <a:spcPts val="0"/>
              </a:spcBef>
              <a:spcAft>
                <a:spcPts val="0"/>
              </a:spcAft>
              <a:buNone/>
            </a:pPr>
            <a:r>
              <a:rPr lang="fr-FR"/>
              <a:t>Premièrement, les Zones Minières, où se déroule l'extraction du phosphate brut.</a:t>
            </a:r>
            <a:endParaRPr/>
          </a:p>
          <a:p>
            <a:pPr marL="0" lvl="0" indent="0" algn="l" rtl="0">
              <a:spcBef>
                <a:spcPts val="0"/>
              </a:spcBef>
              <a:spcAft>
                <a:spcPts val="0"/>
              </a:spcAft>
              <a:buNone/>
            </a:pPr>
            <a:r>
              <a:rPr lang="fr-FR"/>
              <a:t>Ensuite, les Sites Industriels, où le phosphate est transformé en produits finis comme les engrais, feed ou l'acide phosphorique.</a:t>
            </a:r>
            <a:endParaRPr/>
          </a:p>
          <a:p>
            <a:pPr marL="0" lvl="0" indent="0" algn="l" rtl="0">
              <a:spcBef>
                <a:spcPts val="0"/>
              </a:spcBef>
              <a:spcAft>
                <a:spcPts val="0"/>
              </a:spcAft>
              <a:buNone/>
            </a:pPr>
            <a:r>
              <a:rPr lang="fr-FR"/>
              <a:t>Enfin, les Ports et la Logistique, qui assurent l'acheminement des matières premières et l'exportation des produits finis vers nos clients partout dans le monde.</a:t>
            </a:r>
            <a:endParaRPr/>
          </a:p>
          <a:p>
            <a:pPr marL="0" lvl="0" indent="0" algn="l" rtl="0">
              <a:spcBef>
                <a:spcPts val="0"/>
              </a:spcBef>
              <a:spcAft>
                <a:spcPts val="0"/>
              </a:spcAft>
              <a:buNone/>
            </a:pPr>
            <a:endParaRPr/>
          </a:p>
        </p:txBody>
      </p:sp>
      <p:sp>
        <p:nvSpPr>
          <p:cNvPr id="132" name="Google Shape;132;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b="0" i="0">
                <a:solidFill>
                  <a:srgbClr val="FFFFFF"/>
                </a:solidFill>
                <a:latin typeface="Arial"/>
                <a:ea typeface="Arial"/>
                <a:cs typeface="Arial"/>
                <a:sym typeface="Arial"/>
              </a:rPr>
              <a:t>Après cette vue d'ensemble d'OCP, nous allons maintenant nous concentrer sur le lieu spécifique de mon stage : le site industriel de Safi.</a:t>
            </a:r>
            <a:endParaRPr/>
          </a:p>
          <a:p>
            <a:pPr marL="0" lvl="0" indent="0" algn="l" rtl="0">
              <a:spcBef>
                <a:spcPts val="0"/>
              </a:spcBef>
              <a:spcAft>
                <a:spcPts val="0"/>
              </a:spcAft>
              <a:buNone/>
            </a:pPr>
            <a:r>
              <a:rPr lang="fr-FR" b="0" i="0">
                <a:solidFill>
                  <a:srgbClr val="FFFFFF"/>
                </a:solidFill>
                <a:latin typeface="Arial"/>
                <a:ea typeface="Arial"/>
                <a:cs typeface="Arial"/>
                <a:sym typeface="Arial"/>
              </a:rPr>
              <a:t>Comme le montre cette organigramme, le site de Safi est un acteur clé au sein du site industriel d'OCP. Ce site regroupe plusieurs entités majeures :</a:t>
            </a:r>
            <a:endParaRPr/>
          </a:p>
          <a:p>
            <a:pPr marL="0" lvl="0" indent="0" algn="l" rtl="0">
              <a:spcBef>
                <a:spcPts val="0"/>
              </a:spcBef>
              <a:spcAft>
                <a:spcPts val="0"/>
              </a:spcAft>
              <a:buNone/>
            </a:pPr>
            <a:br>
              <a:rPr lang="fr-FR" b="0" i="0">
                <a:solidFill>
                  <a:srgbClr val="FFFFFF"/>
                </a:solidFill>
                <a:latin typeface="Arial"/>
                <a:ea typeface="Arial"/>
                <a:cs typeface="Arial"/>
                <a:sym typeface="Arial"/>
              </a:rPr>
            </a:br>
            <a:endParaRPr b="0" i="0">
              <a:solidFill>
                <a:srgbClr val="FFFFFF"/>
              </a:solidFill>
              <a:latin typeface="Arial"/>
              <a:ea typeface="Arial"/>
              <a:cs typeface="Arial"/>
              <a:sym typeface="Arial"/>
            </a:endParaRPr>
          </a:p>
          <a:p>
            <a:pPr marL="0" lvl="0" indent="0" algn="l" rtl="0">
              <a:spcBef>
                <a:spcPts val="0"/>
              </a:spcBef>
              <a:spcAft>
                <a:spcPts val="0"/>
              </a:spcAft>
              <a:buNone/>
            </a:pPr>
            <a:r>
              <a:rPr lang="fr-FR" b="0" i="0">
                <a:solidFill>
                  <a:srgbClr val="FFFFFF"/>
                </a:solidFill>
                <a:latin typeface="Arial"/>
                <a:ea typeface="Arial"/>
                <a:cs typeface="Arial"/>
                <a:sym typeface="Arial"/>
              </a:rPr>
              <a:t>Maroc Phosphore I et Maroc Phosphore II (MP1 et MP2) : Cest que ces unités sont dédiées à la production d'acide phosphorique.</a:t>
            </a:r>
            <a:endParaRPr/>
          </a:p>
          <a:p>
            <a:pPr marL="0" lvl="0" indent="0" algn="l" rtl="0">
              <a:spcBef>
                <a:spcPts val="0"/>
              </a:spcBef>
              <a:spcAft>
                <a:spcPts val="0"/>
              </a:spcAft>
              <a:buNone/>
            </a:pPr>
            <a:r>
              <a:rPr lang="fr-FR" b="0" i="0">
                <a:solidFill>
                  <a:srgbClr val="FFFFFF"/>
                </a:solidFill>
                <a:latin typeface="Arial"/>
                <a:ea typeface="Arial"/>
                <a:cs typeface="Arial"/>
                <a:sym typeface="Arial"/>
              </a:rPr>
              <a:t>Maroc Chimie : Cette entité est spécialisée dans la production de produits chimiques dérivés des phosphates, comme les engrais et feed des animaux</a:t>
            </a:r>
            <a:endParaRPr/>
          </a:p>
          <a:p>
            <a:pPr marL="0" lvl="0" indent="0" algn="l" rtl="0">
              <a:spcBef>
                <a:spcPts val="0"/>
              </a:spcBef>
              <a:spcAft>
                <a:spcPts val="0"/>
              </a:spcAft>
              <a:buNone/>
            </a:pPr>
            <a:endParaRPr/>
          </a:p>
        </p:txBody>
      </p:sp>
      <p:sp>
        <p:nvSpPr>
          <p:cNvPr id="145" name="Google Shape;145;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5" name="Google Shape;165;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b="0" i="0">
                <a:solidFill>
                  <a:srgbClr val="FFFFFF"/>
                </a:solidFill>
                <a:latin typeface="Arial"/>
                <a:ea typeface="Arial"/>
                <a:cs typeface="Arial"/>
                <a:sym typeface="Arial"/>
              </a:rPr>
              <a:t>Mon stage s'est déroulé plus précisément au sein du Pôle Maroc Chimie.</a:t>
            </a:r>
            <a:endParaRPr/>
          </a:p>
          <a:p>
            <a:pPr marL="0" lvl="0" indent="0" algn="l" rtl="0">
              <a:spcBef>
                <a:spcPts val="0"/>
              </a:spcBef>
              <a:spcAft>
                <a:spcPts val="0"/>
              </a:spcAft>
              <a:buNone/>
            </a:pPr>
            <a:r>
              <a:rPr lang="fr-FR" b="0" i="0">
                <a:solidFill>
                  <a:srgbClr val="FFFFFF"/>
                </a:solidFill>
                <a:latin typeface="Arial"/>
                <a:ea typeface="Arial"/>
                <a:cs typeface="Arial"/>
                <a:sym typeface="Arial"/>
              </a:rPr>
              <a:t>Il est composé de plusieurs ateliers spécialisés :</a:t>
            </a:r>
            <a:endParaRPr/>
          </a:p>
          <a:p>
            <a:pPr marL="0" lvl="0" indent="0" algn="l" rtl="0">
              <a:spcBef>
                <a:spcPts val="0"/>
              </a:spcBef>
              <a:spcAft>
                <a:spcPts val="0"/>
              </a:spcAft>
              <a:buNone/>
            </a:pPr>
            <a:br>
              <a:rPr lang="fr-FR" b="0" i="0">
                <a:solidFill>
                  <a:srgbClr val="FFFFFF"/>
                </a:solidFill>
                <a:latin typeface="Arial"/>
                <a:ea typeface="Arial"/>
                <a:cs typeface="Arial"/>
                <a:sym typeface="Arial"/>
              </a:rPr>
            </a:br>
            <a:endParaRPr b="0" i="0">
              <a:solidFill>
                <a:srgbClr val="FFFFFF"/>
              </a:solidFill>
              <a:latin typeface="Arial"/>
              <a:ea typeface="Arial"/>
              <a:cs typeface="Arial"/>
              <a:sym typeface="Arial"/>
            </a:endParaRPr>
          </a:p>
          <a:p>
            <a:pPr marL="0" lvl="0" indent="0" algn="l" rtl="0">
              <a:spcBef>
                <a:spcPts val="0"/>
              </a:spcBef>
              <a:spcAft>
                <a:spcPts val="0"/>
              </a:spcAft>
              <a:buNone/>
            </a:pPr>
            <a:r>
              <a:rPr lang="fr-FR" b="0" i="0">
                <a:solidFill>
                  <a:srgbClr val="FFFFFF"/>
                </a:solidFill>
                <a:latin typeface="Arial"/>
                <a:ea typeface="Arial"/>
                <a:cs typeface="Arial"/>
                <a:sym typeface="Arial"/>
              </a:rPr>
              <a:t>L'Atelier DCP (Di-calcium Phosphate).</a:t>
            </a:r>
            <a:endParaRPr/>
          </a:p>
          <a:p>
            <a:pPr marL="0" lvl="0" indent="0" algn="l" rtl="0">
              <a:spcBef>
                <a:spcPts val="0"/>
              </a:spcBef>
              <a:spcAft>
                <a:spcPts val="0"/>
              </a:spcAft>
              <a:buNone/>
            </a:pPr>
            <a:r>
              <a:rPr lang="fr-FR" b="0" i="0">
                <a:solidFill>
                  <a:srgbClr val="FFFFFF"/>
                </a:solidFill>
                <a:latin typeface="Arial"/>
                <a:ea typeface="Arial"/>
                <a:cs typeface="Arial"/>
                <a:sym typeface="Arial"/>
              </a:rPr>
              <a:t>L'Atelier MCP (Mono-calcium Phosphate) </a:t>
            </a:r>
            <a:endParaRPr/>
          </a:p>
          <a:p>
            <a:pPr marL="0" lvl="0" indent="0" algn="l" rtl="0">
              <a:spcBef>
                <a:spcPts val="0"/>
              </a:spcBef>
              <a:spcAft>
                <a:spcPts val="0"/>
              </a:spcAft>
              <a:buNone/>
            </a:pPr>
            <a:r>
              <a:rPr lang="fr-FR" b="0" i="0">
                <a:solidFill>
                  <a:srgbClr val="FFFFFF"/>
                </a:solidFill>
                <a:latin typeface="Arial"/>
                <a:ea typeface="Arial"/>
                <a:cs typeface="Arial"/>
                <a:sym typeface="Arial"/>
              </a:rPr>
              <a:t>Et l'Atelier TSP (Triple Super Phosphate) </a:t>
            </a:r>
            <a:endParaRPr/>
          </a:p>
          <a:p>
            <a:pPr marL="0" lvl="0" indent="0" algn="l" rtl="0">
              <a:spcBef>
                <a:spcPts val="0"/>
              </a:spcBef>
              <a:spcAft>
                <a:spcPts val="0"/>
              </a:spcAft>
              <a:buNone/>
            </a:pPr>
            <a:endParaRPr/>
          </a:p>
        </p:txBody>
      </p:sp>
      <p:sp>
        <p:nvSpPr>
          <p:cNvPr id="166" name="Google Shape;166;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2" name="Google Shape;192;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b="0" i="0">
                <a:solidFill>
                  <a:srgbClr val="FFFFFF"/>
                </a:solidFill>
                <a:latin typeface="Arial"/>
                <a:ea typeface="Arial"/>
                <a:cs typeface="Arial"/>
                <a:sym typeface="Arial"/>
              </a:rPr>
              <a:t>Mon projet s'est déroulé de manière plus spécifique encore au sein de l'Atelier de production de MCP.</a:t>
            </a:r>
            <a:endParaRPr/>
          </a:p>
          <a:p>
            <a:pPr marL="0" lvl="0" indent="0" algn="l" rtl="0">
              <a:spcBef>
                <a:spcPts val="0"/>
              </a:spcBef>
              <a:spcAft>
                <a:spcPts val="0"/>
              </a:spcAft>
              <a:buNone/>
            </a:pPr>
            <a:br>
              <a:rPr lang="fr-FR" b="0" i="0">
                <a:solidFill>
                  <a:srgbClr val="FFFFFF"/>
                </a:solidFill>
                <a:latin typeface="Arial"/>
                <a:ea typeface="Arial"/>
                <a:cs typeface="Arial"/>
                <a:sym typeface="Arial"/>
              </a:rPr>
            </a:br>
            <a:endParaRPr b="0" i="0">
              <a:solidFill>
                <a:srgbClr val="FFFFFF"/>
              </a:solidFill>
              <a:latin typeface="Arial"/>
              <a:ea typeface="Arial"/>
              <a:cs typeface="Arial"/>
              <a:sym typeface="Arial"/>
            </a:endParaRPr>
          </a:p>
          <a:p>
            <a:pPr marL="0" lvl="0" indent="0" algn="l" rtl="0">
              <a:spcBef>
                <a:spcPts val="0"/>
              </a:spcBef>
              <a:spcAft>
                <a:spcPts val="0"/>
              </a:spcAft>
              <a:buNone/>
            </a:pPr>
            <a:r>
              <a:rPr lang="fr-FR" b="0" i="0">
                <a:solidFill>
                  <a:srgbClr val="FFFFFF"/>
                </a:solidFill>
                <a:latin typeface="Arial"/>
                <a:ea typeface="Arial"/>
                <a:cs typeface="Arial"/>
                <a:sym typeface="Arial"/>
              </a:rPr>
              <a:t>L'atelier est principalement structuré autour de deux sections majeures :</a:t>
            </a:r>
            <a:endParaRPr/>
          </a:p>
          <a:p>
            <a:pPr marL="0" lvl="0" indent="0" algn="l" rtl="0">
              <a:spcBef>
                <a:spcPts val="0"/>
              </a:spcBef>
              <a:spcAft>
                <a:spcPts val="0"/>
              </a:spcAft>
              <a:buNone/>
            </a:pPr>
            <a:br>
              <a:rPr lang="fr-FR" b="0" i="0">
                <a:solidFill>
                  <a:srgbClr val="FFFFFF"/>
                </a:solidFill>
                <a:latin typeface="Arial"/>
                <a:ea typeface="Arial"/>
                <a:cs typeface="Arial"/>
                <a:sym typeface="Arial"/>
              </a:rPr>
            </a:br>
            <a:endParaRPr b="0" i="0">
              <a:solidFill>
                <a:srgbClr val="FFFFFF"/>
              </a:solidFill>
              <a:latin typeface="Arial"/>
              <a:ea typeface="Arial"/>
              <a:cs typeface="Arial"/>
              <a:sym typeface="Arial"/>
            </a:endParaRPr>
          </a:p>
          <a:p>
            <a:pPr marL="0" lvl="0" indent="0" algn="l" rtl="0">
              <a:spcBef>
                <a:spcPts val="0"/>
              </a:spcBef>
              <a:spcAft>
                <a:spcPts val="0"/>
              </a:spcAft>
              <a:buNone/>
            </a:pPr>
            <a:r>
              <a:rPr lang="fr-FR" b="0" i="0">
                <a:solidFill>
                  <a:srgbClr val="FFFFFF"/>
                </a:solidFill>
                <a:latin typeface="Arial"/>
                <a:ea typeface="Arial"/>
                <a:cs typeface="Arial"/>
                <a:sym typeface="Arial"/>
              </a:rPr>
              <a:t>L'Atelier de Production de MCP </a:t>
            </a:r>
            <a:endParaRPr/>
          </a:p>
          <a:p>
            <a:pPr marL="0" lvl="0" indent="0" algn="l" rtl="0">
              <a:spcBef>
                <a:spcPts val="0"/>
              </a:spcBef>
              <a:spcAft>
                <a:spcPts val="0"/>
              </a:spcAft>
              <a:buNone/>
            </a:pPr>
            <a:r>
              <a:rPr lang="fr-FR" b="0" i="0">
                <a:solidFill>
                  <a:srgbClr val="FFFFFF"/>
                </a:solidFill>
                <a:latin typeface="Arial"/>
                <a:ea typeface="Arial"/>
                <a:cs typeface="Arial"/>
                <a:sym typeface="Arial"/>
              </a:rPr>
              <a:t>Le Hall de stockage de MCP  </a:t>
            </a:r>
            <a:endParaRPr/>
          </a:p>
          <a:p>
            <a:pPr marL="0" lvl="0" indent="0" algn="l" rtl="0">
              <a:spcBef>
                <a:spcPts val="0"/>
              </a:spcBef>
              <a:spcAft>
                <a:spcPts val="0"/>
              </a:spcAft>
              <a:buNone/>
            </a:pPr>
            <a:endParaRPr/>
          </a:p>
        </p:txBody>
      </p:sp>
      <p:sp>
        <p:nvSpPr>
          <p:cNvPr id="193" name="Google Shape;193;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8" name="Google Shape;208;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b="0" i="0">
                <a:solidFill>
                  <a:srgbClr val="FFFFFF"/>
                </a:solidFill>
                <a:latin typeface="Arial"/>
                <a:ea typeface="Arial"/>
                <a:cs typeface="Arial"/>
                <a:sym typeface="Arial"/>
              </a:rPr>
              <a:t>le Hall de Stockage de MCP est une zone tres important qui assure la gestion post-production du produit. C'est ici que le MCP est préparé pour son expédition.</a:t>
            </a:r>
            <a:endParaRPr/>
          </a:p>
          <a:p>
            <a:pPr marL="0" lvl="0" indent="0" algn="l" rtl="0">
              <a:spcBef>
                <a:spcPts val="0"/>
              </a:spcBef>
              <a:spcAft>
                <a:spcPts val="0"/>
              </a:spcAft>
              <a:buNone/>
            </a:pPr>
            <a:r>
              <a:rPr lang="fr-FR" b="0" i="0">
                <a:solidFill>
                  <a:srgbClr val="FFFFFF"/>
                </a:solidFill>
                <a:latin typeface="Arial"/>
                <a:ea typeface="Arial"/>
                <a:cs typeface="Arial"/>
                <a:sym typeface="Arial"/>
              </a:rPr>
              <a:t>Ce hall est organisé autour de plusieurs infrastructures et processus :</a:t>
            </a:r>
            <a:endParaRPr/>
          </a:p>
          <a:p>
            <a:pPr marL="0" lvl="0" indent="0" algn="l" rtl="0">
              <a:spcBef>
                <a:spcPts val="0"/>
              </a:spcBef>
              <a:spcAft>
                <a:spcPts val="0"/>
              </a:spcAft>
              <a:buNone/>
            </a:pPr>
            <a:br>
              <a:rPr lang="fr-FR" b="0" i="0">
                <a:solidFill>
                  <a:srgbClr val="FFFFFF"/>
                </a:solidFill>
                <a:latin typeface="Arial"/>
                <a:ea typeface="Arial"/>
                <a:cs typeface="Arial"/>
                <a:sym typeface="Arial"/>
              </a:rPr>
            </a:br>
            <a:endParaRPr b="0" i="0">
              <a:solidFill>
                <a:srgbClr val="FFFFFF"/>
              </a:solidFill>
              <a:latin typeface="Arial"/>
              <a:ea typeface="Arial"/>
              <a:cs typeface="Arial"/>
              <a:sym typeface="Arial"/>
            </a:endParaRPr>
          </a:p>
          <a:p>
            <a:pPr marL="0" lvl="0" indent="0" algn="l" rtl="0">
              <a:spcBef>
                <a:spcPts val="0"/>
              </a:spcBef>
              <a:spcAft>
                <a:spcPts val="0"/>
              </a:spcAft>
              <a:buNone/>
            </a:pPr>
            <a:r>
              <a:rPr lang="fr-FR" b="0" i="0">
                <a:solidFill>
                  <a:srgbClr val="FFFFFF"/>
                </a:solidFill>
                <a:latin typeface="Arial"/>
                <a:ea typeface="Arial"/>
                <a:cs typeface="Arial"/>
                <a:sym typeface="Arial"/>
              </a:rPr>
              <a:t>Les Silos de stockage </a:t>
            </a:r>
            <a:endParaRPr/>
          </a:p>
          <a:p>
            <a:pPr marL="0" lvl="0" indent="0" algn="l" rtl="0">
              <a:spcBef>
                <a:spcPts val="0"/>
              </a:spcBef>
              <a:spcAft>
                <a:spcPts val="0"/>
              </a:spcAft>
              <a:buNone/>
            </a:pPr>
            <a:r>
              <a:rPr lang="fr-FR" b="0" i="0">
                <a:solidFill>
                  <a:srgbClr val="FFFFFF"/>
                </a:solidFill>
                <a:latin typeface="Arial"/>
                <a:ea typeface="Arial"/>
                <a:cs typeface="Arial"/>
                <a:sym typeface="Arial"/>
              </a:rPr>
              <a:t>La Ligne d'ensachage : C'est une ligne automatique où le MCP est conditionné en sacs de plus petite taille (25 ou 50 kg), généralement pour des clients nécessitant des quantités spécifiques.</a:t>
            </a:r>
            <a:endParaRPr/>
          </a:p>
          <a:p>
            <a:pPr marL="0" lvl="0" indent="0" algn="l" rtl="0">
              <a:spcBef>
                <a:spcPts val="0"/>
              </a:spcBef>
              <a:spcAft>
                <a:spcPts val="0"/>
              </a:spcAft>
              <a:buNone/>
            </a:pPr>
            <a:r>
              <a:rPr lang="fr-FR" b="0" i="0">
                <a:solidFill>
                  <a:srgbClr val="FFFFFF"/>
                </a:solidFill>
                <a:latin typeface="Arial"/>
                <a:ea typeface="Arial"/>
                <a:cs typeface="Arial"/>
                <a:sym typeface="Arial"/>
              </a:rPr>
              <a:t>Et les Lignes de Remplissage des Big bags : Pour les commandes en grandes quantités de 1 à 1,2 ton chaqun . Mon projet porte spécifiquement sur des aspects liés à ce hall, speciquement a la ligne densachage.</a:t>
            </a:r>
            <a:endParaRPr/>
          </a:p>
          <a:p>
            <a:pPr marL="0" lvl="0" indent="0" algn="l" rtl="0">
              <a:spcBef>
                <a:spcPts val="0"/>
              </a:spcBef>
              <a:spcAft>
                <a:spcPts val="0"/>
              </a:spcAft>
              <a:buNone/>
            </a:pPr>
            <a:endParaRPr/>
          </a:p>
        </p:txBody>
      </p:sp>
      <p:sp>
        <p:nvSpPr>
          <p:cNvPr id="209" name="Google Shape;209;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8" name="Google Shape;228;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a:t>Cette slide représente l'architecture complète de la ligne d'ensachage de MCP, qui est le cœur de mon projet. L'objectif est de comprendre comment le produit est transformé de la matière en Silo de stockage jusqu'au sac prêt à l'expédition.</a:t>
            </a:r>
            <a:endParaRPr/>
          </a:p>
          <a:p>
            <a:pPr marL="0" lvl="0" indent="0" algn="l" rtl="0">
              <a:spcBef>
                <a:spcPts val="0"/>
              </a:spcBef>
              <a:spcAft>
                <a:spcPts val="0"/>
              </a:spcAft>
              <a:buNone/>
            </a:pPr>
            <a:r>
              <a:rPr lang="fr-FR"/>
              <a:t>Le processus se déroule en plusieurs étapes principales :</a:t>
            </a:r>
            <a:endParaRPr/>
          </a:p>
          <a:p>
            <a:pPr marL="0" lvl="0" indent="-76200" algn="l" rtl="0">
              <a:spcBef>
                <a:spcPts val="0"/>
              </a:spcBef>
              <a:spcAft>
                <a:spcPts val="0"/>
              </a:spcAft>
              <a:buClr>
                <a:schemeClr val="dk1"/>
              </a:buClr>
              <a:buSzPts val="1200"/>
              <a:buFont typeface="Arial"/>
              <a:buChar char="•"/>
            </a:pPr>
            <a:r>
              <a:rPr lang="fr-FR" b="1"/>
              <a:t>D'abord, le produit MCP vient du Silo B.</a:t>
            </a:r>
            <a:r>
              <a:rPr lang="fr-FR"/>
              <a:t> Il passe par un </a:t>
            </a:r>
            <a:r>
              <a:rPr lang="fr-FR" b="1"/>
              <a:t>crible</a:t>
            </a:r>
            <a:r>
              <a:rPr lang="fr-FR"/>
              <a:t> pour s'assurer de sa pureté, puis il est acheminé via une </a:t>
            </a:r>
            <a:r>
              <a:rPr lang="fr-FR" b="1"/>
              <a:t>ligne de transmission</a:t>
            </a:r>
            <a:r>
              <a:rPr lang="fr-FR"/>
              <a:t> qui utilise différents convoyeurs pour le déplacer.</a:t>
            </a:r>
            <a:endParaRPr/>
          </a:p>
          <a:p>
            <a:pPr marL="0" lvl="0" indent="-76200" algn="l" rtl="0">
              <a:spcBef>
                <a:spcPts val="0"/>
              </a:spcBef>
              <a:spcAft>
                <a:spcPts val="0"/>
              </a:spcAft>
              <a:buClr>
                <a:schemeClr val="dk1"/>
              </a:buClr>
              <a:buSzPts val="1200"/>
              <a:buFont typeface="Arial"/>
              <a:buChar char="•"/>
            </a:pPr>
            <a:r>
              <a:rPr lang="fr-FR"/>
              <a:t>Ensuite, le produit arrive à une </a:t>
            </a:r>
            <a:r>
              <a:rPr lang="fr-FR" b="1"/>
              <a:t>trémie de pesée</a:t>
            </a:r>
            <a:r>
              <a:rPr lang="fr-FR"/>
              <a:t> où la quantité exacte pour chaque sac est mesurée. C'est après cette étape qu'il entre dans la </a:t>
            </a:r>
            <a:r>
              <a:rPr lang="fr-FR" b="1"/>
              <a:t>machine d'ensachage FFS</a:t>
            </a:r>
            <a:r>
              <a:rPr lang="fr-FR"/>
              <a:t> (Form-Fill-Seal), qui forme, remplit et scelle les sacs. À ces étapes, des </a:t>
            </a:r>
            <a:r>
              <a:rPr lang="fr-FR" b="1"/>
              <a:t>systèmes de filtration de poussière</a:t>
            </a:r>
            <a:r>
              <a:rPr lang="fr-FR"/>
              <a:t> sont présents pour maintenir la qualité de l'air et la sécurité.</a:t>
            </a:r>
            <a:endParaRPr/>
          </a:p>
          <a:p>
            <a:pPr marL="0" lvl="0" indent="-76200" algn="l" rtl="0">
              <a:spcBef>
                <a:spcPts val="0"/>
              </a:spcBef>
              <a:spcAft>
                <a:spcPts val="0"/>
              </a:spcAft>
              <a:buClr>
                <a:schemeClr val="dk1"/>
              </a:buClr>
              <a:buSzPts val="1200"/>
              <a:buFont typeface="Arial"/>
              <a:buChar char="•"/>
            </a:pPr>
            <a:r>
              <a:rPr lang="fr-FR"/>
              <a:t>Une fois ensachés, les sacs passent sur des </a:t>
            </a:r>
            <a:r>
              <a:rPr lang="fr-FR" b="1"/>
              <a:t>convoyeurs</a:t>
            </a:r>
            <a:r>
              <a:rPr lang="fr-FR"/>
              <a:t> vers la </a:t>
            </a:r>
            <a:r>
              <a:rPr lang="fr-FR" b="1"/>
              <a:t>machine d'étiquetage</a:t>
            </a:r>
            <a:r>
              <a:rPr lang="fr-FR"/>
              <a:t> pour être identifiés.</a:t>
            </a:r>
            <a:endParaRPr/>
          </a:p>
          <a:p>
            <a:pPr marL="0" lvl="0" indent="-76200" algn="l" rtl="0">
              <a:spcBef>
                <a:spcPts val="0"/>
              </a:spcBef>
              <a:spcAft>
                <a:spcPts val="0"/>
              </a:spcAft>
              <a:buClr>
                <a:schemeClr val="dk1"/>
              </a:buClr>
              <a:buSzPts val="1200"/>
              <a:buFont typeface="Arial"/>
              <a:buChar char="•"/>
            </a:pPr>
            <a:r>
              <a:rPr lang="fr-FR"/>
              <a:t>Puis, un </a:t>
            </a:r>
            <a:r>
              <a:rPr lang="fr-FR" b="1"/>
              <a:t>robot de palettisation</a:t>
            </a:r>
            <a:r>
              <a:rPr lang="fr-FR"/>
              <a:t> arrange automatiquement les sacs sur des palettes.</a:t>
            </a:r>
            <a:endParaRPr/>
          </a:p>
          <a:p>
            <a:pPr marL="0" lvl="0" indent="-76200" algn="l" rtl="0">
              <a:spcBef>
                <a:spcPts val="0"/>
              </a:spcBef>
              <a:spcAft>
                <a:spcPts val="0"/>
              </a:spcAft>
              <a:buClr>
                <a:schemeClr val="dk1"/>
              </a:buClr>
              <a:buSzPts val="1200"/>
              <a:buFont typeface="Arial"/>
              <a:buChar char="•"/>
            </a:pPr>
            <a:r>
              <a:rPr lang="fr-FR"/>
              <a:t>Ces palettes traversent une </a:t>
            </a:r>
            <a:r>
              <a:rPr lang="fr-FR" b="1"/>
              <a:t>machine de houssage</a:t>
            </a:r>
            <a:r>
              <a:rPr lang="fr-FR"/>
              <a:t> pour les protéger avant le stockage ou le transport.</a:t>
            </a:r>
            <a:endParaRPr/>
          </a:p>
          <a:p>
            <a:pPr marL="0" lvl="0" indent="-76200" algn="l" rtl="0">
              <a:spcBef>
                <a:spcPts val="0"/>
              </a:spcBef>
              <a:spcAft>
                <a:spcPts val="0"/>
              </a:spcAft>
              <a:buClr>
                <a:schemeClr val="dk1"/>
              </a:buClr>
              <a:buSzPts val="1200"/>
              <a:buFont typeface="Arial"/>
              <a:buChar char="•"/>
            </a:pPr>
            <a:r>
              <a:rPr lang="fr-FR"/>
              <a:t>Enfin, les palettes sont déplacées vers l'</a:t>
            </a:r>
            <a:r>
              <a:rPr lang="fr-FR" b="1"/>
              <a:t>espace de stockage</a:t>
            </a:r>
            <a:r>
              <a:rPr lang="fr-FR"/>
              <a:t> ou directement vers le </a:t>
            </a:r>
            <a:r>
              <a:rPr lang="fr-FR" b="1"/>
              <a:t>transport en vrac</a:t>
            </a:r>
            <a:r>
              <a:rPr lang="fr-FR"/>
              <a:t> pour l'expédition.</a:t>
            </a:r>
            <a:endParaRPr/>
          </a:p>
          <a:p>
            <a:pPr marL="0" lvl="0" indent="0" algn="l" rtl="0">
              <a:spcBef>
                <a:spcPts val="0"/>
              </a:spcBef>
              <a:spcAft>
                <a:spcPts val="0"/>
              </a:spcAft>
              <a:buNone/>
            </a:pPr>
            <a:endParaRPr/>
          </a:p>
        </p:txBody>
      </p:sp>
      <p:sp>
        <p:nvSpPr>
          <p:cNvPr id="229" name="Google Shape;229;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2" name="Google Shape;242;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3" name="Google Shape;25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5" name="Google Shape;26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7" name="Google Shape;27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4" name="Google Shape;284;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1" name="Google Shape;291;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9" name="Google Shape;30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6" name="Google Shape;316;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7" name="Google Shape;317;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5" name="Google Shape;325;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2" name="Google Shape;332;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0" name="Google Shape;350;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0" name="Google Shape;370;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7" name="Google Shape;377;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4" name="Google Shape;384;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1" name="Google Shape;391;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2" name="Google Shape;392;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0" name="Google Shape;400;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a:t>iygtyftygygvyyy</a:t>
            </a:r>
            <a:endParaRPr/>
          </a:p>
        </p:txBody>
      </p:sp>
      <p:sp>
        <p:nvSpPr>
          <p:cNvPr id="401" name="Google Shape;401;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0" name="Google Shape;420;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1" name="Google Shape;421;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7" name="Google Shape;437;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8" name="Google Shape;438;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6" name="Google Shape;446;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sz="1200" b="1">
              <a:solidFill>
                <a:srgbClr val="004AAD"/>
              </a:solidFill>
              <a:latin typeface="Montserrat"/>
              <a:ea typeface="Montserrat"/>
              <a:cs typeface="Montserrat"/>
              <a:sym typeface="Montserrat"/>
            </a:endParaRPr>
          </a:p>
        </p:txBody>
      </p:sp>
      <p:sp>
        <p:nvSpPr>
          <p:cNvPr id="447" name="Google Shape;447;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8" name="Google Shape;458;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sz="1200" b="1">
              <a:solidFill>
                <a:srgbClr val="004AAD"/>
              </a:solidFill>
              <a:latin typeface="Montserrat"/>
              <a:ea typeface="Montserrat"/>
              <a:cs typeface="Montserrat"/>
              <a:sym typeface="Montserrat"/>
            </a:endParaRPr>
          </a:p>
        </p:txBody>
      </p:sp>
      <p:sp>
        <p:nvSpPr>
          <p:cNvPr id="459" name="Google Shape;459;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7" name="Google Shape;487;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sz="1200" b="1">
              <a:solidFill>
                <a:srgbClr val="004AAD"/>
              </a:solidFill>
              <a:latin typeface="Montserrat"/>
              <a:ea typeface="Montserrat"/>
              <a:cs typeface="Montserrat"/>
              <a:sym typeface="Montserrat"/>
            </a:endParaRPr>
          </a:p>
        </p:txBody>
      </p:sp>
      <p:sp>
        <p:nvSpPr>
          <p:cNvPr id="488" name="Google Shape;488;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0" name="Google Shape;510;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sz="1200" b="1">
              <a:solidFill>
                <a:srgbClr val="004AAD"/>
              </a:solidFill>
              <a:latin typeface="Montserrat"/>
              <a:ea typeface="Montserrat"/>
              <a:cs typeface="Montserrat"/>
              <a:sym typeface="Montserrat"/>
            </a:endParaRPr>
          </a:p>
        </p:txBody>
      </p:sp>
      <p:sp>
        <p:nvSpPr>
          <p:cNvPr id="511" name="Google Shape;511;p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7" name="Google Shape;537;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sz="1200" b="1">
              <a:solidFill>
                <a:srgbClr val="004AAD"/>
              </a:solidFill>
              <a:latin typeface="Montserrat"/>
              <a:ea typeface="Montserrat"/>
              <a:cs typeface="Montserrat"/>
              <a:sym typeface="Montserrat"/>
            </a:endParaRPr>
          </a:p>
        </p:txBody>
      </p:sp>
      <p:sp>
        <p:nvSpPr>
          <p:cNvPr id="538" name="Google Shape;538;p3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6" name="Google Shape;556;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fr-FR"/>
              <a:t>Cette diapositive vous montre comment nos données deviennent des informations utiles, grâce à un système automatique et réactif. D'abord, nos </a:t>
            </a:r>
            <a:r>
              <a:rPr lang="fr-FR" b="1"/>
              <a:t>Données Sources</a:t>
            </a:r>
            <a:r>
              <a:rPr lang="fr-FR"/>
              <a:t> – c'est-à-dire les informations sur les arrêts ou la production que l'on saisit dans Excel – sont directement enregistrées dans notre base de données SQL. Ce qui est intéressant, c'est que la </a:t>
            </a:r>
            <a:r>
              <a:rPr lang="fr-FR" b="1"/>
              <a:t>saisie de ces données agit comme un déclencheur</a:t>
            </a:r>
            <a:r>
              <a:rPr lang="fr-FR"/>
              <a:t> : dès qu'une nouvelle information est ajoutée, cela 'alarme' le programme. Ce sont alors des </a:t>
            </a:r>
            <a:r>
              <a:rPr lang="fr-FR" b="1"/>
              <a:t>Requêtes T-SQL</a:t>
            </a:r>
            <a:r>
              <a:rPr lang="fr-FR"/>
              <a:t> spéciales, déjà préparées, qui se lancent automatiquement. Elles analysent et calculent en temps réel tous les chiffres importants comme le TRS, TRE, TRG pour la production, et le MTBF, MTTR pour la maintenance, ainsi que les données pour l'analyse Pareto. Enfin, les résultats de tous ces calculs sont directement envoyés et stockés dans nos </a:t>
            </a:r>
            <a:r>
              <a:rPr lang="fr-FR" b="1"/>
              <a:t>Tables Cibles</a:t>
            </a:r>
            <a:r>
              <a:rPr lang="fr-FR"/>
              <a:t> dédiées. </a:t>
            </a:r>
            <a:endParaRPr sz="1200" b="1">
              <a:solidFill>
                <a:srgbClr val="004AAD"/>
              </a:solidFill>
              <a:latin typeface="Montserrat"/>
              <a:ea typeface="Montserrat"/>
              <a:cs typeface="Montserrat"/>
              <a:sym typeface="Montserrat"/>
            </a:endParaRPr>
          </a:p>
        </p:txBody>
      </p:sp>
      <p:sp>
        <p:nvSpPr>
          <p:cNvPr id="557" name="Google Shape;557;p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1" name="Google Shape;571;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2" name="Google Shape;572;p3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9" name="Google Shape;579;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fr-FR"/>
              <a:t>Nous avons mis en place un </a:t>
            </a:r>
            <a:r>
              <a:rPr lang="fr-FR" b="1"/>
              <a:t>script batch</a:t>
            </a:r>
            <a:r>
              <a:rPr lang="fr-FR"/>
              <a:t> qui se connecte directement à notre serveur SQL Express. Ce script extrait la base de données dans son intégralité, incluant toutes les tables de données, qu'elles soient sources ou clients. L'extraction se fait au format .BAK, assurant une compatibilité parfaite avec la structure de la base. Pour garantir l'intégrité et la sécurité des données, cette copie est ensuite compressée et protégée par un mot de passe via le logiciel </a:t>
            </a:r>
            <a:r>
              <a:rPr lang="fr-FR" b="1"/>
              <a:t>7-Zip</a:t>
            </a:r>
            <a:r>
              <a:rPr lang="fr-FR"/>
              <a:t>. Cette étape est cruciale pour s'assurer que la base de données ne soit ni modifiée, ni corrompue, que ce soit pendant le processus de sauvegarde vers le cloud ou après. Cette méthode ne se contente pas de créer une simple sauvegarde dans le cloud ; elle renforce considérablement la fiabilité et la sécurité de l'ensemble de nos données critiques et du processus de sauvegarde lui-même</a:t>
            </a:r>
            <a:endParaRPr sz="1200" b="1">
              <a:solidFill>
                <a:srgbClr val="004AAD"/>
              </a:solidFill>
              <a:latin typeface="Montserrat"/>
              <a:ea typeface="Montserrat"/>
              <a:cs typeface="Montserrat"/>
              <a:sym typeface="Montserrat"/>
            </a:endParaRPr>
          </a:p>
        </p:txBody>
      </p:sp>
      <p:sp>
        <p:nvSpPr>
          <p:cNvPr id="580" name="Google Shape;580;p3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1"/>
        <p:cNvGrpSpPr/>
        <p:nvPr/>
      </p:nvGrpSpPr>
      <p:grpSpPr>
        <a:xfrm>
          <a:off x="0" y="0"/>
          <a:ext cx="0" cy="0"/>
          <a:chOff x="0" y="0"/>
          <a:chExt cx="0" cy="0"/>
        </a:xfrm>
      </p:grpSpPr>
      <p:sp>
        <p:nvSpPr>
          <p:cNvPr id="602" name="Google Shape;602;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3" name="Google Shape;603;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4" name="Google Shape;604;p3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9"/>
        <p:cNvGrpSpPr/>
        <p:nvPr/>
      </p:nvGrpSpPr>
      <p:grpSpPr>
        <a:xfrm>
          <a:off x="0" y="0"/>
          <a:ext cx="0" cy="0"/>
          <a:chOff x="0" y="0"/>
          <a:chExt cx="0" cy="0"/>
        </a:xfrm>
      </p:grpSpPr>
      <p:sp>
        <p:nvSpPr>
          <p:cNvPr id="610" name="Google Shape;610;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1" name="Google Shape;611;p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fr-FR"/>
              <a:t>Dans cette partie, nous avons conçu un tableau de bord sur mesure, fait pour nos besoins précis. Pour cela, nous avons choisi avec soin les meilleurs types de graphiques et de visuels, et défini une stratégie claire pour montrer chaque KPI et chaque analyse de façon compréhensible. Ensuite, nous avons configuré la connexion directe entre notre base de données et Power BI, pour charger facilement toutes les tables de données. Après ça, nous avons créé des 'mesures' dans Power BI pour faire des calculs supplémentaires, comme des pourcentages, des sommes ou des moyennes. Enfin, chaque donnée a été associée au type de graphique qui lui convenait le mieux, pour une visualisation claire et efficace.</a:t>
            </a:r>
            <a:endParaRPr sz="1200" b="1">
              <a:solidFill>
                <a:srgbClr val="004AAD"/>
              </a:solidFill>
              <a:latin typeface="Montserrat"/>
              <a:ea typeface="Montserrat"/>
              <a:cs typeface="Montserrat"/>
              <a:sym typeface="Montserrat"/>
            </a:endParaRPr>
          </a:p>
        </p:txBody>
      </p:sp>
      <p:sp>
        <p:nvSpPr>
          <p:cNvPr id="612" name="Google Shape;612;p3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5"/>
        <p:cNvGrpSpPr/>
        <p:nvPr/>
      </p:nvGrpSpPr>
      <p:grpSpPr>
        <a:xfrm>
          <a:off x="0" y="0"/>
          <a:ext cx="0" cy="0"/>
          <a:chOff x="0" y="0"/>
          <a:chExt cx="0" cy="0"/>
        </a:xfrm>
      </p:grpSpPr>
      <p:sp>
        <p:nvSpPr>
          <p:cNvPr id="626" name="Google Shape;626;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7" name="Google Shape;627;p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sz="1200" b="1">
              <a:solidFill>
                <a:srgbClr val="004AAD"/>
              </a:solidFill>
              <a:latin typeface="Montserrat"/>
              <a:ea typeface="Montserrat"/>
              <a:cs typeface="Montserrat"/>
              <a:sym typeface="Montserrat"/>
            </a:endParaRPr>
          </a:p>
        </p:txBody>
      </p:sp>
      <p:sp>
        <p:nvSpPr>
          <p:cNvPr id="628" name="Google Shape;628;p4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5" name="Google Shape;635;p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sz="1200" b="1">
              <a:solidFill>
                <a:srgbClr val="004AAD"/>
              </a:solidFill>
              <a:latin typeface="Montserrat"/>
              <a:ea typeface="Montserrat"/>
              <a:cs typeface="Montserrat"/>
              <a:sym typeface="Montserrat"/>
            </a:endParaRPr>
          </a:p>
        </p:txBody>
      </p:sp>
      <p:sp>
        <p:nvSpPr>
          <p:cNvPr id="636" name="Google Shape;636;p4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p:cNvGrpSpPr/>
        <p:nvPr/>
      </p:nvGrpSpPr>
      <p:grpSpPr>
        <a:xfrm>
          <a:off x="0" y="0"/>
          <a:ext cx="0" cy="0"/>
          <a:chOff x="0" y="0"/>
          <a:chExt cx="0" cy="0"/>
        </a:xfrm>
      </p:grpSpPr>
      <p:sp>
        <p:nvSpPr>
          <p:cNvPr id="642" name="Google Shape;642;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3" name="Google Shape;643;p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sz="1200" b="1">
              <a:solidFill>
                <a:srgbClr val="004AAD"/>
              </a:solidFill>
              <a:latin typeface="Montserrat"/>
              <a:ea typeface="Montserrat"/>
              <a:cs typeface="Montserrat"/>
              <a:sym typeface="Montserrat"/>
            </a:endParaRPr>
          </a:p>
        </p:txBody>
      </p:sp>
      <p:sp>
        <p:nvSpPr>
          <p:cNvPr id="644" name="Google Shape;644;p4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42</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1" name="Google Shape;651;p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sz="1200" b="1">
              <a:solidFill>
                <a:srgbClr val="004AAD"/>
              </a:solidFill>
              <a:latin typeface="Montserrat"/>
              <a:ea typeface="Montserrat"/>
              <a:cs typeface="Montserrat"/>
              <a:sym typeface="Montserrat"/>
            </a:endParaRPr>
          </a:p>
        </p:txBody>
      </p:sp>
      <p:sp>
        <p:nvSpPr>
          <p:cNvPr id="652" name="Google Shape;652;p4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43</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9" name="Google Shape;659;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sz="1200" b="1">
              <a:solidFill>
                <a:srgbClr val="004AAD"/>
              </a:solidFill>
              <a:latin typeface="Montserrat"/>
              <a:ea typeface="Montserrat"/>
              <a:cs typeface="Montserrat"/>
              <a:sym typeface="Montserrat"/>
            </a:endParaRPr>
          </a:p>
        </p:txBody>
      </p:sp>
      <p:sp>
        <p:nvSpPr>
          <p:cNvPr id="660" name="Google Shape;660;p4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44</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5"/>
        <p:cNvGrpSpPr/>
        <p:nvPr/>
      </p:nvGrpSpPr>
      <p:grpSpPr>
        <a:xfrm>
          <a:off x="0" y="0"/>
          <a:ext cx="0" cy="0"/>
          <a:chOff x="0" y="0"/>
          <a:chExt cx="0" cy="0"/>
        </a:xfrm>
      </p:grpSpPr>
      <p:sp>
        <p:nvSpPr>
          <p:cNvPr id="666" name="Google Shape;666;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7" name="Google Shape;667;p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8" name="Google Shape;668;p4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45</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6" name="Google Shape;676;p4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fr-FR" sz="1200"/>
              <a:t>En nous appuyant sur des technologies comme l'</a:t>
            </a:r>
            <a:r>
              <a:rPr lang="fr-FR" sz="1200" b="1"/>
              <a:t>IIoT (Internet Industriel des Objets)</a:t>
            </a:r>
            <a:r>
              <a:rPr lang="fr-FR" sz="1200"/>
              <a:t> et les principes de l'</a:t>
            </a:r>
            <a:r>
              <a:rPr lang="fr-FR" sz="1200" b="1"/>
              <a:t>Industrie 4.0</a:t>
            </a:r>
            <a:r>
              <a:rPr lang="fr-FR" sz="1200"/>
              <a:t>, nous pouvons envisager un système capable de collecter les données directement depuis les machines. Cela inclurait les relevés des capteurs existants, mais aussi l'ajout de nouveaux capteurs, par exemple des </a:t>
            </a:r>
            <a:r>
              <a:rPr lang="fr-FR" sz="1200" b="1"/>
              <a:t>capteurs de vibration</a:t>
            </a:r>
            <a:r>
              <a:rPr lang="fr-FR" sz="1200"/>
              <a:t> pour surveiller les actionneurs et des </a:t>
            </a:r>
            <a:r>
              <a:rPr lang="fr-FR" sz="1200" b="1"/>
              <a:t>capteurs thermiques</a:t>
            </a:r>
            <a:r>
              <a:rPr lang="fr-FR" sz="1200"/>
              <a:t> pour les températures. L'idée est de rassembler toutes ces données en temps réel avec l'historique des pannes et des arrêts non planifiés des équipements de la ligne. Toutes ces informations seraient ensuite intégrées dans un système centralisé, capable de les analyser et d'</a:t>
            </a:r>
            <a:r>
              <a:rPr lang="fr-FR" sz="1200" b="1"/>
              <a:t>entraîner un modèle d'apprentissage automatique (Machine Learning)</a:t>
            </a:r>
            <a:r>
              <a:rPr lang="fr-FR" sz="1200"/>
              <a:t>. L'objectif final est de passer à une </a:t>
            </a:r>
            <a:r>
              <a:rPr lang="fr-FR" sz="1200" b="1"/>
              <a:t>maintenance prédictive</a:t>
            </a:r>
            <a:r>
              <a:rPr lang="fr-FR" sz="1200"/>
              <a:t>, où l'on anticipe les pannes avant qu'elles ne surviennent</a:t>
            </a:r>
            <a:endParaRPr sz="1200" b="1">
              <a:solidFill>
                <a:srgbClr val="004AAD"/>
              </a:solidFill>
              <a:latin typeface="Montserrat"/>
              <a:ea typeface="Montserrat"/>
              <a:cs typeface="Montserrat"/>
              <a:sym typeface="Montserrat"/>
            </a:endParaRPr>
          </a:p>
          <a:p>
            <a:pPr marL="0" marR="0" lvl="0" indent="0" algn="l" rtl="0">
              <a:lnSpc>
                <a:spcPct val="100000"/>
              </a:lnSpc>
              <a:spcBef>
                <a:spcPts val="0"/>
              </a:spcBef>
              <a:spcAft>
                <a:spcPts val="0"/>
              </a:spcAft>
              <a:buClr>
                <a:schemeClr val="dk1"/>
              </a:buClr>
              <a:buSzPts val="1200"/>
              <a:buFont typeface="Calibri"/>
              <a:buNone/>
            </a:pPr>
            <a:endParaRPr sz="1200" b="1">
              <a:solidFill>
                <a:srgbClr val="004AAD"/>
              </a:solidFill>
              <a:latin typeface="Montserrat"/>
              <a:ea typeface="Montserrat"/>
              <a:cs typeface="Montserrat"/>
              <a:sym typeface="Montserrat"/>
            </a:endParaRPr>
          </a:p>
        </p:txBody>
      </p:sp>
      <p:sp>
        <p:nvSpPr>
          <p:cNvPr id="677" name="Google Shape;677;p4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46</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2"/>
        <p:cNvGrpSpPr/>
        <p:nvPr/>
      </p:nvGrpSpPr>
      <p:grpSpPr>
        <a:xfrm>
          <a:off x="0" y="0"/>
          <a:ext cx="0" cy="0"/>
          <a:chOff x="0" y="0"/>
          <a:chExt cx="0" cy="0"/>
        </a:xfrm>
      </p:grpSpPr>
      <p:sp>
        <p:nvSpPr>
          <p:cNvPr id="683" name="Google Shape;683;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4" name="Google Shape;684;p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sz="1200"/>
              <a:t>Ce stage a permis de concevoir et de mettre en œuvre un système intégré pour la ligne d'ensachage du MCP. Nous avons automatisé la collecte et l'analyse des données via SQL Server, développé un tableau de bord Power BI interactif pour les KPIs de production et maintenance, et sécurisé la sauvegarde sur le Cloud.</a:t>
            </a:r>
            <a:endParaRPr/>
          </a:p>
          <a:p>
            <a:pPr marL="0" lvl="0" indent="0" algn="l" rtl="0">
              <a:spcBef>
                <a:spcPts val="0"/>
              </a:spcBef>
              <a:spcAft>
                <a:spcPts val="0"/>
              </a:spcAft>
              <a:buNone/>
            </a:pPr>
            <a:endParaRPr sz="1200"/>
          </a:p>
          <a:p>
            <a:pPr marL="0" lvl="0" indent="0" algn="l" rtl="0">
              <a:spcBef>
                <a:spcPts val="0"/>
              </a:spcBef>
              <a:spcAft>
                <a:spcPts val="0"/>
              </a:spcAft>
              <a:buNone/>
            </a:pPr>
            <a:r>
              <a:rPr lang="fr-FR" sz="1200"/>
              <a:t>Ce projet apporte une valeur ajoutée directe à OCP en optimisant les opérations, en réduisant les arrêts et en fournissant des outils précis pour une prise de décision éclairée. Il s'aligne avec les objectifs d'excellence opérationnelle et de digitalisation du groupe.</a:t>
            </a:r>
            <a:endParaRPr/>
          </a:p>
          <a:p>
            <a:pPr marL="0" lvl="0" indent="0" algn="l" rtl="0">
              <a:spcBef>
                <a:spcPts val="0"/>
              </a:spcBef>
              <a:spcAft>
                <a:spcPts val="0"/>
              </a:spcAft>
              <a:buNone/>
            </a:pPr>
            <a:endParaRPr sz="1200"/>
          </a:p>
          <a:p>
            <a:pPr marL="0" lvl="0" indent="0" algn="l" rtl="0">
              <a:spcBef>
                <a:spcPts val="0"/>
              </a:spcBef>
              <a:spcAft>
                <a:spcPts val="0"/>
              </a:spcAft>
              <a:buNone/>
            </a:pPr>
            <a:r>
              <a:rPr lang="fr-FR" sz="1200"/>
              <a:t>J'ai consolidé mes compétences techniques (SQL, VBA, Power BI), méthodologiques (gestion de projet, analyse) et personnelles (autonomie, résolution de problèmes). Ce travail démontre l'impact stratégique de la gestion des données pour la performance industrielle.</a:t>
            </a:r>
            <a:endParaRPr/>
          </a:p>
          <a:p>
            <a:pPr marL="0" marR="0" lvl="0" indent="0" algn="l" rtl="0">
              <a:lnSpc>
                <a:spcPct val="100000"/>
              </a:lnSpc>
              <a:spcBef>
                <a:spcPts val="0"/>
              </a:spcBef>
              <a:spcAft>
                <a:spcPts val="0"/>
              </a:spcAft>
              <a:buClr>
                <a:schemeClr val="dk1"/>
              </a:buClr>
              <a:buSzPts val="1200"/>
              <a:buFont typeface="Calibri"/>
              <a:buNone/>
            </a:pPr>
            <a:endParaRPr sz="1200" b="1">
              <a:solidFill>
                <a:srgbClr val="004AAD"/>
              </a:solidFill>
              <a:latin typeface="Montserrat"/>
              <a:ea typeface="Montserrat"/>
              <a:cs typeface="Montserrat"/>
              <a:sym typeface="Montserrat"/>
            </a:endParaRPr>
          </a:p>
        </p:txBody>
      </p:sp>
      <p:sp>
        <p:nvSpPr>
          <p:cNvPr id="685" name="Google Shape;685;p4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47</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9"/>
        <p:cNvGrpSpPr/>
        <p:nvPr/>
      </p:nvGrpSpPr>
      <p:grpSpPr>
        <a:xfrm>
          <a:off x="0" y="0"/>
          <a:ext cx="0" cy="0"/>
          <a:chOff x="0" y="0"/>
          <a:chExt cx="0" cy="0"/>
        </a:xfrm>
      </p:grpSpPr>
      <p:sp>
        <p:nvSpPr>
          <p:cNvPr id="690" name="Google Shape;690;p4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1" name="Google Shape;691;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5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5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5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51"/>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51"/>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2" name="Google Shape;22;p5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5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5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5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5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8" name="Google Shape;28;p5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5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5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53"/>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53"/>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4" name="Google Shape;34;p5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5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54"/>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0" name="Google Shape;40;p54"/>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1" name="Google Shape;41;p5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5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5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5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55"/>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7" name="Google Shape;47;p55"/>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8" name="Google Shape;48;p55"/>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9" name="Google Shape;49;p55"/>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0" name="Google Shape;50;p5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5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5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5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5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5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5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57"/>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57"/>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57"/>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5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5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5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58"/>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58"/>
          <p:cNvSpPr>
            <a:spLocks noGrp="1"/>
          </p:cNvSpPr>
          <p:nvPr>
            <p:ph type="pic" idx="2"/>
          </p:nvPr>
        </p:nvSpPr>
        <p:spPr>
          <a:xfrm>
            <a:off x="1792288" y="612775"/>
            <a:ext cx="5486400" cy="4114800"/>
          </a:xfrm>
          <a:prstGeom prst="rect">
            <a:avLst/>
          </a:prstGeom>
          <a:noFill/>
          <a:ln>
            <a:noFill/>
          </a:ln>
        </p:spPr>
      </p:sp>
      <p:sp>
        <p:nvSpPr>
          <p:cNvPr id="68" name="Google Shape;68;p58"/>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5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5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5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5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59"/>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5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5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5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60"/>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60"/>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6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6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6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4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4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4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jpg"/><Relationship Id="rId9"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30.jpg"/><Relationship Id="rId5" Type="http://schemas.openxmlformats.org/officeDocument/2006/relationships/image" Target="../media/image29.png"/><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3" Type="http://schemas.openxmlformats.org/officeDocument/2006/relationships/image" Target="../media/image17.jpg"/><Relationship Id="rId7"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jpg"/><Relationship Id="rId4" Type="http://schemas.openxmlformats.org/officeDocument/2006/relationships/image" Target="../media/image20.png"/></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37.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21.png"/><Relationship Id="rId7" Type="http://schemas.openxmlformats.org/officeDocument/2006/relationships/image" Target="../media/image36.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jpg"/><Relationship Id="rId4" Type="http://schemas.openxmlformats.org/officeDocument/2006/relationships/image" Target="../media/image33.png"/></Relationships>
</file>

<file path=ppt/slides/_rels/slide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4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
          <p:cNvSpPr/>
          <p:nvPr/>
        </p:nvSpPr>
        <p:spPr>
          <a:xfrm>
            <a:off x="390815" y="7737746"/>
            <a:ext cx="675462" cy="824630"/>
          </a:xfrm>
          <a:custGeom>
            <a:avLst/>
            <a:gdLst/>
            <a:ahLst/>
            <a:cxnLst/>
            <a:rect l="l" t="t" r="r" b="b"/>
            <a:pathLst>
              <a:path w="675462" h="824630" extrusionOk="0">
                <a:moveTo>
                  <a:pt x="0" y="0"/>
                </a:moveTo>
                <a:lnTo>
                  <a:pt x="675462" y="0"/>
                </a:lnTo>
                <a:lnTo>
                  <a:pt x="675462" y="824630"/>
                </a:lnTo>
                <a:lnTo>
                  <a:pt x="0" y="824630"/>
                </a:lnTo>
                <a:lnTo>
                  <a:pt x="0" y="0"/>
                </a:lnTo>
                <a:close/>
              </a:path>
            </a:pathLst>
          </a:custGeom>
          <a:blipFill rotWithShape="1">
            <a:blip r:embed="rId3">
              <a:alphaModFix/>
            </a:blip>
            <a:stretch>
              <a:fillRect/>
            </a:stretch>
          </a:blipFill>
          <a:ln>
            <a:noFill/>
          </a:ln>
        </p:spPr>
      </p:sp>
      <p:sp>
        <p:nvSpPr>
          <p:cNvPr id="90" name="Google Shape;90;p1"/>
          <p:cNvSpPr/>
          <p:nvPr/>
        </p:nvSpPr>
        <p:spPr>
          <a:xfrm>
            <a:off x="228600" y="10696501"/>
            <a:ext cx="14400016" cy="3137123"/>
          </a:xfrm>
          <a:custGeom>
            <a:avLst/>
            <a:gdLst/>
            <a:ahLst/>
            <a:cxnLst/>
            <a:rect l="l" t="t" r="r" b="b"/>
            <a:pathLst>
              <a:path w="9727319" h="3106962" extrusionOk="0">
                <a:moveTo>
                  <a:pt x="0" y="0"/>
                </a:moveTo>
                <a:lnTo>
                  <a:pt x="9727318" y="0"/>
                </a:lnTo>
                <a:lnTo>
                  <a:pt x="9727318" y="3106962"/>
                </a:lnTo>
                <a:lnTo>
                  <a:pt x="0" y="3106962"/>
                </a:lnTo>
                <a:lnTo>
                  <a:pt x="0" y="0"/>
                </a:lnTo>
                <a:close/>
              </a:path>
            </a:pathLst>
          </a:custGeom>
          <a:blipFill rotWithShape="1">
            <a:blip r:embed="rId4">
              <a:alphaModFix/>
            </a:blip>
            <a:stretch>
              <a:fillRect/>
            </a:stretch>
          </a:blipFill>
          <a:ln>
            <a:noFill/>
          </a:ln>
        </p:spPr>
      </p:sp>
      <p:sp>
        <p:nvSpPr>
          <p:cNvPr id="91" name="Google Shape;91;p1"/>
          <p:cNvSpPr txBox="1"/>
          <p:nvPr/>
        </p:nvSpPr>
        <p:spPr>
          <a:xfrm>
            <a:off x="390815" y="4028143"/>
            <a:ext cx="13907076" cy="190821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fr-FR" sz="4000" b="1" i="0" u="none" strike="noStrike" cap="none" dirty="0">
                <a:solidFill>
                  <a:srgbClr val="0F243E"/>
                </a:solidFill>
                <a:latin typeface="Montserrat"/>
                <a:ea typeface="Montserrat"/>
                <a:cs typeface="Montserrat"/>
                <a:sym typeface="Montserrat"/>
              </a:rPr>
              <a:t>Optimisation de la </a:t>
            </a:r>
            <a:r>
              <a:rPr lang="fr-FR" sz="4000" b="1" i="0" u="none" strike="noStrike" cap="none" dirty="0">
                <a:solidFill>
                  <a:srgbClr val="00B050"/>
                </a:solidFill>
                <a:latin typeface="Montserrat"/>
                <a:ea typeface="Montserrat"/>
                <a:cs typeface="Montserrat"/>
                <a:sym typeface="Montserrat"/>
              </a:rPr>
              <a:t>Ligne d'Ensachage </a:t>
            </a:r>
            <a:r>
              <a:rPr lang="fr-FR" sz="4000" b="1" i="0" u="none" strike="noStrike" cap="none" dirty="0">
                <a:solidFill>
                  <a:srgbClr val="0F243E"/>
                </a:solidFill>
                <a:latin typeface="Montserrat"/>
                <a:ea typeface="Montserrat"/>
                <a:cs typeface="Montserrat"/>
                <a:sym typeface="Montserrat"/>
              </a:rPr>
              <a:t>du MCP :</a:t>
            </a:r>
            <a:br>
              <a:rPr lang="fr-FR" sz="4000" b="1" i="0" u="none" strike="noStrike" cap="none" dirty="0">
                <a:solidFill>
                  <a:srgbClr val="0F243E"/>
                </a:solidFill>
                <a:latin typeface="Montserrat"/>
                <a:ea typeface="Montserrat"/>
                <a:cs typeface="Montserrat"/>
                <a:sym typeface="Montserrat"/>
              </a:rPr>
            </a:br>
            <a:r>
              <a:rPr lang="fr-FR" sz="4000" b="1" i="0" u="none" strike="noStrike" cap="none" dirty="0">
                <a:solidFill>
                  <a:srgbClr val="0F243E"/>
                </a:solidFill>
                <a:latin typeface="Montserrat"/>
                <a:ea typeface="Montserrat"/>
                <a:cs typeface="Montserrat"/>
                <a:sym typeface="Montserrat"/>
              </a:rPr>
              <a:t>Conception et Mise en place d'un Système </a:t>
            </a:r>
            <a:endParaRPr dirty="0"/>
          </a:p>
          <a:p>
            <a:pPr marL="0" marR="0" lvl="0" indent="0" algn="l" rtl="0">
              <a:spcBef>
                <a:spcPts val="0"/>
              </a:spcBef>
              <a:spcAft>
                <a:spcPts val="0"/>
              </a:spcAft>
              <a:buNone/>
            </a:pPr>
            <a:r>
              <a:rPr lang="fr-FR" sz="4000" b="1" i="0" u="none" strike="noStrike" cap="none" dirty="0">
                <a:solidFill>
                  <a:srgbClr val="0F243E"/>
                </a:solidFill>
                <a:latin typeface="Montserrat"/>
                <a:ea typeface="Montserrat"/>
                <a:cs typeface="Montserrat"/>
                <a:sym typeface="Montserrat"/>
              </a:rPr>
              <a:t>de </a:t>
            </a:r>
            <a:r>
              <a:rPr lang="fr-FR" sz="4000" b="1" i="0" u="none" strike="noStrike" cap="none" dirty="0">
                <a:solidFill>
                  <a:srgbClr val="00FF00"/>
                </a:solidFill>
                <a:latin typeface="Montserrat"/>
                <a:ea typeface="Montserrat"/>
                <a:cs typeface="Montserrat"/>
                <a:sym typeface="Montserrat"/>
              </a:rPr>
              <a:t>Suivi</a:t>
            </a:r>
            <a:r>
              <a:rPr lang="fr-FR" sz="4000" b="1" i="0" u="none" strike="noStrike" cap="none" dirty="0">
                <a:solidFill>
                  <a:srgbClr val="0F243E"/>
                </a:solidFill>
                <a:latin typeface="Montserrat"/>
                <a:ea typeface="Montserrat"/>
                <a:cs typeface="Montserrat"/>
                <a:sym typeface="Montserrat"/>
              </a:rPr>
              <a:t> et de </a:t>
            </a:r>
            <a:r>
              <a:rPr lang="fr-FR" sz="4000" b="1" i="0" u="none" strike="noStrike" cap="none" dirty="0">
                <a:solidFill>
                  <a:srgbClr val="00FF00"/>
                </a:solidFill>
                <a:latin typeface="Montserrat"/>
                <a:ea typeface="Montserrat"/>
                <a:cs typeface="Montserrat"/>
                <a:sym typeface="Montserrat"/>
              </a:rPr>
              <a:t>traçabilité</a:t>
            </a:r>
            <a:r>
              <a:rPr lang="fr-FR" sz="4000" b="1" i="0" u="none" strike="noStrike" cap="none" dirty="0">
                <a:solidFill>
                  <a:srgbClr val="0F243E"/>
                </a:solidFill>
                <a:latin typeface="Montserrat"/>
                <a:ea typeface="Montserrat"/>
                <a:cs typeface="Montserrat"/>
                <a:sym typeface="Montserrat"/>
              </a:rPr>
              <a:t> de </a:t>
            </a:r>
            <a:r>
              <a:rPr lang="fr-FR" sz="4000" b="1" i="0" u="none" strike="noStrike" cap="none" dirty="0">
                <a:solidFill>
                  <a:srgbClr val="00FF00"/>
                </a:solidFill>
                <a:latin typeface="Montserrat"/>
                <a:ea typeface="Montserrat"/>
                <a:cs typeface="Montserrat"/>
                <a:sym typeface="Montserrat"/>
              </a:rPr>
              <a:t>Performance</a:t>
            </a:r>
            <a:endParaRPr sz="4000" b="1" i="0" u="none" strike="noStrike" cap="none" dirty="0">
              <a:solidFill>
                <a:srgbClr val="00FF00"/>
              </a:solidFill>
              <a:latin typeface="Montserrat"/>
              <a:ea typeface="Montserrat"/>
              <a:cs typeface="Montserrat"/>
              <a:sym typeface="Montserrat"/>
            </a:endParaRPr>
          </a:p>
        </p:txBody>
      </p:sp>
      <p:sp>
        <p:nvSpPr>
          <p:cNvPr id="92" name="Google Shape;92;p1"/>
          <p:cNvSpPr txBox="1"/>
          <p:nvPr/>
        </p:nvSpPr>
        <p:spPr>
          <a:xfrm>
            <a:off x="4150346" y="7392192"/>
            <a:ext cx="9846086" cy="1395510"/>
          </a:xfrm>
          <a:prstGeom prst="rect">
            <a:avLst/>
          </a:prstGeom>
          <a:noFill/>
          <a:ln>
            <a:noFill/>
          </a:ln>
        </p:spPr>
        <p:txBody>
          <a:bodyPr spcFirstLastPara="1" wrap="square" lIns="0" tIns="0" rIns="0" bIns="0" anchor="t" anchorCtr="0">
            <a:spAutoFit/>
          </a:bodyPr>
          <a:lstStyle/>
          <a:p>
            <a:pPr marL="0" marR="0" lvl="0" indent="0" algn="ctr" rtl="0">
              <a:lnSpc>
                <a:spcPct val="140024"/>
              </a:lnSpc>
              <a:spcBef>
                <a:spcPts val="0"/>
              </a:spcBef>
              <a:spcAft>
                <a:spcPts val="0"/>
              </a:spcAft>
              <a:buNone/>
            </a:pPr>
            <a:endParaRPr sz="8265" b="1" i="0" u="none" strike="noStrike" cap="none">
              <a:solidFill>
                <a:srgbClr val="004AAD"/>
              </a:solidFill>
              <a:latin typeface="League Spartan"/>
              <a:ea typeface="League Spartan"/>
              <a:cs typeface="League Spartan"/>
              <a:sym typeface="League Spartan"/>
            </a:endParaRPr>
          </a:p>
        </p:txBody>
      </p:sp>
      <p:pic>
        <p:nvPicPr>
          <p:cNvPr id="93" name="Google Shape;93;p1" descr="Université Hassan 2 de Casablanca Maroc Logo Vector - (.Ai ..."/>
          <p:cNvPicPr preferRelativeResize="0"/>
          <p:nvPr/>
        </p:nvPicPr>
        <p:blipFill rotWithShape="1">
          <a:blip r:embed="rId5">
            <a:alphaModFix/>
          </a:blip>
          <a:srcRect/>
          <a:stretch/>
        </p:blipFill>
        <p:spPr>
          <a:xfrm>
            <a:off x="794931" y="373475"/>
            <a:ext cx="1828381" cy="1406147"/>
          </a:xfrm>
          <a:prstGeom prst="rect">
            <a:avLst/>
          </a:prstGeom>
          <a:noFill/>
          <a:ln>
            <a:noFill/>
          </a:ln>
        </p:spPr>
      </p:pic>
      <p:sp>
        <p:nvSpPr>
          <p:cNvPr id="94" name="Google Shape;94;p1"/>
          <p:cNvSpPr/>
          <p:nvPr/>
        </p:nvSpPr>
        <p:spPr>
          <a:xfrm>
            <a:off x="1194010" y="7550133"/>
            <a:ext cx="4947776" cy="1415772"/>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400" b="0" i="0" u="none" strike="noStrike" cap="none">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fr-FR" sz="2400" b="1" i="0" u="none" strike="noStrike" cap="none">
                <a:solidFill>
                  <a:srgbClr val="004AAD"/>
                </a:solidFill>
                <a:latin typeface="Montserrat"/>
                <a:ea typeface="Montserrat"/>
                <a:cs typeface="Montserrat"/>
                <a:sym typeface="Montserrat"/>
              </a:rPr>
              <a:t>Réalisé par :</a:t>
            </a:r>
            <a:endParaRPr/>
          </a:p>
          <a:p>
            <a:pPr marL="0" marR="0" lvl="0" indent="0" algn="l" rtl="0">
              <a:spcBef>
                <a:spcPts val="0"/>
              </a:spcBef>
              <a:spcAft>
                <a:spcPts val="0"/>
              </a:spcAft>
              <a:buNone/>
            </a:pPr>
            <a:endParaRPr sz="2400" b="1" i="0" u="none" strike="noStrike" cap="none">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fr-FR" sz="2400" b="1" i="1" u="none" strike="noStrike" cap="none">
                <a:solidFill>
                  <a:srgbClr val="004AAD"/>
                </a:solidFill>
                <a:latin typeface="Montserrat"/>
                <a:ea typeface="Montserrat"/>
                <a:cs typeface="Montserrat"/>
                <a:sym typeface="Montserrat"/>
              </a:rPr>
              <a:t>KHERBECH Rachid</a:t>
            </a:r>
            <a:endParaRPr/>
          </a:p>
        </p:txBody>
      </p:sp>
      <p:sp>
        <p:nvSpPr>
          <p:cNvPr id="95" name="Google Shape;95;p1"/>
          <p:cNvSpPr txBox="1"/>
          <p:nvPr/>
        </p:nvSpPr>
        <p:spPr>
          <a:xfrm>
            <a:off x="2778845" y="2237180"/>
            <a:ext cx="13258800" cy="1616636"/>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None/>
            </a:pPr>
            <a:r>
              <a:rPr lang="fr-FR" sz="1800" b="0" i="0" u="none" strike="noStrike" cap="none">
                <a:solidFill>
                  <a:srgbClr val="000000"/>
                </a:solidFill>
                <a:latin typeface="Calibri"/>
                <a:ea typeface="Calibri"/>
                <a:cs typeface="Calibri"/>
                <a:sym typeface="Calibri"/>
              </a:rPr>
              <a:t> </a:t>
            </a:r>
            <a:endParaRPr/>
          </a:p>
        </p:txBody>
      </p:sp>
      <p:sp>
        <p:nvSpPr>
          <p:cNvPr id="96" name="Google Shape;96;p1"/>
          <p:cNvSpPr txBox="1"/>
          <p:nvPr/>
        </p:nvSpPr>
        <p:spPr>
          <a:xfrm>
            <a:off x="2482088" y="400308"/>
            <a:ext cx="13182600" cy="139062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fr-FR" sz="2801" b="0" i="0" u="none" strike="noStrike" cap="none">
                <a:solidFill>
                  <a:schemeClr val="dk1"/>
                </a:solidFill>
                <a:latin typeface="Times New Roman"/>
                <a:ea typeface="Times New Roman"/>
                <a:cs typeface="Times New Roman"/>
                <a:sym typeface="Times New Roman"/>
              </a:rPr>
              <a:t>Université Hassan II de Casablanca</a:t>
            </a:r>
            <a:endParaRPr/>
          </a:p>
          <a:p>
            <a:pPr marL="0" marR="0" lvl="0" indent="0" algn="ctr" rtl="0">
              <a:spcBef>
                <a:spcPts val="0"/>
              </a:spcBef>
              <a:spcAft>
                <a:spcPts val="0"/>
              </a:spcAft>
              <a:buNone/>
            </a:pPr>
            <a:r>
              <a:rPr lang="fr-FR" sz="2801" b="0" i="0" u="none" strike="noStrike" cap="none">
                <a:solidFill>
                  <a:schemeClr val="dk1"/>
                </a:solidFill>
                <a:latin typeface="Times New Roman"/>
                <a:ea typeface="Times New Roman"/>
                <a:cs typeface="Times New Roman"/>
                <a:sym typeface="Times New Roman"/>
              </a:rPr>
              <a:t> Ecole normale supérieure de l’enseignement </a:t>
            </a:r>
            <a:endParaRPr/>
          </a:p>
          <a:p>
            <a:pPr marL="0" marR="0" lvl="0" indent="0" algn="ctr" rtl="0">
              <a:spcBef>
                <a:spcPts val="0"/>
              </a:spcBef>
              <a:spcAft>
                <a:spcPts val="0"/>
              </a:spcAft>
              <a:buNone/>
            </a:pPr>
            <a:r>
              <a:rPr lang="fr-FR" sz="2801" b="0" i="0" u="none" strike="noStrike" cap="none">
                <a:solidFill>
                  <a:schemeClr val="dk1"/>
                </a:solidFill>
                <a:latin typeface="Times New Roman"/>
                <a:ea typeface="Times New Roman"/>
                <a:cs typeface="Times New Roman"/>
                <a:sym typeface="Times New Roman"/>
              </a:rPr>
              <a:t>technique de Mohammedia</a:t>
            </a:r>
            <a:endParaRPr sz="2801" b="0" i="0" u="none" strike="noStrike" cap="none">
              <a:solidFill>
                <a:srgbClr val="000000"/>
              </a:solidFill>
              <a:latin typeface="Times New Roman"/>
              <a:ea typeface="Times New Roman"/>
              <a:cs typeface="Times New Roman"/>
              <a:sym typeface="Times New Roman"/>
            </a:endParaRPr>
          </a:p>
        </p:txBody>
      </p:sp>
      <p:sp>
        <p:nvSpPr>
          <p:cNvPr id="97" name="Google Shape;97;p1"/>
          <p:cNvSpPr txBox="1"/>
          <p:nvPr/>
        </p:nvSpPr>
        <p:spPr>
          <a:xfrm>
            <a:off x="2475077" y="2107666"/>
            <a:ext cx="13182600" cy="139062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fr-FR" sz="2801" b="0" i="0" u="none" strike="noStrike" cap="none">
                <a:solidFill>
                  <a:schemeClr val="dk1"/>
                </a:solidFill>
                <a:latin typeface="Times New Roman"/>
                <a:ea typeface="Times New Roman"/>
                <a:cs typeface="Times New Roman"/>
                <a:sym typeface="Times New Roman"/>
              </a:rPr>
              <a:t>Département : Génie mécanique </a:t>
            </a:r>
            <a:endParaRPr/>
          </a:p>
          <a:p>
            <a:pPr marL="0" marR="0" lvl="0" indent="0" algn="ctr" rtl="0">
              <a:spcBef>
                <a:spcPts val="0"/>
              </a:spcBef>
              <a:spcAft>
                <a:spcPts val="0"/>
              </a:spcAft>
              <a:buNone/>
            </a:pPr>
            <a:r>
              <a:rPr lang="fr-FR" sz="3600" b="1" i="0" u="none" strike="noStrike" cap="none">
                <a:solidFill>
                  <a:schemeClr val="dk1"/>
                </a:solidFill>
                <a:latin typeface="Times New Roman"/>
                <a:ea typeface="Times New Roman"/>
                <a:cs typeface="Times New Roman"/>
                <a:sym typeface="Times New Roman"/>
              </a:rPr>
              <a:t>MS – MRMI – 2ème Année</a:t>
            </a:r>
            <a:endParaRPr sz="4800" b="0" i="0" u="none" strike="noStrike" cap="none">
              <a:solidFill>
                <a:srgbClr val="000000"/>
              </a:solidFill>
              <a:latin typeface="Times New Roman"/>
              <a:ea typeface="Times New Roman"/>
              <a:cs typeface="Times New Roman"/>
              <a:sym typeface="Times New Roman"/>
            </a:endParaRPr>
          </a:p>
        </p:txBody>
      </p:sp>
      <p:cxnSp>
        <p:nvCxnSpPr>
          <p:cNvPr id="98" name="Google Shape;98;p1"/>
          <p:cNvCxnSpPr/>
          <p:nvPr/>
        </p:nvCxnSpPr>
        <p:spPr>
          <a:xfrm>
            <a:off x="4495800" y="7662032"/>
            <a:ext cx="0" cy="1703616"/>
          </a:xfrm>
          <a:prstGeom prst="straightConnector1">
            <a:avLst/>
          </a:prstGeom>
          <a:noFill/>
          <a:ln w="38100" cap="flat" cmpd="sng">
            <a:solidFill>
              <a:schemeClr val="accent1"/>
            </a:solidFill>
            <a:prstDash val="solid"/>
            <a:round/>
            <a:headEnd type="none" w="sm" len="sm"/>
            <a:tailEnd type="none" w="sm" len="sm"/>
          </a:ln>
          <a:effectLst>
            <a:outerShdw blurRad="40000" dist="23000" dir="5400000" rotWithShape="0">
              <a:srgbClr val="000000">
                <a:alpha val="34901"/>
              </a:srgbClr>
            </a:outerShdw>
          </a:effectLst>
        </p:spPr>
      </p:cxnSp>
      <p:pic>
        <p:nvPicPr>
          <p:cNvPr id="99" name="Google Shape;99;p1" descr="Ecole Normale Supérieure de l'Enseignement technique ..."/>
          <p:cNvPicPr preferRelativeResize="0"/>
          <p:nvPr/>
        </p:nvPicPr>
        <p:blipFill rotWithShape="1">
          <a:blip r:embed="rId6">
            <a:alphaModFix/>
          </a:blip>
          <a:srcRect l="41835" t="31655" r="18003" b="35075"/>
          <a:stretch/>
        </p:blipFill>
        <p:spPr>
          <a:xfrm>
            <a:off x="15169988" y="301351"/>
            <a:ext cx="2560419" cy="1489578"/>
          </a:xfrm>
          <a:prstGeom prst="rect">
            <a:avLst/>
          </a:prstGeom>
          <a:noFill/>
          <a:ln>
            <a:noFill/>
          </a:ln>
        </p:spPr>
      </p:pic>
      <p:sp>
        <p:nvSpPr>
          <p:cNvPr id="100" name="Google Shape;100;p1"/>
          <p:cNvSpPr/>
          <p:nvPr/>
        </p:nvSpPr>
        <p:spPr>
          <a:xfrm>
            <a:off x="4638361" y="7737746"/>
            <a:ext cx="675462" cy="824630"/>
          </a:xfrm>
          <a:custGeom>
            <a:avLst/>
            <a:gdLst/>
            <a:ahLst/>
            <a:cxnLst/>
            <a:rect l="l" t="t" r="r" b="b"/>
            <a:pathLst>
              <a:path w="675462" h="824630" extrusionOk="0">
                <a:moveTo>
                  <a:pt x="0" y="0"/>
                </a:moveTo>
                <a:lnTo>
                  <a:pt x="675462" y="0"/>
                </a:lnTo>
                <a:lnTo>
                  <a:pt x="675462" y="824630"/>
                </a:lnTo>
                <a:lnTo>
                  <a:pt x="0" y="824630"/>
                </a:lnTo>
                <a:lnTo>
                  <a:pt x="0" y="0"/>
                </a:lnTo>
                <a:close/>
              </a:path>
            </a:pathLst>
          </a:custGeom>
          <a:blipFill rotWithShape="1">
            <a:blip r:embed="rId3">
              <a:alphaModFix/>
            </a:blip>
            <a:stretch>
              <a:fillRect/>
            </a:stretch>
          </a:blipFill>
          <a:ln>
            <a:noFill/>
          </a:ln>
        </p:spPr>
      </p:sp>
      <p:sp>
        <p:nvSpPr>
          <p:cNvPr id="101" name="Google Shape;101;p1"/>
          <p:cNvSpPr/>
          <p:nvPr/>
        </p:nvSpPr>
        <p:spPr>
          <a:xfrm>
            <a:off x="5325362" y="7386430"/>
            <a:ext cx="4947776" cy="2154436"/>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400" b="0" i="0" u="none" strike="noStrike" cap="none">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fr-FR" sz="2400" b="1">
                <a:solidFill>
                  <a:srgbClr val="004AAD"/>
                </a:solidFill>
                <a:latin typeface="Montserrat"/>
                <a:ea typeface="Montserrat"/>
                <a:cs typeface="Montserrat"/>
                <a:sym typeface="Montserrat"/>
              </a:rPr>
              <a:t>Encadré</a:t>
            </a:r>
            <a:r>
              <a:rPr lang="fr-FR" sz="2400" b="1" i="0" u="none" strike="noStrike" cap="none">
                <a:solidFill>
                  <a:srgbClr val="004AAD"/>
                </a:solidFill>
                <a:latin typeface="Montserrat"/>
                <a:ea typeface="Montserrat"/>
                <a:cs typeface="Montserrat"/>
                <a:sym typeface="Montserrat"/>
              </a:rPr>
              <a:t> par :</a:t>
            </a:r>
            <a:endParaRPr/>
          </a:p>
          <a:p>
            <a:pPr marL="0" marR="0" lvl="0" indent="0" algn="l" rtl="0">
              <a:spcBef>
                <a:spcPts val="0"/>
              </a:spcBef>
              <a:spcAft>
                <a:spcPts val="0"/>
              </a:spcAft>
              <a:buNone/>
            </a:pPr>
            <a:endParaRPr sz="2400" b="1" i="0" u="none" strike="noStrike" cap="none">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fr-FR" sz="2400" b="1" i="1" u="none" strike="noStrike" cap="none">
                <a:solidFill>
                  <a:srgbClr val="004AAD"/>
                </a:solidFill>
                <a:latin typeface="Montserrat"/>
                <a:ea typeface="Montserrat"/>
                <a:cs typeface="Montserrat"/>
                <a:sym typeface="Montserrat"/>
              </a:rPr>
              <a:t>Pr. H. SAMRI</a:t>
            </a:r>
            <a:endParaRPr/>
          </a:p>
          <a:p>
            <a:pPr marL="0" marR="0" lvl="0" indent="0" algn="l" rtl="0">
              <a:spcBef>
                <a:spcPts val="0"/>
              </a:spcBef>
              <a:spcAft>
                <a:spcPts val="0"/>
              </a:spcAft>
              <a:buNone/>
            </a:pPr>
            <a:r>
              <a:rPr lang="fr-FR" sz="2400" b="1" i="1" u="none" strike="noStrike" cap="none">
                <a:solidFill>
                  <a:srgbClr val="004AAD"/>
                </a:solidFill>
                <a:latin typeface="Montserrat"/>
                <a:ea typeface="Montserrat"/>
                <a:cs typeface="Montserrat"/>
                <a:sym typeface="Montserrat"/>
              </a:rPr>
              <a:t>M. S. ATLAS </a:t>
            </a:r>
            <a:endParaRPr/>
          </a:p>
          <a:p>
            <a:pPr marL="0" marR="0" lvl="0" indent="0" algn="l" rtl="0">
              <a:spcBef>
                <a:spcPts val="0"/>
              </a:spcBef>
              <a:spcAft>
                <a:spcPts val="0"/>
              </a:spcAft>
              <a:buNone/>
            </a:pPr>
            <a:r>
              <a:rPr lang="fr-FR" sz="2400" b="1" i="1" u="none" strike="noStrike" cap="none">
                <a:solidFill>
                  <a:srgbClr val="004AAD"/>
                </a:solidFill>
                <a:latin typeface="Montserrat"/>
                <a:ea typeface="Montserrat"/>
                <a:cs typeface="Montserrat"/>
                <a:sym typeface="Montserrat"/>
              </a:rPr>
              <a:t>Ing. M. WafiQ </a:t>
            </a:r>
            <a:endParaRPr/>
          </a:p>
        </p:txBody>
      </p:sp>
      <p:cxnSp>
        <p:nvCxnSpPr>
          <p:cNvPr id="102" name="Google Shape;102;p1"/>
          <p:cNvCxnSpPr/>
          <p:nvPr/>
        </p:nvCxnSpPr>
        <p:spPr>
          <a:xfrm>
            <a:off x="9251280" y="7643974"/>
            <a:ext cx="0" cy="1703616"/>
          </a:xfrm>
          <a:prstGeom prst="straightConnector1">
            <a:avLst/>
          </a:prstGeom>
          <a:noFill/>
          <a:ln w="38100" cap="flat" cmpd="sng">
            <a:solidFill>
              <a:schemeClr val="accent1"/>
            </a:solidFill>
            <a:prstDash val="solid"/>
            <a:round/>
            <a:headEnd type="none" w="sm" len="sm"/>
            <a:tailEnd type="none" w="sm" len="sm"/>
          </a:ln>
          <a:effectLst>
            <a:outerShdw blurRad="40000" dist="23000" dir="5400000" rotWithShape="0">
              <a:srgbClr val="000000">
                <a:alpha val="34901"/>
              </a:srgbClr>
            </a:outerShdw>
          </a:effectLst>
        </p:spPr>
      </p:cxnSp>
      <p:sp>
        <p:nvSpPr>
          <p:cNvPr id="103" name="Google Shape;103;p1"/>
          <p:cNvSpPr/>
          <p:nvPr/>
        </p:nvSpPr>
        <p:spPr>
          <a:xfrm>
            <a:off x="9393841" y="7719688"/>
            <a:ext cx="675462" cy="824630"/>
          </a:xfrm>
          <a:custGeom>
            <a:avLst/>
            <a:gdLst/>
            <a:ahLst/>
            <a:cxnLst/>
            <a:rect l="l" t="t" r="r" b="b"/>
            <a:pathLst>
              <a:path w="675462" h="824630" extrusionOk="0">
                <a:moveTo>
                  <a:pt x="0" y="0"/>
                </a:moveTo>
                <a:lnTo>
                  <a:pt x="675462" y="0"/>
                </a:lnTo>
                <a:lnTo>
                  <a:pt x="675462" y="824630"/>
                </a:lnTo>
                <a:lnTo>
                  <a:pt x="0" y="824630"/>
                </a:lnTo>
                <a:lnTo>
                  <a:pt x="0" y="0"/>
                </a:lnTo>
                <a:close/>
              </a:path>
            </a:pathLst>
          </a:custGeom>
          <a:blipFill rotWithShape="1">
            <a:blip r:embed="rId3">
              <a:alphaModFix/>
            </a:blip>
            <a:stretch>
              <a:fillRect/>
            </a:stretch>
          </a:blipFill>
          <a:ln>
            <a:noFill/>
          </a:ln>
        </p:spPr>
      </p:sp>
      <p:sp>
        <p:nvSpPr>
          <p:cNvPr id="104" name="Google Shape;104;p1"/>
          <p:cNvSpPr/>
          <p:nvPr/>
        </p:nvSpPr>
        <p:spPr>
          <a:xfrm>
            <a:off x="10069304" y="7550114"/>
            <a:ext cx="4947900" cy="215430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400" b="0" i="0" u="none" strike="noStrike" cap="none">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fr-FR" sz="2400" b="1" i="0" u="none" strike="noStrike" cap="none">
                <a:solidFill>
                  <a:srgbClr val="004AAD"/>
                </a:solidFill>
                <a:latin typeface="Montserrat"/>
                <a:ea typeface="Montserrat"/>
                <a:cs typeface="Montserrat"/>
                <a:sym typeface="Montserrat"/>
              </a:rPr>
              <a:t>Jury :</a:t>
            </a:r>
            <a:endParaRPr/>
          </a:p>
          <a:p>
            <a:pPr marL="0" marR="0" lvl="0" indent="0" algn="l" rtl="0">
              <a:spcBef>
                <a:spcPts val="0"/>
              </a:spcBef>
              <a:spcAft>
                <a:spcPts val="0"/>
              </a:spcAft>
              <a:buNone/>
            </a:pPr>
            <a:endParaRPr sz="2400" b="1">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fr-FR" sz="2400" b="1" i="1">
                <a:solidFill>
                  <a:srgbClr val="004AAD"/>
                </a:solidFill>
                <a:latin typeface="Montserrat"/>
                <a:ea typeface="Montserrat"/>
                <a:cs typeface="Montserrat"/>
                <a:sym typeface="Montserrat"/>
              </a:rPr>
              <a:t>Pr. H. SAMRI</a:t>
            </a:r>
            <a:endParaRPr sz="2400" b="1">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fr-FR" sz="2400" b="1" i="1" u="none" strike="noStrike" cap="none">
                <a:solidFill>
                  <a:srgbClr val="004AAD"/>
                </a:solidFill>
                <a:latin typeface="Montserrat"/>
                <a:ea typeface="Montserrat"/>
                <a:cs typeface="Montserrat"/>
                <a:sym typeface="Montserrat"/>
              </a:rPr>
              <a:t>Mme. K. BELFALLAH</a:t>
            </a:r>
            <a:endParaRPr sz="2400" b="1" i="1" u="none" strike="noStrike" cap="none">
              <a:solidFill>
                <a:srgbClr val="004AAD"/>
              </a:solidFill>
              <a:latin typeface="Montserrat"/>
              <a:ea typeface="Montserrat"/>
              <a:cs typeface="Montserrat"/>
              <a:sym typeface="Montserrat"/>
            </a:endParaRPr>
          </a:p>
          <a:p>
            <a:pPr marL="0" marR="0" lvl="0" indent="0" algn="l" rtl="0">
              <a:spcBef>
                <a:spcPts val="0"/>
              </a:spcBef>
              <a:spcAft>
                <a:spcPts val="0"/>
              </a:spcAft>
              <a:buNone/>
            </a:pPr>
            <a:r>
              <a:rPr lang="fr-FR" sz="2400" b="1" i="1" u="none" strike="noStrike" cap="none">
                <a:solidFill>
                  <a:srgbClr val="004AAD"/>
                </a:solidFill>
                <a:latin typeface="Montserrat"/>
                <a:ea typeface="Montserrat"/>
                <a:cs typeface="Montserrat"/>
                <a:sym typeface="Montserrat"/>
              </a:rPr>
              <a:t>Mme. N. BELOUAGGADIA</a:t>
            </a:r>
            <a:endParaRPr/>
          </a:p>
          <a:p>
            <a:pPr marL="0" marR="0" lvl="0" indent="0" algn="l" rtl="0">
              <a:spcBef>
                <a:spcPts val="0"/>
              </a:spcBef>
              <a:spcAft>
                <a:spcPts val="0"/>
              </a:spcAft>
              <a:buNone/>
            </a:pPr>
            <a:r>
              <a:rPr lang="fr-FR" sz="2400" b="1" i="1" u="none" strike="noStrike" cap="none">
                <a:solidFill>
                  <a:srgbClr val="004AAD"/>
                </a:solidFill>
                <a:latin typeface="Montserrat"/>
                <a:ea typeface="Montserrat"/>
                <a:cs typeface="Montserrat"/>
                <a:sym typeface="Montserrat"/>
              </a:rPr>
              <a:t>M. </a:t>
            </a:r>
            <a:r>
              <a:rPr lang="fr-FR" sz="2400" b="1" i="1">
                <a:solidFill>
                  <a:srgbClr val="004AAD"/>
                </a:solidFill>
                <a:latin typeface="Montserrat"/>
                <a:ea typeface="Montserrat"/>
                <a:cs typeface="Montserrat"/>
                <a:sym typeface="Montserrat"/>
              </a:rPr>
              <a:t>T</a:t>
            </a:r>
            <a:r>
              <a:rPr lang="fr-FR" sz="2400" b="1" i="1" u="none" strike="noStrike" cap="none">
                <a:solidFill>
                  <a:srgbClr val="004AAD"/>
                </a:solidFill>
                <a:latin typeface="Montserrat"/>
                <a:ea typeface="Montserrat"/>
                <a:cs typeface="Montserrat"/>
                <a:sym typeface="Montserrat"/>
              </a:rPr>
              <a:t>. BARHRAR </a:t>
            </a:r>
            <a:endParaRPr sz="2400" b="1" i="1" u="none" strike="noStrike" cap="none">
              <a:solidFill>
                <a:srgbClr val="004AAD"/>
              </a:solidFill>
              <a:latin typeface="Montserrat"/>
              <a:ea typeface="Montserrat"/>
              <a:cs typeface="Montserrat"/>
              <a:sym typeface="Montserrat"/>
            </a:endParaRPr>
          </a:p>
        </p:txBody>
      </p:sp>
      <p:pic>
        <p:nvPicPr>
          <p:cNvPr id="105" name="Google Shape;105;p1"/>
          <p:cNvPicPr preferRelativeResize="0"/>
          <p:nvPr/>
        </p:nvPicPr>
        <p:blipFill rotWithShape="1">
          <a:blip r:embed="rId7">
            <a:alphaModFix/>
          </a:blip>
          <a:srcRect/>
          <a:stretch/>
        </p:blipFill>
        <p:spPr>
          <a:xfrm>
            <a:off x="13838217" y="3237171"/>
            <a:ext cx="3761845" cy="479048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
          <p:cNvSpPr/>
          <p:nvPr/>
        </p:nvSpPr>
        <p:spPr>
          <a:xfrm rot="-6664043">
            <a:off x="998515" y="-258785"/>
            <a:ext cx="11511802" cy="11511802"/>
          </a:xfrm>
          <a:custGeom>
            <a:avLst/>
            <a:gdLst/>
            <a:ahLst/>
            <a:cxnLst/>
            <a:rect l="l" t="t" r="r" b="b"/>
            <a:pathLst>
              <a:path w="11511802" h="11511802" extrusionOk="0">
                <a:moveTo>
                  <a:pt x="0" y="0"/>
                </a:moveTo>
                <a:lnTo>
                  <a:pt x="11511802" y="0"/>
                </a:lnTo>
                <a:lnTo>
                  <a:pt x="11511802" y="11511802"/>
                </a:lnTo>
                <a:lnTo>
                  <a:pt x="0" y="11511802"/>
                </a:lnTo>
                <a:lnTo>
                  <a:pt x="0" y="0"/>
                </a:lnTo>
                <a:close/>
              </a:path>
            </a:pathLst>
          </a:custGeom>
          <a:blipFill rotWithShape="1">
            <a:blip r:embed="rId3">
              <a:alphaModFix amt="40000"/>
            </a:blip>
            <a:stretch>
              <a:fillRect/>
            </a:stretch>
          </a:blipFill>
          <a:ln>
            <a:noFill/>
          </a:ln>
        </p:spPr>
      </p:sp>
      <p:sp>
        <p:nvSpPr>
          <p:cNvPr id="112" name="Google Shape;112;p2"/>
          <p:cNvSpPr/>
          <p:nvPr/>
        </p:nvSpPr>
        <p:spPr>
          <a:xfrm rot="1505868">
            <a:off x="3380725" y="2258316"/>
            <a:ext cx="12580534" cy="8680686"/>
          </a:xfrm>
          <a:custGeom>
            <a:avLst/>
            <a:gdLst/>
            <a:ahLst/>
            <a:cxnLst/>
            <a:rect l="l" t="t" r="r" b="b"/>
            <a:pathLst>
              <a:path w="12580534" h="8680686" extrusionOk="0">
                <a:moveTo>
                  <a:pt x="0" y="0"/>
                </a:moveTo>
                <a:lnTo>
                  <a:pt x="12580534" y="0"/>
                </a:lnTo>
                <a:lnTo>
                  <a:pt x="12580534" y="8680686"/>
                </a:lnTo>
                <a:lnTo>
                  <a:pt x="0" y="8680686"/>
                </a:lnTo>
                <a:lnTo>
                  <a:pt x="0" y="0"/>
                </a:lnTo>
                <a:close/>
              </a:path>
            </a:pathLst>
          </a:custGeom>
          <a:blipFill rotWithShape="1">
            <a:blip r:embed="rId4">
              <a:alphaModFix amt="50000"/>
            </a:blip>
            <a:stretch>
              <a:fillRect/>
            </a:stretch>
          </a:blipFill>
          <a:ln>
            <a:noFill/>
          </a:ln>
        </p:spPr>
      </p:sp>
      <p:sp>
        <p:nvSpPr>
          <p:cNvPr id="113" name="Google Shape;113;p2"/>
          <p:cNvSpPr txBox="1"/>
          <p:nvPr/>
        </p:nvSpPr>
        <p:spPr>
          <a:xfrm>
            <a:off x="3124200" y="4397648"/>
            <a:ext cx="12344400" cy="1154162"/>
          </a:xfrm>
          <a:prstGeom prst="rect">
            <a:avLst/>
          </a:prstGeom>
          <a:noFill/>
          <a:ln>
            <a:noFill/>
          </a:ln>
        </p:spPr>
        <p:txBody>
          <a:bodyPr spcFirstLastPara="1" wrap="square" lIns="0" tIns="0" rIns="0" bIns="0" anchor="t" anchorCtr="0">
            <a:spAutoFit/>
          </a:bodyPr>
          <a:lstStyle/>
          <a:p>
            <a:pPr marL="0" marR="0" lvl="0" indent="0" algn="l" rtl="0">
              <a:lnSpc>
                <a:spcPct val="93750"/>
              </a:lnSpc>
              <a:spcBef>
                <a:spcPts val="0"/>
              </a:spcBef>
              <a:spcAft>
                <a:spcPts val="0"/>
              </a:spcAft>
              <a:buNone/>
            </a:pPr>
            <a:r>
              <a:rPr lang="fr-FR" sz="9600" b="1" i="0" u="none" strike="noStrike" cap="none">
                <a:solidFill>
                  <a:srgbClr val="004AAD"/>
                </a:solidFill>
                <a:latin typeface="Montserrat"/>
                <a:ea typeface="Montserrat"/>
                <a:cs typeface="Montserrat"/>
                <a:sym typeface="Montserrat"/>
              </a:rPr>
              <a:t>Introduction </a:t>
            </a:r>
            <a:endParaRPr sz="9600" b="1" i="0" u="none" strike="noStrike" cap="none">
              <a:solidFill>
                <a:srgbClr val="004AAD"/>
              </a:solidFill>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3"/>
          <p:cNvSpPr/>
          <p:nvPr/>
        </p:nvSpPr>
        <p:spPr>
          <a:xfrm rot="-6664043">
            <a:off x="998515" y="-258785"/>
            <a:ext cx="11511802" cy="11511802"/>
          </a:xfrm>
          <a:custGeom>
            <a:avLst/>
            <a:gdLst/>
            <a:ahLst/>
            <a:cxnLst/>
            <a:rect l="l" t="t" r="r" b="b"/>
            <a:pathLst>
              <a:path w="11511802" h="11511802" extrusionOk="0">
                <a:moveTo>
                  <a:pt x="0" y="0"/>
                </a:moveTo>
                <a:lnTo>
                  <a:pt x="11511802" y="0"/>
                </a:lnTo>
                <a:lnTo>
                  <a:pt x="11511802" y="11511802"/>
                </a:lnTo>
                <a:lnTo>
                  <a:pt x="0" y="11511802"/>
                </a:lnTo>
                <a:lnTo>
                  <a:pt x="0" y="0"/>
                </a:lnTo>
                <a:close/>
              </a:path>
            </a:pathLst>
          </a:custGeom>
          <a:blipFill rotWithShape="1">
            <a:blip r:embed="rId3">
              <a:alphaModFix amt="40000"/>
            </a:blip>
            <a:stretch>
              <a:fillRect/>
            </a:stretch>
          </a:blipFill>
          <a:ln>
            <a:noFill/>
          </a:ln>
        </p:spPr>
      </p:sp>
      <p:sp>
        <p:nvSpPr>
          <p:cNvPr id="119" name="Google Shape;119;p3"/>
          <p:cNvSpPr/>
          <p:nvPr/>
        </p:nvSpPr>
        <p:spPr>
          <a:xfrm rot="1505868">
            <a:off x="3380725" y="2258316"/>
            <a:ext cx="12580534" cy="8680686"/>
          </a:xfrm>
          <a:custGeom>
            <a:avLst/>
            <a:gdLst/>
            <a:ahLst/>
            <a:cxnLst/>
            <a:rect l="l" t="t" r="r" b="b"/>
            <a:pathLst>
              <a:path w="12580534" h="8680686" extrusionOk="0">
                <a:moveTo>
                  <a:pt x="0" y="0"/>
                </a:moveTo>
                <a:lnTo>
                  <a:pt x="12580534" y="0"/>
                </a:lnTo>
                <a:lnTo>
                  <a:pt x="12580534" y="8680686"/>
                </a:lnTo>
                <a:lnTo>
                  <a:pt x="0" y="8680686"/>
                </a:lnTo>
                <a:lnTo>
                  <a:pt x="0" y="0"/>
                </a:lnTo>
                <a:close/>
              </a:path>
            </a:pathLst>
          </a:custGeom>
          <a:blipFill rotWithShape="1">
            <a:blip r:embed="rId4">
              <a:alphaModFix amt="50000"/>
            </a:blip>
            <a:stretch>
              <a:fillRect/>
            </a:stretch>
          </a:blipFill>
          <a:ln>
            <a:noFill/>
          </a:ln>
        </p:spPr>
      </p:sp>
      <p:sp>
        <p:nvSpPr>
          <p:cNvPr id="120" name="Google Shape;120;p3"/>
          <p:cNvSpPr txBox="1"/>
          <p:nvPr/>
        </p:nvSpPr>
        <p:spPr>
          <a:xfrm>
            <a:off x="4115139" y="3771900"/>
            <a:ext cx="12344400" cy="2198935"/>
          </a:xfrm>
          <a:prstGeom prst="rect">
            <a:avLst/>
          </a:prstGeom>
          <a:noFill/>
          <a:ln>
            <a:noFill/>
          </a:ln>
        </p:spPr>
        <p:txBody>
          <a:bodyPr spcFirstLastPara="1" wrap="square" lIns="0" tIns="0" rIns="0" bIns="0" anchor="t" anchorCtr="0">
            <a:spAutoFit/>
          </a:bodyPr>
          <a:lstStyle/>
          <a:p>
            <a:pPr marL="0" marR="0" lvl="0" indent="0" algn="l" rtl="0">
              <a:lnSpc>
                <a:spcPct val="136363"/>
              </a:lnSpc>
              <a:spcBef>
                <a:spcPts val="0"/>
              </a:spcBef>
              <a:spcAft>
                <a:spcPts val="0"/>
              </a:spcAft>
              <a:buNone/>
            </a:pPr>
            <a:r>
              <a:rPr lang="fr-FR" sz="6600" b="1" i="0" u="none" strike="noStrike" cap="none">
                <a:solidFill>
                  <a:srgbClr val="004AAD"/>
                </a:solidFill>
                <a:latin typeface="Montserrat"/>
                <a:ea typeface="Montserrat"/>
                <a:cs typeface="Montserrat"/>
                <a:sym typeface="Montserrat"/>
              </a:rPr>
              <a:t>Présentation de : organisation OCP Group</a:t>
            </a:r>
            <a:endParaRPr sz="6600" b="1" i="0" u="none" strike="noStrike" cap="none">
              <a:solidFill>
                <a:srgbClr val="004AAD"/>
              </a:solidFill>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4"/>
          <p:cNvSpPr/>
          <p:nvPr/>
        </p:nvSpPr>
        <p:spPr>
          <a:xfrm rot="-8904076">
            <a:off x="12368123" y="1479589"/>
            <a:ext cx="6885296" cy="11055409"/>
          </a:xfrm>
          <a:custGeom>
            <a:avLst/>
            <a:gdLst/>
            <a:ahLst/>
            <a:cxnLst/>
            <a:rect l="l" t="t" r="r" b="b"/>
            <a:pathLst>
              <a:path w="6885296" h="11055409" extrusionOk="0">
                <a:moveTo>
                  <a:pt x="0" y="0"/>
                </a:moveTo>
                <a:lnTo>
                  <a:pt x="6885296" y="0"/>
                </a:lnTo>
                <a:lnTo>
                  <a:pt x="6885296" y="11055409"/>
                </a:lnTo>
                <a:lnTo>
                  <a:pt x="0" y="11055409"/>
                </a:lnTo>
                <a:lnTo>
                  <a:pt x="0" y="0"/>
                </a:lnTo>
                <a:close/>
              </a:path>
            </a:pathLst>
          </a:custGeom>
          <a:blipFill rotWithShape="1">
            <a:blip r:embed="rId3">
              <a:alphaModFix amt="50000"/>
            </a:blip>
            <a:stretch>
              <a:fillRect/>
            </a:stretch>
          </a:blipFill>
          <a:ln>
            <a:noFill/>
          </a:ln>
        </p:spPr>
      </p:sp>
      <p:sp>
        <p:nvSpPr>
          <p:cNvPr id="126" name="Google Shape;126;p4"/>
          <p:cNvSpPr txBox="1"/>
          <p:nvPr/>
        </p:nvSpPr>
        <p:spPr>
          <a:xfrm>
            <a:off x="1295400" y="835385"/>
            <a:ext cx="12302440" cy="999954"/>
          </a:xfrm>
          <a:prstGeom prst="rect">
            <a:avLst/>
          </a:prstGeom>
          <a:noFill/>
          <a:ln>
            <a:noFill/>
          </a:ln>
        </p:spPr>
        <p:txBody>
          <a:bodyPr spcFirstLastPara="1" wrap="square" lIns="0" tIns="0" rIns="0" bIns="0" anchor="t" anchorCtr="0">
            <a:spAutoFit/>
          </a:bodyPr>
          <a:lstStyle/>
          <a:p>
            <a:pPr marL="0" marR="0" lvl="0" indent="0" algn="l" rtl="0">
              <a:lnSpc>
                <a:spcPct val="166666"/>
              </a:lnSpc>
              <a:spcBef>
                <a:spcPts val="0"/>
              </a:spcBef>
              <a:spcAft>
                <a:spcPts val="0"/>
              </a:spcAft>
              <a:buNone/>
            </a:pPr>
            <a:r>
              <a:rPr lang="fr-FR" sz="5400" b="1" i="0" u="none" strike="noStrike" cap="none">
                <a:solidFill>
                  <a:srgbClr val="004AAD"/>
                </a:solidFill>
                <a:latin typeface="Montserrat"/>
                <a:ea typeface="Montserrat"/>
                <a:cs typeface="Montserrat"/>
                <a:sym typeface="Montserrat"/>
              </a:rPr>
              <a:t>Présentation d’OCP Groupe</a:t>
            </a:r>
            <a:endParaRPr sz="5400" b="1" i="0" u="none" strike="noStrike" cap="none">
              <a:solidFill>
                <a:srgbClr val="004AAD"/>
              </a:solidFill>
              <a:latin typeface="Montserrat"/>
              <a:ea typeface="Montserrat"/>
              <a:cs typeface="Montserrat"/>
              <a:sym typeface="Montserrat"/>
            </a:endParaRPr>
          </a:p>
        </p:txBody>
      </p:sp>
      <p:sp>
        <p:nvSpPr>
          <p:cNvPr id="127" name="Google Shape;127;p4"/>
          <p:cNvSpPr txBox="1"/>
          <p:nvPr/>
        </p:nvSpPr>
        <p:spPr>
          <a:xfrm>
            <a:off x="1828800" y="3695700"/>
            <a:ext cx="10282147" cy="3245184"/>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fr-FR" sz="2400" b="0" i="0" u="none" strike="noStrike" cap="none" dirty="0">
                <a:solidFill>
                  <a:srgbClr val="2E2E2E"/>
                </a:solidFill>
                <a:latin typeface="Montserrat"/>
                <a:ea typeface="Montserrat"/>
                <a:cs typeface="Montserrat"/>
                <a:sym typeface="Montserrat"/>
              </a:rPr>
              <a:t>OCP Group est un leader mondial dans le domaine des phosphates et de leurs dérivés, jouant un rôle massive dans la sécurité alimentaire mondiale. Le groupe est reconnu pour son intégration complète, de l'extraction des roches phosphatées à la production d'engrais et d'acide phosphorique.</a:t>
            </a:r>
            <a:endParaRPr dirty="0"/>
          </a:p>
          <a:p>
            <a:pPr marL="0" marR="0" lvl="0" indent="0" algn="l" rtl="0">
              <a:lnSpc>
                <a:spcPct val="150000"/>
              </a:lnSpc>
              <a:spcBef>
                <a:spcPts val="0"/>
              </a:spcBef>
              <a:spcAft>
                <a:spcPts val="0"/>
              </a:spcAft>
              <a:buNone/>
            </a:pPr>
            <a:endParaRPr sz="2400" b="0" i="0" u="none" strike="noStrike" cap="none" dirty="0">
              <a:solidFill>
                <a:srgbClr val="2E2E2E"/>
              </a:solidFill>
              <a:latin typeface="Montserrat"/>
              <a:ea typeface="Montserrat"/>
              <a:cs typeface="Montserrat"/>
              <a:sym typeface="Montserrat"/>
            </a:endParaRPr>
          </a:p>
        </p:txBody>
      </p:sp>
      <p:pic>
        <p:nvPicPr>
          <p:cNvPr id="128" name="Google Shape;128;p4"/>
          <p:cNvPicPr preferRelativeResize="0"/>
          <p:nvPr/>
        </p:nvPicPr>
        <p:blipFill rotWithShape="1">
          <a:blip r:embed="rId4">
            <a:alphaModFix/>
          </a:blip>
          <a:srcRect/>
          <a:stretch/>
        </p:blipFill>
        <p:spPr>
          <a:xfrm>
            <a:off x="13335000" y="2628900"/>
            <a:ext cx="3949306" cy="5029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5"/>
          <p:cNvSpPr/>
          <p:nvPr/>
        </p:nvSpPr>
        <p:spPr>
          <a:xfrm>
            <a:off x="3543300" y="4950491"/>
            <a:ext cx="3429000" cy="1524000"/>
          </a:xfrm>
          <a:prstGeom prst="roundRect">
            <a:avLst>
              <a:gd name="adj" fmla="val 16667"/>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3600" b="1" i="0" u="none" strike="noStrike" cap="none">
                <a:solidFill>
                  <a:schemeClr val="lt1"/>
                </a:solidFill>
                <a:latin typeface="Montserrat"/>
                <a:ea typeface="Montserrat"/>
                <a:cs typeface="Montserrat"/>
                <a:sym typeface="Montserrat"/>
              </a:rPr>
              <a:t>Group OCP</a:t>
            </a:r>
            <a:endParaRPr sz="3600" b="1" i="0" u="none" strike="noStrike" cap="none">
              <a:solidFill>
                <a:schemeClr val="lt1"/>
              </a:solidFill>
              <a:latin typeface="Montserrat"/>
              <a:ea typeface="Montserrat"/>
              <a:cs typeface="Montserrat"/>
              <a:sym typeface="Montserrat"/>
            </a:endParaRPr>
          </a:p>
        </p:txBody>
      </p:sp>
      <p:sp>
        <p:nvSpPr>
          <p:cNvPr id="135" name="Google Shape;135;p5"/>
          <p:cNvSpPr/>
          <p:nvPr/>
        </p:nvSpPr>
        <p:spPr>
          <a:xfrm>
            <a:off x="7924800" y="7343264"/>
            <a:ext cx="4114800" cy="1524000"/>
          </a:xfrm>
          <a:prstGeom prst="roundRect">
            <a:avLst>
              <a:gd name="adj" fmla="val 16667"/>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3600" b="1" i="0" u="none" strike="noStrike" cap="none">
                <a:solidFill>
                  <a:schemeClr val="lt1"/>
                </a:solidFill>
                <a:latin typeface="Montserrat"/>
                <a:ea typeface="Montserrat"/>
                <a:cs typeface="Montserrat"/>
                <a:sym typeface="Montserrat"/>
              </a:rPr>
              <a:t>Ports et Logistique</a:t>
            </a:r>
            <a:endParaRPr/>
          </a:p>
        </p:txBody>
      </p:sp>
      <p:sp>
        <p:nvSpPr>
          <p:cNvPr id="136" name="Google Shape;136;p5"/>
          <p:cNvSpPr/>
          <p:nvPr/>
        </p:nvSpPr>
        <p:spPr>
          <a:xfrm>
            <a:off x="7924800" y="4950491"/>
            <a:ext cx="4114800" cy="1524000"/>
          </a:xfrm>
          <a:prstGeom prst="roundRect">
            <a:avLst>
              <a:gd name="adj" fmla="val 16667"/>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3600" b="1" i="0" u="none" strike="noStrike" cap="none">
                <a:solidFill>
                  <a:schemeClr val="lt1"/>
                </a:solidFill>
                <a:latin typeface="Montserrat"/>
                <a:ea typeface="Montserrat"/>
                <a:cs typeface="Montserrat"/>
                <a:sym typeface="Montserrat"/>
              </a:rPr>
              <a:t>Site Industriel</a:t>
            </a:r>
            <a:endParaRPr sz="3600" b="1" i="0" u="none" strike="noStrike" cap="none">
              <a:solidFill>
                <a:schemeClr val="lt1"/>
              </a:solidFill>
              <a:latin typeface="Montserrat"/>
              <a:ea typeface="Montserrat"/>
              <a:cs typeface="Montserrat"/>
              <a:sym typeface="Montserrat"/>
            </a:endParaRPr>
          </a:p>
        </p:txBody>
      </p:sp>
      <p:sp>
        <p:nvSpPr>
          <p:cNvPr id="137" name="Google Shape;137;p5"/>
          <p:cNvSpPr/>
          <p:nvPr/>
        </p:nvSpPr>
        <p:spPr>
          <a:xfrm>
            <a:off x="7924800" y="2628900"/>
            <a:ext cx="4114800" cy="1524000"/>
          </a:xfrm>
          <a:prstGeom prst="roundRect">
            <a:avLst>
              <a:gd name="adj" fmla="val 16667"/>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3600" b="1" i="0" u="none" strike="noStrike" cap="none">
                <a:solidFill>
                  <a:schemeClr val="lt1"/>
                </a:solidFill>
                <a:latin typeface="Montserrat"/>
                <a:ea typeface="Montserrat"/>
                <a:cs typeface="Montserrat"/>
                <a:sym typeface="Montserrat"/>
              </a:rPr>
              <a:t>Zone Minières </a:t>
            </a:r>
            <a:endParaRPr/>
          </a:p>
        </p:txBody>
      </p:sp>
      <p:sp>
        <p:nvSpPr>
          <p:cNvPr id="138" name="Google Shape;138;p5"/>
          <p:cNvSpPr/>
          <p:nvPr/>
        </p:nvSpPr>
        <p:spPr>
          <a:xfrm>
            <a:off x="5257800" y="2933700"/>
            <a:ext cx="2438400" cy="1828800"/>
          </a:xfrm>
          <a:prstGeom prst="bentArrow">
            <a:avLst>
              <a:gd name="adj1" fmla="val 25000"/>
              <a:gd name="adj2" fmla="val 25000"/>
              <a:gd name="adj3" fmla="val 25000"/>
              <a:gd name="adj4" fmla="val 4375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9" name="Google Shape;139;p5"/>
          <p:cNvSpPr/>
          <p:nvPr/>
        </p:nvSpPr>
        <p:spPr>
          <a:xfrm rot="10800000" flipH="1">
            <a:off x="5257800" y="6733664"/>
            <a:ext cx="2438400" cy="1828800"/>
          </a:xfrm>
          <a:prstGeom prst="bentArrow">
            <a:avLst>
              <a:gd name="adj1" fmla="val 25000"/>
              <a:gd name="adj2" fmla="val 25000"/>
              <a:gd name="adj3" fmla="val 25000"/>
              <a:gd name="adj4" fmla="val 4375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0" name="Google Shape;140;p5"/>
          <p:cNvSpPr/>
          <p:nvPr/>
        </p:nvSpPr>
        <p:spPr>
          <a:xfrm>
            <a:off x="7143750" y="5312441"/>
            <a:ext cx="609600" cy="800100"/>
          </a:xfrm>
          <a:prstGeom prst="right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41" name="Google Shape;141;p5"/>
          <p:cNvSpPr txBox="1"/>
          <p:nvPr/>
        </p:nvSpPr>
        <p:spPr>
          <a:xfrm>
            <a:off x="2992780" y="127058"/>
            <a:ext cx="12302440" cy="999954"/>
          </a:xfrm>
          <a:prstGeom prst="rect">
            <a:avLst/>
          </a:prstGeom>
          <a:noFill/>
          <a:ln>
            <a:noFill/>
          </a:ln>
        </p:spPr>
        <p:txBody>
          <a:bodyPr spcFirstLastPara="1" wrap="square" lIns="0" tIns="0" rIns="0" bIns="0" anchor="t" anchorCtr="0">
            <a:spAutoFit/>
          </a:bodyPr>
          <a:lstStyle/>
          <a:p>
            <a:pPr marL="0" marR="0" lvl="0" indent="0" algn="ctr" rtl="0">
              <a:lnSpc>
                <a:spcPct val="166666"/>
              </a:lnSpc>
              <a:spcBef>
                <a:spcPts val="0"/>
              </a:spcBef>
              <a:spcAft>
                <a:spcPts val="0"/>
              </a:spcAft>
              <a:buNone/>
            </a:pPr>
            <a:r>
              <a:rPr lang="fr-FR" sz="5400" b="1" i="0" u="none" strike="noStrike" cap="none">
                <a:solidFill>
                  <a:srgbClr val="004AAD"/>
                </a:solidFill>
                <a:latin typeface="Montserrat"/>
                <a:ea typeface="Montserrat"/>
                <a:cs typeface="Montserrat"/>
                <a:sym typeface="Montserrat"/>
              </a:rPr>
              <a:t>Présentation d’OCP Groupe</a:t>
            </a:r>
            <a:endParaRPr sz="5400" b="1" i="0" u="none" strike="noStrike" cap="none">
              <a:solidFill>
                <a:srgbClr val="004AAD"/>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6"/>
          <p:cNvSpPr txBox="1"/>
          <p:nvPr/>
        </p:nvSpPr>
        <p:spPr>
          <a:xfrm>
            <a:off x="2362200" y="148064"/>
            <a:ext cx="14097000" cy="999954"/>
          </a:xfrm>
          <a:prstGeom prst="rect">
            <a:avLst/>
          </a:prstGeom>
          <a:noFill/>
          <a:ln>
            <a:noFill/>
          </a:ln>
        </p:spPr>
        <p:txBody>
          <a:bodyPr spcFirstLastPara="1" wrap="square" lIns="0" tIns="0" rIns="0" bIns="0" anchor="t" anchorCtr="0">
            <a:spAutoFit/>
          </a:bodyPr>
          <a:lstStyle/>
          <a:p>
            <a:pPr marL="0" marR="0" lvl="0" indent="0" algn="l" rtl="0">
              <a:lnSpc>
                <a:spcPct val="166666"/>
              </a:lnSpc>
              <a:spcBef>
                <a:spcPts val="0"/>
              </a:spcBef>
              <a:spcAft>
                <a:spcPts val="0"/>
              </a:spcAft>
              <a:buNone/>
            </a:pPr>
            <a:r>
              <a:rPr lang="fr-FR" sz="5400" b="1" i="0" u="none" strike="noStrike" cap="none">
                <a:solidFill>
                  <a:srgbClr val="004AAD"/>
                </a:solidFill>
                <a:latin typeface="Montserrat"/>
                <a:ea typeface="Montserrat"/>
                <a:cs typeface="Montserrat"/>
                <a:sym typeface="Montserrat"/>
              </a:rPr>
              <a:t>Présentation de site Industriel de SAFI</a:t>
            </a:r>
            <a:endParaRPr sz="5400" b="1" i="0" u="none" strike="noStrike" cap="none">
              <a:solidFill>
                <a:srgbClr val="004AAD"/>
              </a:solidFill>
              <a:latin typeface="Montserrat"/>
              <a:ea typeface="Montserrat"/>
              <a:cs typeface="Montserrat"/>
              <a:sym typeface="Montserrat"/>
            </a:endParaRPr>
          </a:p>
        </p:txBody>
      </p:sp>
      <p:sp>
        <p:nvSpPr>
          <p:cNvPr id="148" name="Google Shape;148;p6"/>
          <p:cNvSpPr/>
          <p:nvPr/>
        </p:nvSpPr>
        <p:spPr>
          <a:xfrm>
            <a:off x="152400" y="4950491"/>
            <a:ext cx="3429000" cy="1524000"/>
          </a:xfrm>
          <a:prstGeom prst="roundRect">
            <a:avLst>
              <a:gd name="adj" fmla="val 16667"/>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3600" b="1" i="0" u="none" strike="noStrike" cap="none">
                <a:solidFill>
                  <a:schemeClr val="lt1"/>
                </a:solidFill>
                <a:latin typeface="Montserrat"/>
                <a:ea typeface="Montserrat"/>
                <a:cs typeface="Montserrat"/>
                <a:sym typeface="Montserrat"/>
              </a:rPr>
              <a:t>Group OCP</a:t>
            </a:r>
            <a:endParaRPr sz="3600" b="1" i="0" u="none" strike="noStrike" cap="none">
              <a:solidFill>
                <a:schemeClr val="lt1"/>
              </a:solidFill>
              <a:latin typeface="Montserrat"/>
              <a:ea typeface="Montserrat"/>
              <a:cs typeface="Montserrat"/>
              <a:sym typeface="Montserrat"/>
            </a:endParaRPr>
          </a:p>
        </p:txBody>
      </p:sp>
      <p:sp>
        <p:nvSpPr>
          <p:cNvPr id="149" name="Google Shape;149;p6"/>
          <p:cNvSpPr/>
          <p:nvPr/>
        </p:nvSpPr>
        <p:spPr>
          <a:xfrm>
            <a:off x="4533900" y="7343264"/>
            <a:ext cx="4114800" cy="1524000"/>
          </a:xfrm>
          <a:prstGeom prst="roundRect">
            <a:avLst>
              <a:gd name="adj" fmla="val 16667"/>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3600" b="1" i="0" u="none" strike="noStrike" cap="none">
                <a:solidFill>
                  <a:schemeClr val="lt1"/>
                </a:solidFill>
                <a:latin typeface="Montserrat"/>
                <a:ea typeface="Montserrat"/>
                <a:cs typeface="Montserrat"/>
                <a:sym typeface="Montserrat"/>
              </a:rPr>
              <a:t>Ports et Logistique</a:t>
            </a:r>
            <a:endParaRPr/>
          </a:p>
        </p:txBody>
      </p:sp>
      <p:sp>
        <p:nvSpPr>
          <p:cNvPr id="150" name="Google Shape;150;p6"/>
          <p:cNvSpPr/>
          <p:nvPr/>
        </p:nvSpPr>
        <p:spPr>
          <a:xfrm>
            <a:off x="4533900" y="4950491"/>
            <a:ext cx="4114800" cy="1524000"/>
          </a:xfrm>
          <a:prstGeom prst="roundRect">
            <a:avLst>
              <a:gd name="adj" fmla="val 16667"/>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3600" b="1" i="0" u="none" strike="noStrike" cap="none">
                <a:solidFill>
                  <a:schemeClr val="lt1"/>
                </a:solidFill>
                <a:latin typeface="Montserrat"/>
                <a:ea typeface="Montserrat"/>
                <a:cs typeface="Montserrat"/>
                <a:sym typeface="Montserrat"/>
              </a:rPr>
              <a:t>Site Industriel</a:t>
            </a:r>
            <a:endParaRPr sz="3600" b="1" i="0" u="none" strike="noStrike" cap="none">
              <a:solidFill>
                <a:schemeClr val="lt1"/>
              </a:solidFill>
              <a:latin typeface="Montserrat"/>
              <a:ea typeface="Montserrat"/>
              <a:cs typeface="Montserrat"/>
              <a:sym typeface="Montserrat"/>
            </a:endParaRPr>
          </a:p>
        </p:txBody>
      </p:sp>
      <p:sp>
        <p:nvSpPr>
          <p:cNvPr id="151" name="Google Shape;151;p6"/>
          <p:cNvSpPr/>
          <p:nvPr/>
        </p:nvSpPr>
        <p:spPr>
          <a:xfrm>
            <a:off x="4533900" y="2628900"/>
            <a:ext cx="4114800" cy="1524000"/>
          </a:xfrm>
          <a:prstGeom prst="roundRect">
            <a:avLst>
              <a:gd name="adj" fmla="val 16667"/>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3600" b="1" i="0" u="none" strike="noStrike" cap="none">
                <a:solidFill>
                  <a:schemeClr val="lt1"/>
                </a:solidFill>
                <a:latin typeface="Montserrat"/>
                <a:ea typeface="Montserrat"/>
                <a:cs typeface="Montserrat"/>
                <a:sym typeface="Montserrat"/>
              </a:rPr>
              <a:t>Zone Minières </a:t>
            </a:r>
            <a:endParaRPr/>
          </a:p>
        </p:txBody>
      </p:sp>
      <p:sp>
        <p:nvSpPr>
          <p:cNvPr id="152" name="Google Shape;152;p6"/>
          <p:cNvSpPr/>
          <p:nvPr/>
        </p:nvSpPr>
        <p:spPr>
          <a:xfrm>
            <a:off x="9486900" y="4950491"/>
            <a:ext cx="4114800" cy="1524000"/>
          </a:xfrm>
          <a:prstGeom prst="roundRect">
            <a:avLst>
              <a:gd name="adj" fmla="val 16667"/>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3600" b="1" i="0" u="none" strike="noStrike" cap="none">
                <a:solidFill>
                  <a:schemeClr val="lt1"/>
                </a:solidFill>
                <a:latin typeface="Montserrat"/>
                <a:ea typeface="Montserrat"/>
                <a:cs typeface="Montserrat"/>
                <a:sym typeface="Montserrat"/>
              </a:rPr>
              <a:t>Site Industriel</a:t>
            </a:r>
            <a:endParaRPr sz="3600" b="1" i="0" u="none" strike="noStrike" cap="none">
              <a:solidFill>
                <a:schemeClr val="lt1"/>
              </a:solidFill>
              <a:latin typeface="Montserrat"/>
              <a:ea typeface="Montserrat"/>
              <a:cs typeface="Montserrat"/>
              <a:sym typeface="Montserrat"/>
            </a:endParaRPr>
          </a:p>
          <a:p>
            <a:pPr marL="0" marR="0" lvl="0" indent="0" algn="ctr" rtl="0">
              <a:spcBef>
                <a:spcPts val="0"/>
              </a:spcBef>
              <a:spcAft>
                <a:spcPts val="0"/>
              </a:spcAft>
              <a:buNone/>
            </a:pPr>
            <a:r>
              <a:rPr lang="fr-FR" sz="3600" b="1" i="0" u="none" strike="noStrike" cap="none">
                <a:solidFill>
                  <a:schemeClr val="lt1"/>
                </a:solidFill>
                <a:latin typeface="Montserrat"/>
                <a:ea typeface="Montserrat"/>
                <a:cs typeface="Montserrat"/>
                <a:sym typeface="Montserrat"/>
              </a:rPr>
              <a:t>De SAFI </a:t>
            </a:r>
            <a:endParaRPr sz="3600" b="1" i="0" u="none" strike="noStrike" cap="none">
              <a:solidFill>
                <a:schemeClr val="lt1"/>
              </a:solidFill>
              <a:latin typeface="Montserrat"/>
              <a:ea typeface="Montserrat"/>
              <a:cs typeface="Montserrat"/>
              <a:sym typeface="Montserrat"/>
            </a:endParaRPr>
          </a:p>
        </p:txBody>
      </p:sp>
      <p:sp>
        <p:nvSpPr>
          <p:cNvPr id="153" name="Google Shape;153;p6"/>
          <p:cNvSpPr/>
          <p:nvPr/>
        </p:nvSpPr>
        <p:spPr>
          <a:xfrm>
            <a:off x="14355536" y="7343264"/>
            <a:ext cx="3475264" cy="1524000"/>
          </a:xfrm>
          <a:prstGeom prst="roundRect">
            <a:avLst>
              <a:gd name="adj" fmla="val 16667"/>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3600" b="1" i="0" u="none" strike="noStrike" cap="none">
                <a:solidFill>
                  <a:schemeClr val="lt1"/>
                </a:solidFill>
                <a:latin typeface="Montserrat"/>
                <a:ea typeface="Montserrat"/>
                <a:cs typeface="Montserrat"/>
                <a:sym typeface="Montserrat"/>
              </a:rPr>
              <a:t>Maroc Phosphore II</a:t>
            </a:r>
            <a:endParaRPr sz="3600" b="1" i="0" u="none" strike="noStrike" cap="none">
              <a:solidFill>
                <a:schemeClr val="lt1"/>
              </a:solidFill>
              <a:latin typeface="Montserrat"/>
              <a:ea typeface="Montserrat"/>
              <a:cs typeface="Montserrat"/>
              <a:sym typeface="Montserrat"/>
            </a:endParaRPr>
          </a:p>
        </p:txBody>
      </p:sp>
      <p:sp>
        <p:nvSpPr>
          <p:cNvPr id="154" name="Google Shape;154;p6"/>
          <p:cNvSpPr/>
          <p:nvPr/>
        </p:nvSpPr>
        <p:spPr>
          <a:xfrm>
            <a:off x="14355536" y="2557718"/>
            <a:ext cx="3475264" cy="1524000"/>
          </a:xfrm>
          <a:prstGeom prst="roundRect">
            <a:avLst>
              <a:gd name="adj" fmla="val 16667"/>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3600" b="1" i="0" u="none" strike="noStrike" cap="none">
                <a:solidFill>
                  <a:schemeClr val="lt1"/>
                </a:solidFill>
                <a:latin typeface="Montserrat"/>
                <a:ea typeface="Montserrat"/>
                <a:cs typeface="Montserrat"/>
                <a:sym typeface="Montserrat"/>
              </a:rPr>
              <a:t>Maroc Phosphore I</a:t>
            </a:r>
            <a:endParaRPr sz="3600" b="1" i="0" u="none" strike="noStrike" cap="none">
              <a:solidFill>
                <a:schemeClr val="lt1"/>
              </a:solidFill>
              <a:latin typeface="Montserrat"/>
              <a:ea typeface="Montserrat"/>
              <a:cs typeface="Montserrat"/>
              <a:sym typeface="Montserrat"/>
            </a:endParaRPr>
          </a:p>
        </p:txBody>
      </p:sp>
      <p:sp>
        <p:nvSpPr>
          <p:cNvPr id="155" name="Google Shape;155;p6"/>
          <p:cNvSpPr/>
          <p:nvPr/>
        </p:nvSpPr>
        <p:spPr>
          <a:xfrm>
            <a:off x="14355536" y="4950491"/>
            <a:ext cx="3475264" cy="1524000"/>
          </a:xfrm>
          <a:prstGeom prst="roundRect">
            <a:avLst>
              <a:gd name="adj" fmla="val 16667"/>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3600" b="1" i="0" u="none" strike="noStrike" cap="none">
                <a:solidFill>
                  <a:schemeClr val="lt1"/>
                </a:solidFill>
                <a:latin typeface="Montserrat"/>
                <a:ea typeface="Montserrat"/>
                <a:cs typeface="Montserrat"/>
                <a:sym typeface="Montserrat"/>
              </a:rPr>
              <a:t>Maroc Chimie </a:t>
            </a:r>
            <a:endParaRPr sz="3600" b="1" i="0" u="none" strike="noStrike" cap="none">
              <a:solidFill>
                <a:schemeClr val="lt1"/>
              </a:solidFill>
              <a:latin typeface="Montserrat"/>
              <a:ea typeface="Montserrat"/>
              <a:cs typeface="Montserrat"/>
              <a:sym typeface="Montserrat"/>
            </a:endParaRPr>
          </a:p>
        </p:txBody>
      </p:sp>
      <p:sp>
        <p:nvSpPr>
          <p:cNvPr id="156" name="Google Shape;156;p6"/>
          <p:cNvSpPr/>
          <p:nvPr/>
        </p:nvSpPr>
        <p:spPr>
          <a:xfrm>
            <a:off x="1866900" y="2933700"/>
            <a:ext cx="2438400" cy="1828800"/>
          </a:xfrm>
          <a:prstGeom prst="bentArrow">
            <a:avLst>
              <a:gd name="adj1" fmla="val 25000"/>
              <a:gd name="adj2" fmla="val 25000"/>
              <a:gd name="adj3" fmla="val 25000"/>
              <a:gd name="adj4" fmla="val 4375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7" name="Google Shape;157;p6"/>
          <p:cNvSpPr/>
          <p:nvPr/>
        </p:nvSpPr>
        <p:spPr>
          <a:xfrm rot="10800000" flipH="1">
            <a:off x="1866900" y="6733664"/>
            <a:ext cx="2438400" cy="1828800"/>
          </a:xfrm>
          <a:prstGeom prst="bentArrow">
            <a:avLst>
              <a:gd name="adj1" fmla="val 25000"/>
              <a:gd name="adj2" fmla="val 25000"/>
              <a:gd name="adj3" fmla="val 25000"/>
              <a:gd name="adj4" fmla="val 4375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8" name="Google Shape;158;p6"/>
          <p:cNvSpPr/>
          <p:nvPr/>
        </p:nvSpPr>
        <p:spPr>
          <a:xfrm>
            <a:off x="3752850" y="5312441"/>
            <a:ext cx="609600" cy="800100"/>
          </a:xfrm>
          <a:prstGeom prst="right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59" name="Google Shape;159;p6"/>
          <p:cNvSpPr/>
          <p:nvPr/>
        </p:nvSpPr>
        <p:spPr>
          <a:xfrm>
            <a:off x="8733064" y="5312441"/>
            <a:ext cx="609600" cy="800100"/>
          </a:xfrm>
          <a:prstGeom prst="right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60" name="Google Shape;160;p6"/>
          <p:cNvSpPr/>
          <p:nvPr/>
        </p:nvSpPr>
        <p:spPr>
          <a:xfrm>
            <a:off x="11849100" y="2933700"/>
            <a:ext cx="2438400" cy="1828800"/>
          </a:xfrm>
          <a:prstGeom prst="bentArrow">
            <a:avLst>
              <a:gd name="adj1" fmla="val 25000"/>
              <a:gd name="adj2" fmla="val 25000"/>
              <a:gd name="adj3" fmla="val 25000"/>
              <a:gd name="adj4" fmla="val 4375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1" name="Google Shape;161;p6"/>
          <p:cNvSpPr/>
          <p:nvPr/>
        </p:nvSpPr>
        <p:spPr>
          <a:xfrm rot="10800000" flipH="1">
            <a:off x="11849100" y="6733664"/>
            <a:ext cx="2438400" cy="1828800"/>
          </a:xfrm>
          <a:prstGeom prst="bentArrow">
            <a:avLst>
              <a:gd name="adj1" fmla="val 25000"/>
              <a:gd name="adj2" fmla="val 25000"/>
              <a:gd name="adj3" fmla="val 25000"/>
              <a:gd name="adj4" fmla="val 4375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2" name="Google Shape;162;p6"/>
          <p:cNvSpPr/>
          <p:nvPr/>
        </p:nvSpPr>
        <p:spPr>
          <a:xfrm>
            <a:off x="13745936" y="5312441"/>
            <a:ext cx="609600" cy="800100"/>
          </a:xfrm>
          <a:prstGeom prst="right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7"/>
          <p:cNvSpPr txBox="1"/>
          <p:nvPr/>
        </p:nvSpPr>
        <p:spPr>
          <a:xfrm>
            <a:off x="2362200" y="148064"/>
            <a:ext cx="14097000" cy="999954"/>
          </a:xfrm>
          <a:prstGeom prst="rect">
            <a:avLst/>
          </a:prstGeom>
          <a:noFill/>
          <a:ln>
            <a:noFill/>
          </a:ln>
        </p:spPr>
        <p:txBody>
          <a:bodyPr spcFirstLastPara="1" wrap="square" lIns="0" tIns="0" rIns="0" bIns="0" anchor="t" anchorCtr="0">
            <a:spAutoFit/>
          </a:bodyPr>
          <a:lstStyle/>
          <a:p>
            <a:pPr marL="0" marR="0" lvl="0" indent="0" algn="ctr" rtl="0">
              <a:lnSpc>
                <a:spcPct val="166666"/>
              </a:lnSpc>
              <a:spcBef>
                <a:spcPts val="0"/>
              </a:spcBef>
              <a:spcAft>
                <a:spcPts val="0"/>
              </a:spcAft>
              <a:buNone/>
            </a:pPr>
            <a:r>
              <a:rPr lang="fr-FR" sz="5400" b="1" i="0" u="none" strike="noStrike" cap="none">
                <a:solidFill>
                  <a:srgbClr val="004AAD"/>
                </a:solidFill>
                <a:latin typeface="Montserrat"/>
                <a:ea typeface="Montserrat"/>
                <a:cs typeface="Montserrat"/>
                <a:sym typeface="Montserrat"/>
              </a:rPr>
              <a:t>Présentation de Pole Maroc Chimie</a:t>
            </a:r>
            <a:endParaRPr sz="5400" b="1" i="0" u="none" strike="noStrike" cap="none">
              <a:solidFill>
                <a:srgbClr val="004AAD"/>
              </a:solidFill>
              <a:latin typeface="Montserrat"/>
              <a:ea typeface="Montserrat"/>
              <a:cs typeface="Montserrat"/>
              <a:sym typeface="Montserrat"/>
            </a:endParaRPr>
          </a:p>
        </p:txBody>
      </p:sp>
      <p:sp>
        <p:nvSpPr>
          <p:cNvPr id="169" name="Google Shape;169;p7"/>
          <p:cNvSpPr/>
          <p:nvPr/>
        </p:nvSpPr>
        <p:spPr>
          <a:xfrm>
            <a:off x="-8610600" y="4950491"/>
            <a:ext cx="3429000" cy="1524000"/>
          </a:xfrm>
          <a:prstGeom prst="roundRect">
            <a:avLst>
              <a:gd name="adj" fmla="val 16667"/>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3600" b="1" i="0" u="none" strike="noStrike" cap="none">
                <a:solidFill>
                  <a:schemeClr val="lt1"/>
                </a:solidFill>
                <a:latin typeface="Montserrat"/>
                <a:ea typeface="Montserrat"/>
                <a:cs typeface="Montserrat"/>
                <a:sym typeface="Montserrat"/>
              </a:rPr>
              <a:t>Group OCP</a:t>
            </a:r>
            <a:endParaRPr sz="3600" b="1" i="0" u="none" strike="noStrike" cap="none">
              <a:solidFill>
                <a:schemeClr val="lt1"/>
              </a:solidFill>
              <a:latin typeface="Montserrat"/>
              <a:ea typeface="Montserrat"/>
              <a:cs typeface="Montserrat"/>
              <a:sym typeface="Montserrat"/>
            </a:endParaRPr>
          </a:p>
        </p:txBody>
      </p:sp>
      <p:sp>
        <p:nvSpPr>
          <p:cNvPr id="170" name="Google Shape;170;p7"/>
          <p:cNvSpPr/>
          <p:nvPr/>
        </p:nvSpPr>
        <p:spPr>
          <a:xfrm>
            <a:off x="-4229100" y="7343264"/>
            <a:ext cx="4114800" cy="1524000"/>
          </a:xfrm>
          <a:prstGeom prst="roundRect">
            <a:avLst>
              <a:gd name="adj" fmla="val 16667"/>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3600" b="1" i="0" u="none" strike="noStrike" cap="none">
                <a:solidFill>
                  <a:schemeClr val="lt1"/>
                </a:solidFill>
                <a:latin typeface="Montserrat"/>
                <a:ea typeface="Montserrat"/>
                <a:cs typeface="Montserrat"/>
                <a:sym typeface="Montserrat"/>
              </a:rPr>
              <a:t>Ports et Logistique</a:t>
            </a:r>
            <a:endParaRPr/>
          </a:p>
        </p:txBody>
      </p:sp>
      <p:sp>
        <p:nvSpPr>
          <p:cNvPr id="171" name="Google Shape;171;p7"/>
          <p:cNvSpPr/>
          <p:nvPr/>
        </p:nvSpPr>
        <p:spPr>
          <a:xfrm>
            <a:off x="-4229100" y="4950491"/>
            <a:ext cx="4114800" cy="1524000"/>
          </a:xfrm>
          <a:prstGeom prst="roundRect">
            <a:avLst>
              <a:gd name="adj" fmla="val 16667"/>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3600" b="1" i="0" u="none" strike="noStrike" cap="none">
                <a:solidFill>
                  <a:schemeClr val="lt1"/>
                </a:solidFill>
                <a:latin typeface="Montserrat"/>
                <a:ea typeface="Montserrat"/>
                <a:cs typeface="Montserrat"/>
                <a:sym typeface="Montserrat"/>
              </a:rPr>
              <a:t>Site Industriel</a:t>
            </a:r>
            <a:endParaRPr sz="3600" b="1" i="0" u="none" strike="noStrike" cap="none">
              <a:solidFill>
                <a:schemeClr val="lt1"/>
              </a:solidFill>
              <a:latin typeface="Montserrat"/>
              <a:ea typeface="Montserrat"/>
              <a:cs typeface="Montserrat"/>
              <a:sym typeface="Montserrat"/>
            </a:endParaRPr>
          </a:p>
        </p:txBody>
      </p:sp>
      <p:sp>
        <p:nvSpPr>
          <p:cNvPr id="172" name="Google Shape;172;p7"/>
          <p:cNvSpPr/>
          <p:nvPr/>
        </p:nvSpPr>
        <p:spPr>
          <a:xfrm>
            <a:off x="-4229100" y="2628900"/>
            <a:ext cx="4114800" cy="1524000"/>
          </a:xfrm>
          <a:prstGeom prst="roundRect">
            <a:avLst>
              <a:gd name="adj" fmla="val 16667"/>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3600" b="1" i="0" u="none" strike="noStrike" cap="none">
                <a:solidFill>
                  <a:schemeClr val="lt1"/>
                </a:solidFill>
                <a:latin typeface="Montserrat"/>
                <a:ea typeface="Montserrat"/>
                <a:cs typeface="Montserrat"/>
                <a:sym typeface="Montserrat"/>
              </a:rPr>
              <a:t>Zone Minières </a:t>
            </a:r>
            <a:endParaRPr/>
          </a:p>
        </p:txBody>
      </p:sp>
      <p:sp>
        <p:nvSpPr>
          <p:cNvPr id="173" name="Google Shape;173;p7"/>
          <p:cNvSpPr/>
          <p:nvPr/>
        </p:nvSpPr>
        <p:spPr>
          <a:xfrm>
            <a:off x="723900" y="4950491"/>
            <a:ext cx="4114800" cy="1524000"/>
          </a:xfrm>
          <a:prstGeom prst="roundRect">
            <a:avLst>
              <a:gd name="adj" fmla="val 16667"/>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3600" b="1" i="0" u="none" strike="noStrike" cap="none">
                <a:solidFill>
                  <a:schemeClr val="lt1"/>
                </a:solidFill>
                <a:latin typeface="Montserrat"/>
                <a:ea typeface="Montserrat"/>
                <a:cs typeface="Montserrat"/>
                <a:sym typeface="Montserrat"/>
              </a:rPr>
              <a:t>Site Industriel</a:t>
            </a:r>
            <a:endParaRPr sz="3600" b="1" i="0" u="none" strike="noStrike" cap="none">
              <a:solidFill>
                <a:schemeClr val="lt1"/>
              </a:solidFill>
              <a:latin typeface="Montserrat"/>
              <a:ea typeface="Montserrat"/>
              <a:cs typeface="Montserrat"/>
              <a:sym typeface="Montserrat"/>
            </a:endParaRPr>
          </a:p>
          <a:p>
            <a:pPr marL="0" marR="0" lvl="0" indent="0" algn="ctr" rtl="0">
              <a:spcBef>
                <a:spcPts val="0"/>
              </a:spcBef>
              <a:spcAft>
                <a:spcPts val="0"/>
              </a:spcAft>
              <a:buNone/>
            </a:pPr>
            <a:r>
              <a:rPr lang="fr-FR" sz="3600" b="1" i="0" u="none" strike="noStrike" cap="none">
                <a:solidFill>
                  <a:schemeClr val="lt1"/>
                </a:solidFill>
                <a:latin typeface="Montserrat"/>
                <a:ea typeface="Montserrat"/>
                <a:cs typeface="Montserrat"/>
                <a:sym typeface="Montserrat"/>
              </a:rPr>
              <a:t>De SAFI </a:t>
            </a:r>
            <a:endParaRPr sz="3600" b="1" i="0" u="none" strike="noStrike" cap="none">
              <a:solidFill>
                <a:schemeClr val="lt1"/>
              </a:solidFill>
              <a:latin typeface="Montserrat"/>
              <a:ea typeface="Montserrat"/>
              <a:cs typeface="Montserrat"/>
              <a:sym typeface="Montserrat"/>
            </a:endParaRPr>
          </a:p>
        </p:txBody>
      </p:sp>
      <p:sp>
        <p:nvSpPr>
          <p:cNvPr id="174" name="Google Shape;174;p7"/>
          <p:cNvSpPr/>
          <p:nvPr/>
        </p:nvSpPr>
        <p:spPr>
          <a:xfrm>
            <a:off x="5592536" y="11544300"/>
            <a:ext cx="3475264" cy="1524000"/>
          </a:xfrm>
          <a:prstGeom prst="roundRect">
            <a:avLst>
              <a:gd name="adj" fmla="val 16667"/>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3600" b="1" i="0" u="none" strike="noStrike" cap="none">
                <a:solidFill>
                  <a:schemeClr val="lt1"/>
                </a:solidFill>
                <a:latin typeface="Montserrat"/>
                <a:ea typeface="Montserrat"/>
                <a:cs typeface="Montserrat"/>
                <a:sym typeface="Montserrat"/>
              </a:rPr>
              <a:t>Maroc Phosphore II</a:t>
            </a:r>
            <a:endParaRPr sz="3600" b="1" i="0" u="none" strike="noStrike" cap="none">
              <a:solidFill>
                <a:schemeClr val="lt1"/>
              </a:solidFill>
              <a:latin typeface="Montserrat"/>
              <a:ea typeface="Montserrat"/>
              <a:cs typeface="Montserrat"/>
              <a:sym typeface="Montserrat"/>
            </a:endParaRPr>
          </a:p>
        </p:txBody>
      </p:sp>
      <p:sp>
        <p:nvSpPr>
          <p:cNvPr id="175" name="Google Shape;175;p7"/>
          <p:cNvSpPr/>
          <p:nvPr/>
        </p:nvSpPr>
        <p:spPr>
          <a:xfrm>
            <a:off x="5592536" y="-2705100"/>
            <a:ext cx="3475264" cy="1524000"/>
          </a:xfrm>
          <a:prstGeom prst="roundRect">
            <a:avLst>
              <a:gd name="adj" fmla="val 16667"/>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3600" b="1" i="0" u="none" strike="noStrike" cap="none">
                <a:solidFill>
                  <a:schemeClr val="lt1"/>
                </a:solidFill>
                <a:latin typeface="Montserrat"/>
                <a:ea typeface="Montserrat"/>
                <a:cs typeface="Montserrat"/>
                <a:sym typeface="Montserrat"/>
              </a:rPr>
              <a:t>Maroc Phosphore I</a:t>
            </a:r>
            <a:endParaRPr sz="3600" b="1" i="0" u="none" strike="noStrike" cap="none">
              <a:solidFill>
                <a:schemeClr val="lt1"/>
              </a:solidFill>
              <a:latin typeface="Montserrat"/>
              <a:ea typeface="Montserrat"/>
              <a:cs typeface="Montserrat"/>
              <a:sym typeface="Montserrat"/>
            </a:endParaRPr>
          </a:p>
        </p:txBody>
      </p:sp>
      <p:sp>
        <p:nvSpPr>
          <p:cNvPr id="176" name="Google Shape;176;p7"/>
          <p:cNvSpPr/>
          <p:nvPr/>
        </p:nvSpPr>
        <p:spPr>
          <a:xfrm>
            <a:off x="5592536" y="4950491"/>
            <a:ext cx="3475264" cy="1524000"/>
          </a:xfrm>
          <a:prstGeom prst="roundRect">
            <a:avLst>
              <a:gd name="adj" fmla="val 16667"/>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3600" b="1" i="0" u="none" strike="noStrike" cap="none">
                <a:solidFill>
                  <a:schemeClr val="lt1"/>
                </a:solidFill>
                <a:latin typeface="Montserrat"/>
                <a:ea typeface="Montserrat"/>
                <a:cs typeface="Montserrat"/>
                <a:sym typeface="Montserrat"/>
              </a:rPr>
              <a:t>Maroc Chimie </a:t>
            </a:r>
            <a:endParaRPr sz="3600" b="1" i="0" u="none" strike="noStrike" cap="none">
              <a:solidFill>
                <a:schemeClr val="lt1"/>
              </a:solidFill>
              <a:latin typeface="Montserrat"/>
              <a:ea typeface="Montserrat"/>
              <a:cs typeface="Montserrat"/>
              <a:sym typeface="Montserrat"/>
            </a:endParaRPr>
          </a:p>
        </p:txBody>
      </p:sp>
      <p:sp>
        <p:nvSpPr>
          <p:cNvPr id="177" name="Google Shape;177;p7"/>
          <p:cNvSpPr/>
          <p:nvPr/>
        </p:nvSpPr>
        <p:spPr>
          <a:xfrm>
            <a:off x="-6896100" y="2933700"/>
            <a:ext cx="2438400" cy="1828800"/>
          </a:xfrm>
          <a:prstGeom prst="bentArrow">
            <a:avLst>
              <a:gd name="adj1" fmla="val 25000"/>
              <a:gd name="adj2" fmla="val 25000"/>
              <a:gd name="adj3" fmla="val 25000"/>
              <a:gd name="adj4" fmla="val 4375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8" name="Google Shape;178;p7"/>
          <p:cNvSpPr/>
          <p:nvPr/>
        </p:nvSpPr>
        <p:spPr>
          <a:xfrm rot="10800000" flipH="1">
            <a:off x="-6896100" y="6733664"/>
            <a:ext cx="2438400" cy="1828800"/>
          </a:xfrm>
          <a:prstGeom prst="bentArrow">
            <a:avLst>
              <a:gd name="adj1" fmla="val 25000"/>
              <a:gd name="adj2" fmla="val 25000"/>
              <a:gd name="adj3" fmla="val 25000"/>
              <a:gd name="adj4" fmla="val 4375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9" name="Google Shape;179;p7"/>
          <p:cNvSpPr/>
          <p:nvPr/>
        </p:nvSpPr>
        <p:spPr>
          <a:xfrm>
            <a:off x="-5010150" y="5312441"/>
            <a:ext cx="609600" cy="800100"/>
          </a:xfrm>
          <a:prstGeom prst="right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0" name="Google Shape;180;p7"/>
          <p:cNvSpPr/>
          <p:nvPr/>
        </p:nvSpPr>
        <p:spPr>
          <a:xfrm>
            <a:off x="-29936" y="5312441"/>
            <a:ext cx="609600" cy="800100"/>
          </a:xfrm>
          <a:prstGeom prst="right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1" name="Google Shape;181;p7"/>
          <p:cNvSpPr/>
          <p:nvPr/>
        </p:nvSpPr>
        <p:spPr>
          <a:xfrm>
            <a:off x="3086100" y="-2329118"/>
            <a:ext cx="2438400" cy="1828800"/>
          </a:xfrm>
          <a:prstGeom prst="bentArrow">
            <a:avLst>
              <a:gd name="adj1" fmla="val 25000"/>
              <a:gd name="adj2" fmla="val 25000"/>
              <a:gd name="adj3" fmla="val 25000"/>
              <a:gd name="adj4" fmla="val 4375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2" name="Google Shape;182;p7"/>
          <p:cNvSpPr/>
          <p:nvPr/>
        </p:nvSpPr>
        <p:spPr>
          <a:xfrm rot="10800000" flipH="1">
            <a:off x="3086100" y="10934700"/>
            <a:ext cx="2438400" cy="1828800"/>
          </a:xfrm>
          <a:prstGeom prst="bentArrow">
            <a:avLst>
              <a:gd name="adj1" fmla="val 25000"/>
              <a:gd name="adj2" fmla="val 25000"/>
              <a:gd name="adj3" fmla="val 25000"/>
              <a:gd name="adj4" fmla="val 4375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3" name="Google Shape;183;p7"/>
          <p:cNvSpPr/>
          <p:nvPr/>
        </p:nvSpPr>
        <p:spPr>
          <a:xfrm>
            <a:off x="4982936" y="5312441"/>
            <a:ext cx="609600" cy="800100"/>
          </a:xfrm>
          <a:prstGeom prst="right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4" name="Google Shape;184;p7"/>
          <p:cNvSpPr/>
          <p:nvPr/>
        </p:nvSpPr>
        <p:spPr>
          <a:xfrm>
            <a:off x="7339298" y="2932471"/>
            <a:ext cx="2438400" cy="1828800"/>
          </a:xfrm>
          <a:prstGeom prst="bentArrow">
            <a:avLst>
              <a:gd name="adj1" fmla="val 25000"/>
              <a:gd name="adj2" fmla="val 25000"/>
              <a:gd name="adj3" fmla="val 25000"/>
              <a:gd name="adj4" fmla="val 4375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5" name="Google Shape;185;p7"/>
          <p:cNvSpPr/>
          <p:nvPr/>
        </p:nvSpPr>
        <p:spPr>
          <a:xfrm rot="10800000" flipH="1">
            <a:off x="7339298" y="6732435"/>
            <a:ext cx="2438400" cy="1828800"/>
          </a:xfrm>
          <a:prstGeom prst="bentArrow">
            <a:avLst>
              <a:gd name="adj1" fmla="val 25000"/>
              <a:gd name="adj2" fmla="val 25000"/>
              <a:gd name="adj3" fmla="val 25000"/>
              <a:gd name="adj4" fmla="val 4375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6" name="Google Shape;186;p7"/>
          <p:cNvSpPr/>
          <p:nvPr/>
        </p:nvSpPr>
        <p:spPr>
          <a:xfrm>
            <a:off x="9225248" y="5311212"/>
            <a:ext cx="609600" cy="800100"/>
          </a:xfrm>
          <a:prstGeom prst="right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7" name="Google Shape;187;p7"/>
          <p:cNvSpPr/>
          <p:nvPr/>
        </p:nvSpPr>
        <p:spPr>
          <a:xfrm>
            <a:off x="9992296" y="7414446"/>
            <a:ext cx="3475264" cy="1524000"/>
          </a:xfrm>
          <a:prstGeom prst="roundRect">
            <a:avLst>
              <a:gd name="adj" fmla="val 16667"/>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3600" b="1" i="0" u="none" strike="noStrike" cap="none">
                <a:solidFill>
                  <a:schemeClr val="lt1"/>
                </a:solidFill>
                <a:latin typeface="Montserrat"/>
                <a:ea typeface="Montserrat"/>
                <a:cs typeface="Montserrat"/>
                <a:sym typeface="Montserrat"/>
              </a:rPr>
              <a:t>Atelier TSP</a:t>
            </a:r>
            <a:endParaRPr sz="3600" b="1" i="0" u="none" strike="noStrike" cap="none">
              <a:solidFill>
                <a:schemeClr val="lt1"/>
              </a:solidFill>
              <a:latin typeface="Montserrat"/>
              <a:ea typeface="Montserrat"/>
              <a:cs typeface="Montserrat"/>
              <a:sym typeface="Montserrat"/>
            </a:endParaRPr>
          </a:p>
        </p:txBody>
      </p:sp>
      <p:sp>
        <p:nvSpPr>
          <p:cNvPr id="188" name="Google Shape;188;p7"/>
          <p:cNvSpPr/>
          <p:nvPr/>
        </p:nvSpPr>
        <p:spPr>
          <a:xfrm>
            <a:off x="9992296" y="2628900"/>
            <a:ext cx="3475264" cy="1524000"/>
          </a:xfrm>
          <a:prstGeom prst="roundRect">
            <a:avLst>
              <a:gd name="adj" fmla="val 16667"/>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3600" b="1" i="0" u="none" strike="noStrike" cap="none">
                <a:solidFill>
                  <a:schemeClr val="lt1"/>
                </a:solidFill>
                <a:latin typeface="Montserrat"/>
                <a:ea typeface="Montserrat"/>
                <a:cs typeface="Montserrat"/>
                <a:sym typeface="Montserrat"/>
              </a:rPr>
              <a:t>Atelier DCP</a:t>
            </a:r>
            <a:endParaRPr sz="3600" b="1" i="0" u="none" strike="noStrike" cap="none">
              <a:solidFill>
                <a:schemeClr val="lt1"/>
              </a:solidFill>
              <a:latin typeface="Montserrat"/>
              <a:ea typeface="Montserrat"/>
              <a:cs typeface="Montserrat"/>
              <a:sym typeface="Montserrat"/>
            </a:endParaRPr>
          </a:p>
        </p:txBody>
      </p:sp>
      <p:sp>
        <p:nvSpPr>
          <p:cNvPr id="189" name="Google Shape;189;p7"/>
          <p:cNvSpPr/>
          <p:nvPr/>
        </p:nvSpPr>
        <p:spPr>
          <a:xfrm>
            <a:off x="9992296" y="5021673"/>
            <a:ext cx="3475264" cy="1524000"/>
          </a:xfrm>
          <a:prstGeom prst="roundRect">
            <a:avLst>
              <a:gd name="adj" fmla="val 16667"/>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3600" b="1" i="0" u="none" strike="noStrike" cap="none">
                <a:solidFill>
                  <a:schemeClr val="lt1"/>
                </a:solidFill>
                <a:latin typeface="Montserrat"/>
                <a:ea typeface="Montserrat"/>
                <a:cs typeface="Montserrat"/>
                <a:sym typeface="Montserrat"/>
              </a:rPr>
              <a:t>Atelier MCP</a:t>
            </a:r>
            <a:endParaRPr sz="3600" b="1" i="0" u="none" strike="noStrike" cap="none">
              <a:solidFill>
                <a:schemeClr val="lt1"/>
              </a:solidFill>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8"/>
          <p:cNvSpPr txBox="1"/>
          <p:nvPr/>
        </p:nvSpPr>
        <p:spPr>
          <a:xfrm>
            <a:off x="1752600" y="185739"/>
            <a:ext cx="14097000" cy="999954"/>
          </a:xfrm>
          <a:prstGeom prst="rect">
            <a:avLst/>
          </a:prstGeom>
          <a:noFill/>
          <a:ln>
            <a:noFill/>
          </a:ln>
        </p:spPr>
        <p:txBody>
          <a:bodyPr spcFirstLastPara="1" wrap="square" lIns="0" tIns="0" rIns="0" bIns="0" anchor="t" anchorCtr="0">
            <a:spAutoFit/>
          </a:bodyPr>
          <a:lstStyle/>
          <a:p>
            <a:pPr marL="0" marR="0" lvl="0" indent="0" algn="ctr" rtl="0">
              <a:lnSpc>
                <a:spcPct val="166666"/>
              </a:lnSpc>
              <a:spcBef>
                <a:spcPts val="0"/>
              </a:spcBef>
              <a:spcAft>
                <a:spcPts val="0"/>
              </a:spcAft>
              <a:buNone/>
            </a:pPr>
            <a:r>
              <a:rPr lang="fr-FR" sz="5400" b="1" i="0" u="none" strike="noStrike" cap="none">
                <a:solidFill>
                  <a:srgbClr val="004AAD"/>
                </a:solidFill>
                <a:latin typeface="Montserrat"/>
                <a:ea typeface="Montserrat"/>
                <a:cs typeface="Montserrat"/>
                <a:sym typeface="Montserrat"/>
              </a:rPr>
              <a:t>Présentation de l’Atelier de l’MCP</a:t>
            </a:r>
            <a:endParaRPr sz="5400" b="1" i="0" u="none" strike="noStrike" cap="none">
              <a:solidFill>
                <a:srgbClr val="004AAD"/>
              </a:solidFill>
              <a:latin typeface="Montserrat"/>
              <a:ea typeface="Montserrat"/>
              <a:cs typeface="Montserrat"/>
              <a:sym typeface="Montserrat"/>
            </a:endParaRPr>
          </a:p>
        </p:txBody>
      </p:sp>
      <p:sp>
        <p:nvSpPr>
          <p:cNvPr id="196" name="Google Shape;196;p8"/>
          <p:cNvSpPr/>
          <p:nvPr/>
        </p:nvSpPr>
        <p:spPr>
          <a:xfrm>
            <a:off x="-4285460" y="4950491"/>
            <a:ext cx="4114800" cy="1524000"/>
          </a:xfrm>
          <a:prstGeom prst="roundRect">
            <a:avLst>
              <a:gd name="adj" fmla="val 16667"/>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3600" b="1" i="0" u="none" strike="noStrike" cap="none">
                <a:solidFill>
                  <a:schemeClr val="lt1"/>
                </a:solidFill>
                <a:latin typeface="Montserrat"/>
                <a:ea typeface="Montserrat"/>
                <a:cs typeface="Montserrat"/>
                <a:sym typeface="Montserrat"/>
              </a:rPr>
              <a:t>Site Industriel</a:t>
            </a:r>
            <a:endParaRPr sz="3600" b="1" i="0" u="none" strike="noStrike" cap="none">
              <a:solidFill>
                <a:schemeClr val="lt1"/>
              </a:solidFill>
              <a:latin typeface="Montserrat"/>
              <a:ea typeface="Montserrat"/>
              <a:cs typeface="Montserrat"/>
              <a:sym typeface="Montserrat"/>
            </a:endParaRPr>
          </a:p>
          <a:p>
            <a:pPr marL="0" marR="0" lvl="0" indent="0" algn="ctr" rtl="0">
              <a:spcBef>
                <a:spcPts val="0"/>
              </a:spcBef>
              <a:spcAft>
                <a:spcPts val="0"/>
              </a:spcAft>
              <a:buNone/>
            </a:pPr>
            <a:r>
              <a:rPr lang="fr-FR" sz="3600" b="1" i="0" u="none" strike="noStrike" cap="none">
                <a:solidFill>
                  <a:schemeClr val="lt1"/>
                </a:solidFill>
                <a:latin typeface="Montserrat"/>
                <a:ea typeface="Montserrat"/>
                <a:cs typeface="Montserrat"/>
                <a:sym typeface="Montserrat"/>
              </a:rPr>
              <a:t>De SAFI </a:t>
            </a:r>
            <a:endParaRPr sz="3600" b="1" i="0" u="none" strike="noStrike" cap="none">
              <a:solidFill>
                <a:schemeClr val="lt1"/>
              </a:solidFill>
              <a:latin typeface="Montserrat"/>
              <a:ea typeface="Montserrat"/>
              <a:cs typeface="Montserrat"/>
              <a:sym typeface="Montserrat"/>
            </a:endParaRPr>
          </a:p>
        </p:txBody>
      </p:sp>
      <p:sp>
        <p:nvSpPr>
          <p:cNvPr id="197" name="Google Shape;197;p8"/>
          <p:cNvSpPr/>
          <p:nvPr/>
        </p:nvSpPr>
        <p:spPr>
          <a:xfrm>
            <a:off x="583176" y="4950491"/>
            <a:ext cx="3475264" cy="1524000"/>
          </a:xfrm>
          <a:prstGeom prst="roundRect">
            <a:avLst>
              <a:gd name="adj" fmla="val 16667"/>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3600" b="1" i="0" u="none" strike="noStrike" cap="none">
                <a:solidFill>
                  <a:schemeClr val="lt1"/>
                </a:solidFill>
                <a:latin typeface="Montserrat"/>
                <a:ea typeface="Montserrat"/>
                <a:cs typeface="Montserrat"/>
                <a:sym typeface="Montserrat"/>
              </a:rPr>
              <a:t>Maroc Chimie </a:t>
            </a:r>
            <a:endParaRPr sz="3600" b="1" i="0" u="none" strike="noStrike" cap="none">
              <a:solidFill>
                <a:schemeClr val="lt1"/>
              </a:solidFill>
              <a:latin typeface="Montserrat"/>
              <a:ea typeface="Montserrat"/>
              <a:cs typeface="Montserrat"/>
              <a:sym typeface="Montserrat"/>
            </a:endParaRPr>
          </a:p>
        </p:txBody>
      </p:sp>
      <p:sp>
        <p:nvSpPr>
          <p:cNvPr id="198" name="Google Shape;198;p8"/>
          <p:cNvSpPr/>
          <p:nvPr/>
        </p:nvSpPr>
        <p:spPr>
          <a:xfrm>
            <a:off x="-5039296" y="5312441"/>
            <a:ext cx="609600" cy="800100"/>
          </a:xfrm>
          <a:prstGeom prst="right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99" name="Google Shape;199;p8"/>
          <p:cNvSpPr/>
          <p:nvPr/>
        </p:nvSpPr>
        <p:spPr>
          <a:xfrm>
            <a:off x="-26424" y="5312441"/>
            <a:ext cx="609600" cy="800100"/>
          </a:xfrm>
          <a:prstGeom prst="right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00" name="Google Shape;200;p8"/>
          <p:cNvSpPr/>
          <p:nvPr/>
        </p:nvSpPr>
        <p:spPr>
          <a:xfrm>
            <a:off x="6705600" y="3019936"/>
            <a:ext cx="2438400" cy="1828800"/>
          </a:xfrm>
          <a:prstGeom prst="bentArrow">
            <a:avLst>
              <a:gd name="adj1" fmla="val 25000"/>
              <a:gd name="adj2" fmla="val 25000"/>
              <a:gd name="adj3" fmla="val 25000"/>
              <a:gd name="adj4" fmla="val 4375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1" name="Google Shape;201;p8"/>
          <p:cNvSpPr/>
          <p:nvPr/>
        </p:nvSpPr>
        <p:spPr>
          <a:xfrm rot="10800000" flipH="1">
            <a:off x="6705600" y="6819900"/>
            <a:ext cx="2438400" cy="1828800"/>
          </a:xfrm>
          <a:prstGeom prst="bentArrow">
            <a:avLst>
              <a:gd name="adj1" fmla="val 25000"/>
              <a:gd name="adj2" fmla="val 25000"/>
              <a:gd name="adj3" fmla="val 25000"/>
              <a:gd name="adj4" fmla="val 4375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2" name="Google Shape;202;p8"/>
          <p:cNvSpPr/>
          <p:nvPr/>
        </p:nvSpPr>
        <p:spPr>
          <a:xfrm>
            <a:off x="4215888" y="5311212"/>
            <a:ext cx="609600" cy="800100"/>
          </a:xfrm>
          <a:prstGeom prst="right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03" name="Google Shape;203;p8"/>
          <p:cNvSpPr/>
          <p:nvPr/>
        </p:nvSpPr>
        <p:spPr>
          <a:xfrm>
            <a:off x="9410700" y="2430770"/>
            <a:ext cx="3475264" cy="1828799"/>
          </a:xfrm>
          <a:prstGeom prst="roundRect">
            <a:avLst>
              <a:gd name="adj" fmla="val 16667"/>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3600" b="1" i="0" u="none" strike="noStrike" cap="none">
                <a:solidFill>
                  <a:schemeClr val="lt1"/>
                </a:solidFill>
                <a:latin typeface="Montserrat"/>
                <a:ea typeface="Montserrat"/>
                <a:cs typeface="Montserrat"/>
                <a:sym typeface="Montserrat"/>
              </a:rPr>
              <a:t>Hall de stockage de MCP</a:t>
            </a:r>
            <a:endParaRPr sz="3600" b="1" i="0" u="none" strike="noStrike" cap="none">
              <a:solidFill>
                <a:schemeClr val="lt1"/>
              </a:solidFill>
              <a:latin typeface="Montserrat"/>
              <a:ea typeface="Montserrat"/>
              <a:cs typeface="Montserrat"/>
              <a:sym typeface="Montserrat"/>
            </a:endParaRPr>
          </a:p>
        </p:txBody>
      </p:sp>
      <p:sp>
        <p:nvSpPr>
          <p:cNvPr id="204" name="Google Shape;204;p8"/>
          <p:cNvSpPr/>
          <p:nvPr/>
        </p:nvSpPr>
        <p:spPr>
          <a:xfrm>
            <a:off x="9372600" y="7267064"/>
            <a:ext cx="3475264" cy="1828800"/>
          </a:xfrm>
          <a:prstGeom prst="roundRect">
            <a:avLst>
              <a:gd name="adj" fmla="val 16667"/>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3600" b="1" i="0" u="none" strike="noStrike" cap="none">
                <a:solidFill>
                  <a:schemeClr val="lt1"/>
                </a:solidFill>
                <a:latin typeface="Montserrat"/>
                <a:ea typeface="Montserrat"/>
                <a:cs typeface="Montserrat"/>
                <a:sym typeface="Montserrat"/>
              </a:rPr>
              <a:t>Atelier de Production de MCP</a:t>
            </a:r>
            <a:endParaRPr sz="3600" b="1" i="0" u="none" strike="noStrike" cap="none">
              <a:solidFill>
                <a:schemeClr val="lt1"/>
              </a:solidFill>
              <a:latin typeface="Montserrat"/>
              <a:ea typeface="Montserrat"/>
              <a:cs typeface="Montserrat"/>
              <a:sym typeface="Montserrat"/>
            </a:endParaRPr>
          </a:p>
        </p:txBody>
      </p:sp>
      <p:sp>
        <p:nvSpPr>
          <p:cNvPr id="205" name="Google Shape;205;p8"/>
          <p:cNvSpPr/>
          <p:nvPr/>
        </p:nvSpPr>
        <p:spPr>
          <a:xfrm>
            <a:off x="4982936" y="5021673"/>
            <a:ext cx="3475264" cy="1524000"/>
          </a:xfrm>
          <a:prstGeom prst="roundRect">
            <a:avLst>
              <a:gd name="adj" fmla="val 16667"/>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3600" b="1" i="0" u="none" strike="noStrike" cap="none">
                <a:solidFill>
                  <a:schemeClr val="lt1"/>
                </a:solidFill>
                <a:latin typeface="Montserrat"/>
                <a:ea typeface="Montserrat"/>
                <a:cs typeface="Montserrat"/>
                <a:sym typeface="Montserrat"/>
              </a:rPr>
              <a:t>Atelier MCP</a:t>
            </a:r>
            <a:endParaRPr sz="3600" b="1" i="0" u="none" strike="noStrike" cap="none">
              <a:solidFill>
                <a:schemeClr val="lt1"/>
              </a:solidFill>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9"/>
          <p:cNvSpPr txBox="1"/>
          <p:nvPr/>
        </p:nvSpPr>
        <p:spPr>
          <a:xfrm>
            <a:off x="2364922" y="277604"/>
            <a:ext cx="14097000" cy="999954"/>
          </a:xfrm>
          <a:prstGeom prst="rect">
            <a:avLst/>
          </a:prstGeom>
          <a:noFill/>
          <a:ln>
            <a:noFill/>
          </a:ln>
        </p:spPr>
        <p:txBody>
          <a:bodyPr spcFirstLastPara="1" wrap="square" lIns="0" tIns="0" rIns="0" bIns="0" anchor="t" anchorCtr="0">
            <a:spAutoFit/>
          </a:bodyPr>
          <a:lstStyle/>
          <a:p>
            <a:pPr marL="0" marR="0" lvl="0" indent="0" algn="ctr" rtl="0">
              <a:lnSpc>
                <a:spcPct val="166666"/>
              </a:lnSpc>
              <a:spcBef>
                <a:spcPts val="0"/>
              </a:spcBef>
              <a:spcAft>
                <a:spcPts val="0"/>
              </a:spcAft>
              <a:buNone/>
            </a:pPr>
            <a:r>
              <a:rPr lang="fr-FR" sz="5400" b="1" i="0" u="none" strike="noStrike" cap="none">
                <a:solidFill>
                  <a:srgbClr val="004AAD"/>
                </a:solidFill>
                <a:latin typeface="Montserrat"/>
                <a:ea typeface="Montserrat"/>
                <a:cs typeface="Montserrat"/>
                <a:sym typeface="Montserrat"/>
              </a:rPr>
              <a:t>Présentation de Hall de Stockage </a:t>
            </a:r>
            <a:endParaRPr sz="5400" b="1" i="0" u="none" strike="noStrike" cap="none">
              <a:solidFill>
                <a:srgbClr val="004AAD"/>
              </a:solidFill>
              <a:latin typeface="Montserrat"/>
              <a:ea typeface="Montserrat"/>
              <a:cs typeface="Montserrat"/>
              <a:sym typeface="Montserrat"/>
            </a:endParaRPr>
          </a:p>
        </p:txBody>
      </p:sp>
      <p:sp>
        <p:nvSpPr>
          <p:cNvPr id="212" name="Google Shape;212;p9"/>
          <p:cNvSpPr/>
          <p:nvPr/>
        </p:nvSpPr>
        <p:spPr>
          <a:xfrm>
            <a:off x="-3768388" y="7392185"/>
            <a:ext cx="3475264" cy="1524000"/>
          </a:xfrm>
          <a:prstGeom prst="roundRect">
            <a:avLst>
              <a:gd name="adj" fmla="val 16667"/>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3600" b="1" i="0" u="none" strike="noStrike" cap="none">
                <a:solidFill>
                  <a:schemeClr val="lt1"/>
                </a:solidFill>
                <a:latin typeface="Montserrat"/>
                <a:ea typeface="Montserrat"/>
                <a:cs typeface="Montserrat"/>
                <a:sym typeface="Montserrat"/>
              </a:rPr>
              <a:t>Maroc Chimie </a:t>
            </a:r>
            <a:endParaRPr sz="3600" b="1" i="0" u="none" strike="noStrike" cap="none">
              <a:solidFill>
                <a:schemeClr val="lt1"/>
              </a:solidFill>
              <a:latin typeface="Montserrat"/>
              <a:ea typeface="Montserrat"/>
              <a:cs typeface="Montserrat"/>
              <a:sym typeface="Montserrat"/>
            </a:endParaRPr>
          </a:p>
        </p:txBody>
      </p:sp>
      <p:sp>
        <p:nvSpPr>
          <p:cNvPr id="213" name="Google Shape;213;p9"/>
          <p:cNvSpPr/>
          <p:nvPr/>
        </p:nvSpPr>
        <p:spPr>
          <a:xfrm>
            <a:off x="-4377988" y="7754135"/>
            <a:ext cx="609600" cy="800100"/>
          </a:xfrm>
          <a:prstGeom prst="right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14" name="Google Shape;214;p9"/>
          <p:cNvSpPr/>
          <p:nvPr/>
        </p:nvSpPr>
        <p:spPr>
          <a:xfrm>
            <a:off x="2354036" y="5461630"/>
            <a:ext cx="2438400" cy="1828800"/>
          </a:xfrm>
          <a:prstGeom prst="bentArrow">
            <a:avLst>
              <a:gd name="adj1" fmla="val 25000"/>
              <a:gd name="adj2" fmla="val 25000"/>
              <a:gd name="adj3" fmla="val 25000"/>
              <a:gd name="adj4" fmla="val 4375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5" name="Google Shape;215;p9"/>
          <p:cNvSpPr/>
          <p:nvPr/>
        </p:nvSpPr>
        <p:spPr>
          <a:xfrm rot="10800000" flipH="1">
            <a:off x="2354036" y="9261594"/>
            <a:ext cx="2438400" cy="5135870"/>
          </a:xfrm>
          <a:prstGeom prst="bentArrow">
            <a:avLst>
              <a:gd name="adj1" fmla="val 25000"/>
              <a:gd name="adj2" fmla="val 25000"/>
              <a:gd name="adj3" fmla="val 25000"/>
              <a:gd name="adj4" fmla="val 4375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6" name="Google Shape;216;p9"/>
          <p:cNvSpPr/>
          <p:nvPr/>
        </p:nvSpPr>
        <p:spPr>
          <a:xfrm>
            <a:off x="-135676" y="7752906"/>
            <a:ext cx="609600" cy="800100"/>
          </a:xfrm>
          <a:prstGeom prst="right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17" name="Google Shape;217;p9"/>
          <p:cNvSpPr/>
          <p:nvPr/>
        </p:nvSpPr>
        <p:spPr>
          <a:xfrm>
            <a:off x="5059136" y="4872464"/>
            <a:ext cx="3475264" cy="1828799"/>
          </a:xfrm>
          <a:prstGeom prst="roundRect">
            <a:avLst>
              <a:gd name="adj" fmla="val 16667"/>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3600" b="1" i="0" u="none" strike="noStrike" cap="none">
                <a:solidFill>
                  <a:schemeClr val="lt1"/>
                </a:solidFill>
                <a:latin typeface="Montserrat"/>
                <a:ea typeface="Montserrat"/>
                <a:cs typeface="Montserrat"/>
                <a:sym typeface="Montserrat"/>
              </a:rPr>
              <a:t>Hall de stockage de MCP</a:t>
            </a:r>
            <a:endParaRPr sz="3600" b="1" i="0" u="none" strike="noStrike" cap="none">
              <a:solidFill>
                <a:schemeClr val="lt1"/>
              </a:solidFill>
              <a:latin typeface="Montserrat"/>
              <a:ea typeface="Montserrat"/>
              <a:cs typeface="Montserrat"/>
              <a:sym typeface="Montserrat"/>
            </a:endParaRPr>
          </a:p>
        </p:txBody>
      </p:sp>
      <p:sp>
        <p:nvSpPr>
          <p:cNvPr id="218" name="Google Shape;218;p9"/>
          <p:cNvSpPr/>
          <p:nvPr/>
        </p:nvSpPr>
        <p:spPr>
          <a:xfrm>
            <a:off x="5059136" y="12992100"/>
            <a:ext cx="3475264" cy="1828800"/>
          </a:xfrm>
          <a:prstGeom prst="roundRect">
            <a:avLst>
              <a:gd name="adj" fmla="val 16667"/>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3600" b="1" i="0" u="none" strike="noStrike" cap="none">
                <a:solidFill>
                  <a:schemeClr val="lt1"/>
                </a:solidFill>
                <a:latin typeface="Montserrat"/>
                <a:ea typeface="Montserrat"/>
                <a:cs typeface="Montserrat"/>
                <a:sym typeface="Montserrat"/>
              </a:rPr>
              <a:t>Atelier de Production de MCP</a:t>
            </a:r>
            <a:endParaRPr sz="3600" b="1" i="0" u="none" strike="noStrike" cap="none">
              <a:solidFill>
                <a:schemeClr val="lt1"/>
              </a:solidFill>
              <a:latin typeface="Montserrat"/>
              <a:ea typeface="Montserrat"/>
              <a:cs typeface="Montserrat"/>
              <a:sym typeface="Montserrat"/>
            </a:endParaRPr>
          </a:p>
        </p:txBody>
      </p:sp>
      <p:sp>
        <p:nvSpPr>
          <p:cNvPr id="219" name="Google Shape;219;p9"/>
          <p:cNvSpPr/>
          <p:nvPr/>
        </p:nvSpPr>
        <p:spPr>
          <a:xfrm>
            <a:off x="631372" y="7463367"/>
            <a:ext cx="3475264" cy="1524000"/>
          </a:xfrm>
          <a:prstGeom prst="roundRect">
            <a:avLst>
              <a:gd name="adj" fmla="val 16667"/>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3600" b="1" i="0" u="none" strike="noStrike" cap="none">
                <a:solidFill>
                  <a:schemeClr val="lt1"/>
                </a:solidFill>
                <a:latin typeface="Montserrat"/>
                <a:ea typeface="Montserrat"/>
                <a:cs typeface="Montserrat"/>
                <a:sym typeface="Montserrat"/>
              </a:rPr>
              <a:t>Atelier MCP</a:t>
            </a:r>
            <a:endParaRPr sz="3600" b="1" i="0" u="none" strike="noStrike" cap="none">
              <a:solidFill>
                <a:schemeClr val="lt1"/>
              </a:solidFill>
              <a:latin typeface="Montserrat"/>
              <a:ea typeface="Montserrat"/>
              <a:cs typeface="Montserrat"/>
              <a:sym typeface="Montserrat"/>
            </a:endParaRPr>
          </a:p>
        </p:txBody>
      </p:sp>
      <p:sp>
        <p:nvSpPr>
          <p:cNvPr id="220" name="Google Shape;220;p9"/>
          <p:cNvSpPr/>
          <p:nvPr/>
        </p:nvSpPr>
        <p:spPr>
          <a:xfrm>
            <a:off x="7100604" y="2864232"/>
            <a:ext cx="2438400" cy="1828800"/>
          </a:xfrm>
          <a:prstGeom prst="bentArrow">
            <a:avLst>
              <a:gd name="adj1" fmla="val 25000"/>
              <a:gd name="adj2" fmla="val 25000"/>
              <a:gd name="adj3" fmla="val 25000"/>
              <a:gd name="adj4" fmla="val 4375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1" name="Google Shape;221;p9"/>
          <p:cNvSpPr/>
          <p:nvPr/>
        </p:nvSpPr>
        <p:spPr>
          <a:xfrm rot="10800000" flipH="1">
            <a:off x="7100604" y="6976089"/>
            <a:ext cx="2438400" cy="1828800"/>
          </a:xfrm>
          <a:prstGeom prst="bentArrow">
            <a:avLst>
              <a:gd name="adj1" fmla="val 25000"/>
              <a:gd name="adj2" fmla="val 25000"/>
              <a:gd name="adj3" fmla="val 25000"/>
              <a:gd name="adj4" fmla="val 4375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2" name="Google Shape;222;p9"/>
          <p:cNvSpPr/>
          <p:nvPr/>
        </p:nvSpPr>
        <p:spPr>
          <a:xfrm>
            <a:off x="8763000" y="5334000"/>
            <a:ext cx="609600" cy="800100"/>
          </a:xfrm>
          <a:prstGeom prst="right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23" name="Google Shape;223;p9"/>
          <p:cNvSpPr/>
          <p:nvPr/>
        </p:nvSpPr>
        <p:spPr>
          <a:xfrm>
            <a:off x="9753602" y="7282469"/>
            <a:ext cx="3475264" cy="2133600"/>
          </a:xfrm>
          <a:prstGeom prst="roundRect">
            <a:avLst>
              <a:gd name="adj" fmla="val 16667"/>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3600" b="1" i="0" u="none" strike="noStrike" cap="none">
                <a:solidFill>
                  <a:schemeClr val="lt1"/>
                </a:solidFill>
                <a:latin typeface="Montserrat"/>
                <a:ea typeface="Montserrat"/>
                <a:cs typeface="Montserrat"/>
                <a:sym typeface="Montserrat"/>
              </a:rPr>
              <a:t>Lignes de Remplissage des Big bags</a:t>
            </a:r>
            <a:endParaRPr sz="3600" b="1" i="0" u="none" strike="noStrike" cap="none">
              <a:solidFill>
                <a:schemeClr val="lt1"/>
              </a:solidFill>
              <a:latin typeface="Montserrat"/>
              <a:ea typeface="Montserrat"/>
              <a:cs typeface="Montserrat"/>
              <a:sym typeface="Montserrat"/>
            </a:endParaRPr>
          </a:p>
        </p:txBody>
      </p:sp>
      <p:sp>
        <p:nvSpPr>
          <p:cNvPr id="224" name="Google Shape;224;p9"/>
          <p:cNvSpPr/>
          <p:nvPr/>
        </p:nvSpPr>
        <p:spPr>
          <a:xfrm>
            <a:off x="9753602" y="2560661"/>
            <a:ext cx="3475264" cy="1524000"/>
          </a:xfrm>
          <a:prstGeom prst="roundRect">
            <a:avLst>
              <a:gd name="adj" fmla="val 16667"/>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3600" b="1" i="0" u="none" strike="noStrike" cap="none">
                <a:solidFill>
                  <a:schemeClr val="lt1"/>
                </a:solidFill>
                <a:latin typeface="Montserrat"/>
                <a:ea typeface="Montserrat"/>
                <a:cs typeface="Montserrat"/>
                <a:sym typeface="Montserrat"/>
              </a:rPr>
              <a:t>Silos de stockage</a:t>
            </a:r>
            <a:endParaRPr sz="3600" b="1" i="0" u="none" strike="noStrike" cap="none">
              <a:solidFill>
                <a:schemeClr val="lt1"/>
              </a:solidFill>
              <a:latin typeface="Montserrat"/>
              <a:ea typeface="Montserrat"/>
              <a:cs typeface="Montserrat"/>
              <a:sym typeface="Montserrat"/>
            </a:endParaRPr>
          </a:p>
        </p:txBody>
      </p:sp>
      <p:sp>
        <p:nvSpPr>
          <p:cNvPr id="225" name="Google Shape;225;p9"/>
          <p:cNvSpPr/>
          <p:nvPr/>
        </p:nvSpPr>
        <p:spPr>
          <a:xfrm>
            <a:off x="9753602" y="5024863"/>
            <a:ext cx="3475264" cy="1524000"/>
          </a:xfrm>
          <a:prstGeom prst="roundRect">
            <a:avLst>
              <a:gd name="adj" fmla="val 16667"/>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3600" b="1" i="0" u="none" strike="noStrike" cap="none">
                <a:solidFill>
                  <a:schemeClr val="lt1"/>
                </a:solidFill>
                <a:latin typeface="Montserrat"/>
                <a:ea typeface="Montserrat"/>
                <a:cs typeface="Montserrat"/>
                <a:sym typeface="Montserrat"/>
              </a:rPr>
              <a:t>Ligne d’ensachage</a:t>
            </a:r>
            <a:endParaRPr sz="3600" b="1" i="0" u="none" strike="noStrike" cap="none">
              <a:solidFill>
                <a:schemeClr val="lt1"/>
              </a:solidFill>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10"/>
          <p:cNvSpPr txBox="1"/>
          <p:nvPr/>
        </p:nvSpPr>
        <p:spPr>
          <a:xfrm>
            <a:off x="2971800" y="0"/>
            <a:ext cx="14097000" cy="999954"/>
          </a:xfrm>
          <a:prstGeom prst="rect">
            <a:avLst/>
          </a:prstGeom>
          <a:noFill/>
          <a:ln>
            <a:noFill/>
          </a:ln>
        </p:spPr>
        <p:txBody>
          <a:bodyPr spcFirstLastPara="1" wrap="square" lIns="0" tIns="0" rIns="0" bIns="0" anchor="t" anchorCtr="0">
            <a:spAutoFit/>
          </a:bodyPr>
          <a:lstStyle/>
          <a:p>
            <a:pPr marL="0" marR="0" lvl="0" indent="0" algn="l" rtl="0">
              <a:lnSpc>
                <a:spcPct val="166666"/>
              </a:lnSpc>
              <a:spcBef>
                <a:spcPts val="0"/>
              </a:spcBef>
              <a:spcAft>
                <a:spcPts val="0"/>
              </a:spcAft>
              <a:buNone/>
            </a:pPr>
            <a:r>
              <a:rPr lang="fr-FR" sz="5400" b="1" i="0" u="none" strike="noStrike" cap="none">
                <a:solidFill>
                  <a:srgbClr val="004AAD"/>
                </a:solidFill>
                <a:latin typeface="Montserrat"/>
                <a:ea typeface="Montserrat"/>
                <a:cs typeface="Montserrat"/>
                <a:sym typeface="Montserrat"/>
              </a:rPr>
              <a:t>Architecture de la ligne d’ensachage</a:t>
            </a:r>
            <a:endParaRPr sz="5400" b="1" i="0" u="none" strike="noStrike" cap="none">
              <a:solidFill>
                <a:srgbClr val="004AAD"/>
              </a:solidFill>
              <a:latin typeface="Montserrat"/>
              <a:ea typeface="Montserrat"/>
              <a:cs typeface="Montserrat"/>
              <a:sym typeface="Montserrat"/>
            </a:endParaRPr>
          </a:p>
        </p:txBody>
      </p:sp>
      <p:pic>
        <p:nvPicPr>
          <p:cNvPr id="232" name="Google Shape;232;p10"/>
          <p:cNvPicPr preferRelativeResize="0"/>
          <p:nvPr/>
        </p:nvPicPr>
        <p:blipFill rotWithShape="1">
          <a:blip r:embed="rId3">
            <a:alphaModFix/>
          </a:blip>
          <a:srcRect/>
          <a:stretch/>
        </p:blipFill>
        <p:spPr>
          <a:xfrm>
            <a:off x="0" y="1562100"/>
            <a:ext cx="18288000" cy="87249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1"/>
          <p:cNvSpPr/>
          <p:nvPr/>
        </p:nvSpPr>
        <p:spPr>
          <a:xfrm rot="-6664043">
            <a:off x="998515" y="-258785"/>
            <a:ext cx="11511802" cy="11511802"/>
          </a:xfrm>
          <a:custGeom>
            <a:avLst/>
            <a:gdLst/>
            <a:ahLst/>
            <a:cxnLst/>
            <a:rect l="l" t="t" r="r" b="b"/>
            <a:pathLst>
              <a:path w="11511802" h="11511802" extrusionOk="0">
                <a:moveTo>
                  <a:pt x="0" y="0"/>
                </a:moveTo>
                <a:lnTo>
                  <a:pt x="11511802" y="0"/>
                </a:lnTo>
                <a:lnTo>
                  <a:pt x="11511802" y="11511802"/>
                </a:lnTo>
                <a:lnTo>
                  <a:pt x="0" y="11511802"/>
                </a:lnTo>
                <a:lnTo>
                  <a:pt x="0" y="0"/>
                </a:lnTo>
                <a:close/>
              </a:path>
            </a:pathLst>
          </a:custGeom>
          <a:blipFill rotWithShape="1">
            <a:blip r:embed="rId3">
              <a:alphaModFix amt="40000"/>
            </a:blip>
            <a:stretch>
              <a:fillRect/>
            </a:stretch>
          </a:blipFill>
          <a:ln>
            <a:noFill/>
          </a:ln>
        </p:spPr>
      </p:sp>
      <p:sp>
        <p:nvSpPr>
          <p:cNvPr id="238" name="Google Shape;238;p11"/>
          <p:cNvSpPr/>
          <p:nvPr/>
        </p:nvSpPr>
        <p:spPr>
          <a:xfrm rot="1505868">
            <a:off x="3380725" y="2258316"/>
            <a:ext cx="12580534" cy="8680686"/>
          </a:xfrm>
          <a:custGeom>
            <a:avLst/>
            <a:gdLst/>
            <a:ahLst/>
            <a:cxnLst/>
            <a:rect l="l" t="t" r="r" b="b"/>
            <a:pathLst>
              <a:path w="12580534" h="8680686" extrusionOk="0">
                <a:moveTo>
                  <a:pt x="0" y="0"/>
                </a:moveTo>
                <a:lnTo>
                  <a:pt x="12580534" y="0"/>
                </a:lnTo>
                <a:lnTo>
                  <a:pt x="12580534" y="8680686"/>
                </a:lnTo>
                <a:lnTo>
                  <a:pt x="0" y="8680686"/>
                </a:lnTo>
                <a:lnTo>
                  <a:pt x="0" y="0"/>
                </a:lnTo>
                <a:close/>
              </a:path>
            </a:pathLst>
          </a:custGeom>
          <a:blipFill rotWithShape="1">
            <a:blip r:embed="rId4">
              <a:alphaModFix amt="50000"/>
            </a:blip>
            <a:stretch>
              <a:fillRect/>
            </a:stretch>
          </a:blipFill>
          <a:ln>
            <a:noFill/>
          </a:ln>
        </p:spPr>
      </p:sp>
      <p:sp>
        <p:nvSpPr>
          <p:cNvPr id="239" name="Google Shape;239;p11"/>
          <p:cNvSpPr txBox="1"/>
          <p:nvPr/>
        </p:nvSpPr>
        <p:spPr>
          <a:xfrm>
            <a:off x="2649876" y="3771900"/>
            <a:ext cx="14042231" cy="2198935"/>
          </a:xfrm>
          <a:prstGeom prst="rect">
            <a:avLst/>
          </a:prstGeom>
          <a:noFill/>
          <a:ln>
            <a:noFill/>
          </a:ln>
        </p:spPr>
        <p:txBody>
          <a:bodyPr spcFirstLastPara="1" wrap="square" lIns="0" tIns="0" rIns="0" bIns="0" anchor="t" anchorCtr="0">
            <a:spAutoFit/>
          </a:bodyPr>
          <a:lstStyle/>
          <a:p>
            <a:pPr marL="0" marR="0" lvl="0" indent="0" algn="ctr" rtl="0">
              <a:lnSpc>
                <a:spcPct val="125000"/>
              </a:lnSpc>
              <a:spcBef>
                <a:spcPts val="0"/>
              </a:spcBef>
              <a:spcAft>
                <a:spcPts val="0"/>
              </a:spcAft>
              <a:buNone/>
            </a:pPr>
            <a:r>
              <a:rPr lang="fr-FR" sz="7200" b="1" i="0" u="none" strike="noStrike" cap="none">
                <a:solidFill>
                  <a:srgbClr val="004AAD"/>
                </a:solidFill>
                <a:latin typeface="Montserrat"/>
                <a:ea typeface="Montserrat"/>
                <a:cs typeface="Montserrat"/>
                <a:sym typeface="Montserrat"/>
              </a:rPr>
              <a:t>Présentation de</a:t>
            </a:r>
            <a:endParaRPr/>
          </a:p>
          <a:p>
            <a:pPr marL="0" marR="0" lvl="0" indent="0" algn="ctr" rtl="0">
              <a:lnSpc>
                <a:spcPct val="125000"/>
              </a:lnSpc>
              <a:spcBef>
                <a:spcPts val="0"/>
              </a:spcBef>
              <a:spcAft>
                <a:spcPts val="0"/>
              </a:spcAft>
              <a:buNone/>
            </a:pPr>
            <a:r>
              <a:rPr lang="fr-FR" sz="7200" b="1" i="0" u="none" strike="noStrike" cap="none">
                <a:solidFill>
                  <a:srgbClr val="004AAD"/>
                </a:solidFill>
                <a:latin typeface="Montserrat"/>
                <a:ea typeface="Montserrat"/>
                <a:cs typeface="Montserrat"/>
                <a:sym typeface="Montserrat"/>
              </a:rPr>
              <a:t> la Problématique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12"/>
          <p:cNvSpPr txBox="1"/>
          <p:nvPr/>
        </p:nvSpPr>
        <p:spPr>
          <a:xfrm>
            <a:off x="2992780" y="952500"/>
            <a:ext cx="12302440" cy="999954"/>
          </a:xfrm>
          <a:prstGeom prst="rect">
            <a:avLst/>
          </a:prstGeom>
          <a:noFill/>
          <a:ln>
            <a:noFill/>
          </a:ln>
        </p:spPr>
        <p:txBody>
          <a:bodyPr spcFirstLastPara="1" wrap="square" lIns="0" tIns="0" rIns="0" bIns="0" anchor="t" anchorCtr="0">
            <a:spAutoFit/>
          </a:bodyPr>
          <a:lstStyle/>
          <a:p>
            <a:pPr marL="0" marR="0" lvl="0" indent="0" algn="l" rtl="0">
              <a:lnSpc>
                <a:spcPct val="166666"/>
              </a:lnSpc>
              <a:spcBef>
                <a:spcPts val="0"/>
              </a:spcBef>
              <a:spcAft>
                <a:spcPts val="0"/>
              </a:spcAft>
              <a:buNone/>
            </a:pPr>
            <a:endParaRPr sz="5400" b="1" i="0" u="none" strike="noStrike" cap="none">
              <a:solidFill>
                <a:srgbClr val="004AAD"/>
              </a:solidFill>
              <a:latin typeface="Montserrat"/>
              <a:ea typeface="Montserrat"/>
              <a:cs typeface="Montserrat"/>
              <a:sym typeface="Montserrat"/>
            </a:endParaRPr>
          </a:p>
        </p:txBody>
      </p:sp>
      <p:sp>
        <p:nvSpPr>
          <p:cNvPr id="245" name="Google Shape;245;p12"/>
          <p:cNvSpPr txBox="1"/>
          <p:nvPr/>
        </p:nvSpPr>
        <p:spPr>
          <a:xfrm>
            <a:off x="5761584" y="3238500"/>
            <a:ext cx="11387878" cy="3891711"/>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fr-FR" sz="2400" b="0" i="0" u="none" strike="noStrike" cap="none" dirty="0">
                <a:solidFill>
                  <a:srgbClr val="2E2E2E"/>
                </a:solidFill>
                <a:latin typeface="Montserrat"/>
                <a:ea typeface="Montserrat"/>
                <a:cs typeface="Montserrat"/>
                <a:sym typeface="Montserrat"/>
              </a:rPr>
              <a:t>Après cette présentation des sections des ensembles de la ligne et de ses composants, vous pourriez vous attendre à ce que je discute des études sur la performance de cette ligne. </a:t>
            </a:r>
            <a:endParaRPr dirty="0"/>
          </a:p>
          <a:p>
            <a:pPr marL="0" marR="0" lvl="0" indent="0" algn="l" rtl="0">
              <a:lnSpc>
                <a:spcPct val="150000"/>
              </a:lnSpc>
              <a:spcBef>
                <a:spcPts val="0"/>
              </a:spcBef>
              <a:spcAft>
                <a:spcPts val="0"/>
              </a:spcAft>
              <a:buNone/>
            </a:pPr>
            <a:endParaRPr sz="2400" b="0" i="0" u="none" strike="noStrike" cap="none" dirty="0">
              <a:solidFill>
                <a:srgbClr val="2E2E2E"/>
              </a:solidFill>
              <a:latin typeface="Montserrat"/>
              <a:ea typeface="Montserrat"/>
              <a:cs typeface="Montserrat"/>
              <a:sym typeface="Montserrat"/>
            </a:endParaRPr>
          </a:p>
          <a:p>
            <a:pPr marL="0" marR="0" lvl="0" indent="0" algn="l" rtl="0">
              <a:lnSpc>
                <a:spcPct val="150000"/>
              </a:lnSpc>
              <a:spcBef>
                <a:spcPts val="0"/>
              </a:spcBef>
              <a:spcAft>
                <a:spcPts val="0"/>
              </a:spcAft>
              <a:buNone/>
            </a:pPr>
            <a:r>
              <a:rPr lang="fr-FR" sz="2400" b="0" i="0" u="none" strike="noStrike" cap="none" dirty="0">
                <a:solidFill>
                  <a:srgbClr val="2E2E2E"/>
                </a:solidFill>
                <a:latin typeface="Montserrat"/>
                <a:ea typeface="Montserrat"/>
                <a:cs typeface="Montserrat"/>
                <a:sym typeface="Montserrat"/>
              </a:rPr>
              <a:t>Cependant, bien qu'elle ait été installée en 2019, aucune étude de ce type n'existe. C'est parce qu'elle ne dispose pas d'un système de traçabilité pour ses propres données et performances.</a:t>
            </a:r>
            <a:endParaRPr dirty="0"/>
          </a:p>
        </p:txBody>
      </p:sp>
      <p:grpSp>
        <p:nvGrpSpPr>
          <p:cNvPr id="246" name="Google Shape;246;p12"/>
          <p:cNvGrpSpPr/>
          <p:nvPr/>
        </p:nvGrpSpPr>
        <p:grpSpPr>
          <a:xfrm>
            <a:off x="757377" y="3238500"/>
            <a:ext cx="4470806" cy="4267200"/>
            <a:chOff x="412750" y="1638300"/>
            <a:chExt cx="4470806" cy="4267200"/>
          </a:xfrm>
        </p:grpSpPr>
        <p:pic>
          <p:nvPicPr>
            <p:cNvPr id="247" name="Google Shape;247;p12" descr="Femme portant un t-shirt"/>
            <p:cNvPicPr preferRelativeResize="0"/>
            <p:nvPr/>
          </p:nvPicPr>
          <p:blipFill rotWithShape="1">
            <a:blip r:embed="rId3">
              <a:alphaModFix/>
            </a:blip>
            <a:srcRect/>
            <a:stretch/>
          </p:blipFill>
          <p:spPr>
            <a:xfrm>
              <a:off x="412750" y="3009900"/>
              <a:ext cx="4470806" cy="2895600"/>
            </a:xfrm>
            <a:prstGeom prst="rect">
              <a:avLst/>
            </a:prstGeom>
            <a:noFill/>
            <a:ln>
              <a:noFill/>
            </a:ln>
          </p:spPr>
        </p:pic>
        <p:pic>
          <p:nvPicPr>
            <p:cNvPr id="248" name="Google Shape;248;p12" descr="Garçon aux cheveux courts"/>
            <p:cNvPicPr preferRelativeResize="0"/>
            <p:nvPr/>
          </p:nvPicPr>
          <p:blipFill rotWithShape="1">
            <a:blip r:embed="rId4">
              <a:alphaModFix/>
            </a:blip>
            <a:srcRect/>
            <a:stretch/>
          </p:blipFill>
          <p:spPr>
            <a:xfrm>
              <a:off x="2362200" y="1638300"/>
              <a:ext cx="1497706" cy="1743232"/>
            </a:xfrm>
            <a:prstGeom prst="rect">
              <a:avLst/>
            </a:prstGeom>
            <a:noFill/>
            <a:ln>
              <a:noFill/>
            </a:ln>
          </p:spPr>
        </p:pic>
        <p:pic>
          <p:nvPicPr>
            <p:cNvPr id="249" name="Google Shape;249;p12" descr="Un visage confus"/>
            <p:cNvPicPr preferRelativeResize="0"/>
            <p:nvPr/>
          </p:nvPicPr>
          <p:blipFill rotWithShape="1">
            <a:blip r:embed="rId5">
              <a:alphaModFix/>
            </a:blip>
            <a:srcRect/>
            <a:stretch/>
          </p:blipFill>
          <p:spPr>
            <a:xfrm>
              <a:off x="2895600" y="2171700"/>
              <a:ext cx="799963" cy="999954"/>
            </a:xfrm>
            <a:prstGeom prst="rect">
              <a:avLst/>
            </a:prstGeom>
            <a:noFill/>
            <a:ln>
              <a:noFill/>
            </a:ln>
          </p:spPr>
        </p:pic>
      </p:grpSp>
      <p:sp>
        <p:nvSpPr>
          <p:cNvPr id="250" name="Google Shape;250;p12"/>
          <p:cNvSpPr txBox="1"/>
          <p:nvPr/>
        </p:nvSpPr>
        <p:spPr>
          <a:xfrm>
            <a:off x="1828800" y="0"/>
            <a:ext cx="14097000" cy="999954"/>
          </a:xfrm>
          <a:prstGeom prst="rect">
            <a:avLst/>
          </a:prstGeom>
          <a:noFill/>
          <a:ln>
            <a:noFill/>
          </a:ln>
        </p:spPr>
        <p:txBody>
          <a:bodyPr spcFirstLastPara="1" wrap="square" lIns="0" tIns="0" rIns="0" bIns="0" anchor="t" anchorCtr="0">
            <a:spAutoFit/>
          </a:bodyPr>
          <a:lstStyle/>
          <a:p>
            <a:pPr marL="0" marR="0" lvl="0" indent="0" algn="ctr" rtl="0">
              <a:lnSpc>
                <a:spcPct val="166666"/>
              </a:lnSpc>
              <a:spcBef>
                <a:spcPts val="0"/>
              </a:spcBef>
              <a:spcAft>
                <a:spcPts val="0"/>
              </a:spcAft>
              <a:buNone/>
            </a:pPr>
            <a:r>
              <a:rPr lang="fr-FR" sz="5400" b="1" i="0" u="none" strike="noStrike" cap="none">
                <a:solidFill>
                  <a:srgbClr val="004AAD"/>
                </a:solidFill>
                <a:latin typeface="Montserrat"/>
                <a:ea typeface="Montserrat"/>
                <a:cs typeface="Montserrat"/>
                <a:sym typeface="Montserrat"/>
              </a:rPr>
              <a:t>Problématique </a:t>
            </a:r>
            <a:endParaRPr sz="5400" b="1" i="0" u="none" strike="noStrike" cap="none">
              <a:solidFill>
                <a:srgbClr val="004AAD"/>
              </a:solidFill>
              <a:latin typeface="Montserrat"/>
              <a:ea typeface="Montserrat"/>
              <a:cs typeface="Montserrat"/>
              <a:sym typeface="Montserra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13"/>
          <p:cNvSpPr txBox="1"/>
          <p:nvPr/>
        </p:nvSpPr>
        <p:spPr>
          <a:xfrm>
            <a:off x="2992780" y="952500"/>
            <a:ext cx="12302440" cy="999954"/>
          </a:xfrm>
          <a:prstGeom prst="rect">
            <a:avLst/>
          </a:prstGeom>
          <a:noFill/>
          <a:ln>
            <a:noFill/>
          </a:ln>
        </p:spPr>
        <p:txBody>
          <a:bodyPr spcFirstLastPara="1" wrap="square" lIns="0" tIns="0" rIns="0" bIns="0" anchor="t" anchorCtr="0">
            <a:spAutoFit/>
          </a:bodyPr>
          <a:lstStyle/>
          <a:p>
            <a:pPr marL="0" marR="0" lvl="0" indent="0" algn="l" rtl="0">
              <a:lnSpc>
                <a:spcPct val="166666"/>
              </a:lnSpc>
              <a:spcBef>
                <a:spcPts val="0"/>
              </a:spcBef>
              <a:spcAft>
                <a:spcPts val="0"/>
              </a:spcAft>
              <a:buNone/>
            </a:pPr>
            <a:endParaRPr sz="5400" b="1" i="0" u="none" strike="noStrike" cap="none">
              <a:solidFill>
                <a:srgbClr val="004AAD"/>
              </a:solidFill>
              <a:latin typeface="Montserrat"/>
              <a:ea typeface="Montserrat"/>
              <a:cs typeface="Montserrat"/>
              <a:sym typeface="Montserrat"/>
            </a:endParaRPr>
          </a:p>
        </p:txBody>
      </p:sp>
      <p:sp>
        <p:nvSpPr>
          <p:cNvPr id="256" name="Google Shape;256;p13"/>
          <p:cNvSpPr txBox="1"/>
          <p:nvPr/>
        </p:nvSpPr>
        <p:spPr>
          <a:xfrm>
            <a:off x="2095500" y="-17094"/>
            <a:ext cx="14097000" cy="999954"/>
          </a:xfrm>
          <a:prstGeom prst="rect">
            <a:avLst/>
          </a:prstGeom>
          <a:noFill/>
          <a:ln>
            <a:noFill/>
          </a:ln>
        </p:spPr>
        <p:txBody>
          <a:bodyPr spcFirstLastPara="1" wrap="square" lIns="0" tIns="0" rIns="0" bIns="0" anchor="t" anchorCtr="0">
            <a:spAutoFit/>
          </a:bodyPr>
          <a:lstStyle/>
          <a:p>
            <a:pPr marL="0" marR="0" lvl="0" indent="0" algn="ctr" rtl="0">
              <a:lnSpc>
                <a:spcPct val="204545"/>
              </a:lnSpc>
              <a:spcBef>
                <a:spcPts val="0"/>
              </a:spcBef>
              <a:spcAft>
                <a:spcPts val="0"/>
              </a:spcAft>
              <a:buNone/>
            </a:pPr>
            <a:r>
              <a:rPr lang="fr-FR" sz="4400" b="1" i="0" u="none" strike="noStrike" cap="none">
                <a:solidFill>
                  <a:srgbClr val="004AAD"/>
                </a:solidFill>
                <a:latin typeface="Montserrat"/>
                <a:ea typeface="Montserrat"/>
                <a:cs typeface="Montserrat"/>
                <a:sym typeface="Montserrat"/>
              </a:rPr>
              <a:t>Organigramme de la Problématique </a:t>
            </a:r>
            <a:endParaRPr sz="4400" b="1" i="0" u="none" strike="noStrike" cap="none">
              <a:solidFill>
                <a:srgbClr val="004AAD"/>
              </a:solidFill>
              <a:latin typeface="Montserrat"/>
              <a:ea typeface="Montserrat"/>
              <a:cs typeface="Montserrat"/>
              <a:sym typeface="Montserrat"/>
            </a:endParaRPr>
          </a:p>
        </p:txBody>
      </p:sp>
      <p:pic>
        <p:nvPicPr>
          <p:cNvPr id="257" name="Google Shape;257;p13"/>
          <p:cNvPicPr preferRelativeResize="0"/>
          <p:nvPr/>
        </p:nvPicPr>
        <p:blipFill rotWithShape="1">
          <a:blip r:embed="rId3">
            <a:alphaModFix/>
          </a:blip>
          <a:srcRect/>
          <a:stretch/>
        </p:blipFill>
        <p:spPr>
          <a:xfrm>
            <a:off x="1" y="1995996"/>
            <a:ext cx="18288000" cy="8378089"/>
          </a:xfrm>
          <a:prstGeom prst="rect">
            <a:avLst/>
          </a:prstGeom>
          <a:noFill/>
          <a:ln>
            <a:noFill/>
          </a:ln>
        </p:spPr>
      </p:pic>
      <p:grpSp>
        <p:nvGrpSpPr>
          <p:cNvPr id="258" name="Google Shape;258;p13"/>
          <p:cNvGrpSpPr/>
          <p:nvPr/>
        </p:nvGrpSpPr>
        <p:grpSpPr>
          <a:xfrm>
            <a:off x="457200" y="6819900"/>
            <a:ext cx="2362200" cy="3192665"/>
            <a:chOff x="1828800" y="3009899"/>
            <a:chExt cx="3048000" cy="4251731"/>
          </a:xfrm>
        </p:grpSpPr>
        <p:pic>
          <p:nvPicPr>
            <p:cNvPr id="259" name="Google Shape;259;p13" descr="Man with arms crossed"/>
            <p:cNvPicPr preferRelativeResize="0"/>
            <p:nvPr/>
          </p:nvPicPr>
          <p:blipFill rotWithShape="1">
            <a:blip r:embed="rId4">
              <a:alphaModFix/>
            </a:blip>
            <a:srcRect/>
            <a:stretch/>
          </p:blipFill>
          <p:spPr>
            <a:xfrm>
              <a:off x="1828800" y="4305300"/>
              <a:ext cx="3048000" cy="2956330"/>
            </a:xfrm>
            <a:prstGeom prst="rect">
              <a:avLst/>
            </a:prstGeom>
            <a:noFill/>
            <a:ln>
              <a:noFill/>
            </a:ln>
          </p:spPr>
        </p:pic>
        <p:grpSp>
          <p:nvGrpSpPr>
            <p:cNvPr id="260" name="Google Shape;260;p13"/>
            <p:cNvGrpSpPr/>
            <p:nvPr/>
          </p:nvGrpSpPr>
          <p:grpSpPr>
            <a:xfrm>
              <a:off x="2706827" y="3009899"/>
              <a:ext cx="1497706" cy="1743232"/>
              <a:chOff x="2362200" y="1638300"/>
              <a:chExt cx="1497706" cy="1743232"/>
            </a:xfrm>
          </p:grpSpPr>
          <p:pic>
            <p:nvPicPr>
              <p:cNvPr id="261" name="Google Shape;261;p13" descr="Garçon aux cheveux courts"/>
              <p:cNvPicPr preferRelativeResize="0"/>
              <p:nvPr/>
            </p:nvPicPr>
            <p:blipFill rotWithShape="1">
              <a:blip r:embed="rId5">
                <a:alphaModFix/>
              </a:blip>
              <a:srcRect/>
              <a:stretch/>
            </p:blipFill>
            <p:spPr>
              <a:xfrm>
                <a:off x="2362200" y="1638300"/>
                <a:ext cx="1497706" cy="1743232"/>
              </a:xfrm>
              <a:prstGeom prst="rect">
                <a:avLst/>
              </a:prstGeom>
              <a:noFill/>
              <a:ln>
                <a:noFill/>
              </a:ln>
            </p:spPr>
          </p:pic>
          <p:pic>
            <p:nvPicPr>
              <p:cNvPr id="262" name="Google Shape;262;p13" descr="Un visage confus"/>
              <p:cNvPicPr preferRelativeResize="0"/>
              <p:nvPr/>
            </p:nvPicPr>
            <p:blipFill rotWithShape="1">
              <a:blip r:embed="rId6">
                <a:alphaModFix/>
              </a:blip>
              <a:srcRect/>
              <a:stretch/>
            </p:blipFill>
            <p:spPr>
              <a:xfrm>
                <a:off x="2895600" y="2171700"/>
                <a:ext cx="799963" cy="999954"/>
              </a:xfrm>
              <a:prstGeom prst="rect">
                <a:avLst/>
              </a:prstGeom>
              <a:noFill/>
              <a:ln>
                <a:noFill/>
              </a:ln>
            </p:spPr>
          </p:pic>
        </p:gr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14"/>
          <p:cNvSpPr txBox="1"/>
          <p:nvPr/>
        </p:nvSpPr>
        <p:spPr>
          <a:xfrm>
            <a:off x="2992780" y="952500"/>
            <a:ext cx="12302440" cy="999954"/>
          </a:xfrm>
          <a:prstGeom prst="rect">
            <a:avLst/>
          </a:prstGeom>
          <a:noFill/>
          <a:ln>
            <a:noFill/>
          </a:ln>
        </p:spPr>
        <p:txBody>
          <a:bodyPr spcFirstLastPara="1" wrap="square" lIns="0" tIns="0" rIns="0" bIns="0" anchor="t" anchorCtr="0">
            <a:spAutoFit/>
          </a:bodyPr>
          <a:lstStyle/>
          <a:p>
            <a:pPr marL="0" marR="0" lvl="0" indent="0" algn="l" rtl="0">
              <a:lnSpc>
                <a:spcPct val="166666"/>
              </a:lnSpc>
              <a:spcBef>
                <a:spcPts val="0"/>
              </a:spcBef>
              <a:spcAft>
                <a:spcPts val="0"/>
              </a:spcAft>
              <a:buNone/>
            </a:pPr>
            <a:endParaRPr sz="5400" b="1" i="0" u="none" strike="noStrike" cap="none">
              <a:solidFill>
                <a:srgbClr val="004AAD"/>
              </a:solidFill>
              <a:latin typeface="Montserrat"/>
              <a:ea typeface="Montserrat"/>
              <a:cs typeface="Montserrat"/>
              <a:sym typeface="Montserrat"/>
            </a:endParaRPr>
          </a:p>
        </p:txBody>
      </p:sp>
      <p:sp>
        <p:nvSpPr>
          <p:cNvPr id="268" name="Google Shape;268;p14"/>
          <p:cNvSpPr txBox="1"/>
          <p:nvPr/>
        </p:nvSpPr>
        <p:spPr>
          <a:xfrm>
            <a:off x="2095500" y="-17094"/>
            <a:ext cx="14097000" cy="999954"/>
          </a:xfrm>
          <a:prstGeom prst="rect">
            <a:avLst/>
          </a:prstGeom>
          <a:noFill/>
          <a:ln>
            <a:noFill/>
          </a:ln>
        </p:spPr>
        <p:txBody>
          <a:bodyPr spcFirstLastPara="1" wrap="square" lIns="0" tIns="0" rIns="0" bIns="0" anchor="t" anchorCtr="0">
            <a:spAutoFit/>
          </a:bodyPr>
          <a:lstStyle/>
          <a:p>
            <a:pPr marL="0" marR="0" lvl="0" indent="0" algn="ctr" rtl="0">
              <a:lnSpc>
                <a:spcPct val="204545"/>
              </a:lnSpc>
              <a:spcBef>
                <a:spcPts val="0"/>
              </a:spcBef>
              <a:spcAft>
                <a:spcPts val="0"/>
              </a:spcAft>
              <a:buNone/>
            </a:pPr>
            <a:r>
              <a:rPr lang="fr-FR" sz="4400" b="1" i="0" u="none" strike="noStrike" cap="none">
                <a:solidFill>
                  <a:srgbClr val="004AAD"/>
                </a:solidFill>
                <a:latin typeface="Montserrat"/>
                <a:ea typeface="Montserrat"/>
                <a:cs typeface="Montserrat"/>
                <a:sym typeface="Montserrat"/>
              </a:rPr>
              <a:t>Organigramme de la Problématique </a:t>
            </a:r>
            <a:endParaRPr sz="4400" b="1" i="0" u="none" strike="noStrike" cap="none">
              <a:solidFill>
                <a:srgbClr val="004AAD"/>
              </a:solidFill>
              <a:latin typeface="Montserrat"/>
              <a:ea typeface="Montserrat"/>
              <a:cs typeface="Montserrat"/>
              <a:sym typeface="Montserrat"/>
            </a:endParaRPr>
          </a:p>
        </p:txBody>
      </p:sp>
      <p:pic>
        <p:nvPicPr>
          <p:cNvPr id="269" name="Google Shape;269;p14"/>
          <p:cNvPicPr preferRelativeResize="0"/>
          <p:nvPr/>
        </p:nvPicPr>
        <p:blipFill rotWithShape="1">
          <a:blip r:embed="rId3">
            <a:alphaModFix/>
          </a:blip>
          <a:srcRect/>
          <a:stretch/>
        </p:blipFill>
        <p:spPr>
          <a:xfrm>
            <a:off x="0" y="1257300"/>
            <a:ext cx="18257640" cy="9029700"/>
          </a:xfrm>
          <a:prstGeom prst="rect">
            <a:avLst/>
          </a:prstGeom>
          <a:noFill/>
          <a:ln>
            <a:noFill/>
          </a:ln>
        </p:spPr>
      </p:pic>
      <p:grpSp>
        <p:nvGrpSpPr>
          <p:cNvPr id="270" name="Google Shape;270;p14"/>
          <p:cNvGrpSpPr/>
          <p:nvPr/>
        </p:nvGrpSpPr>
        <p:grpSpPr>
          <a:xfrm flipH="1">
            <a:off x="15011400" y="7094335"/>
            <a:ext cx="2362200" cy="3192665"/>
            <a:chOff x="1828800" y="3009899"/>
            <a:chExt cx="3048000" cy="4251731"/>
          </a:xfrm>
        </p:grpSpPr>
        <p:pic>
          <p:nvPicPr>
            <p:cNvPr id="271" name="Google Shape;271;p14" descr="Man with arms crossed"/>
            <p:cNvPicPr preferRelativeResize="0"/>
            <p:nvPr/>
          </p:nvPicPr>
          <p:blipFill rotWithShape="1">
            <a:blip r:embed="rId4">
              <a:alphaModFix/>
            </a:blip>
            <a:srcRect/>
            <a:stretch/>
          </p:blipFill>
          <p:spPr>
            <a:xfrm>
              <a:off x="1828800" y="4305300"/>
              <a:ext cx="3048000" cy="2956330"/>
            </a:xfrm>
            <a:prstGeom prst="rect">
              <a:avLst/>
            </a:prstGeom>
            <a:noFill/>
            <a:ln>
              <a:noFill/>
            </a:ln>
          </p:spPr>
        </p:pic>
        <p:grpSp>
          <p:nvGrpSpPr>
            <p:cNvPr id="272" name="Google Shape;272;p14"/>
            <p:cNvGrpSpPr/>
            <p:nvPr/>
          </p:nvGrpSpPr>
          <p:grpSpPr>
            <a:xfrm>
              <a:off x="2706827" y="3009899"/>
              <a:ext cx="1497706" cy="1743232"/>
              <a:chOff x="2362200" y="1638300"/>
              <a:chExt cx="1497706" cy="1743232"/>
            </a:xfrm>
          </p:grpSpPr>
          <p:pic>
            <p:nvPicPr>
              <p:cNvPr id="273" name="Google Shape;273;p14" descr="Garçon aux cheveux courts"/>
              <p:cNvPicPr preferRelativeResize="0"/>
              <p:nvPr/>
            </p:nvPicPr>
            <p:blipFill rotWithShape="1">
              <a:blip r:embed="rId5">
                <a:alphaModFix/>
              </a:blip>
              <a:srcRect/>
              <a:stretch/>
            </p:blipFill>
            <p:spPr>
              <a:xfrm>
                <a:off x="2362200" y="1638300"/>
                <a:ext cx="1497706" cy="1743232"/>
              </a:xfrm>
              <a:prstGeom prst="rect">
                <a:avLst/>
              </a:prstGeom>
              <a:noFill/>
              <a:ln>
                <a:noFill/>
              </a:ln>
            </p:spPr>
          </p:pic>
          <p:pic>
            <p:nvPicPr>
              <p:cNvPr id="274" name="Google Shape;274;p14" descr="Un visage confus"/>
              <p:cNvPicPr preferRelativeResize="0"/>
              <p:nvPr/>
            </p:nvPicPr>
            <p:blipFill rotWithShape="1">
              <a:blip r:embed="rId6">
                <a:alphaModFix/>
              </a:blip>
              <a:srcRect/>
              <a:stretch/>
            </p:blipFill>
            <p:spPr>
              <a:xfrm>
                <a:off x="2895600" y="2171700"/>
                <a:ext cx="799963" cy="999954"/>
              </a:xfrm>
              <a:prstGeom prst="rect">
                <a:avLst/>
              </a:prstGeom>
              <a:noFill/>
              <a:ln>
                <a:noFill/>
              </a:ln>
            </p:spPr>
          </p:pic>
        </p:gr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15"/>
          <p:cNvSpPr/>
          <p:nvPr/>
        </p:nvSpPr>
        <p:spPr>
          <a:xfrm rot="-6664043">
            <a:off x="998515" y="-258785"/>
            <a:ext cx="11511802" cy="11511802"/>
          </a:xfrm>
          <a:custGeom>
            <a:avLst/>
            <a:gdLst/>
            <a:ahLst/>
            <a:cxnLst/>
            <a:rect l="l" t="t" r="r" b="b"/>
            <a:pathLst>
              <a:path w="11511802" h="11511802" extrusionOk="0">
                <a:moveTo>
                  <a:pt x="0" y="0"/>
                </a:moveTo>
                <a:lnTo>
                  <a:pt x="11511802" y="0"/>
                </a:lnTo>
                <a:lnTo>
                  <a:pt x="11511802" y="11511802"/>
                </a:lnTo>
                <a:lnTo>
                  <a:pt x="0" y="11511802"/>
                </a:lnTo>
                <a:lnTo>
                  <a:pt x="0" y="0"/>
                </a:lnTo>
                <a:close/>
              </a:path>
            </a:pathLst>
          </a:custGeom>
          <a:blipFill rotWithShape="1">
            <a:blip r:embed="rId3">
              <a:alphaModFix amt="40000"/>
            </a:blip>
            <a:stretch>
              <a:fillRect/>
            </a:stretch>
          </a:blipFill>
          <a:ln>
            <a:noFill/>
          </a:ln>
        </p:spPr>
      </p:sp>
      <p:sp>
        <p:nvSpPr>
          <p:cNvPr id="280" name="Google Shape;280;p15"/>
          <p:cNvSpPr/>
          <p:nvPr/>
        </p:nvSpPr>
        <p:spPr>
          <a:xfrm rot="1505868">
            <a:off x="3380725" y="2258316"/>
            <a:ext cx="12580534" cy="8680686"/>
          </a:xfrm>
          <a:custGeom>
            <a:avLst/>
            <a:gdLst/>
            <a:ahLst/>
            <a:cxnLst/>
            <a:rect l="l" t="t" r="r" b="b"/>
            <a:pathLst>
              <a:path w="12580534" h="8680686" extrusionOk="0">
                <a:moveTo>
                  <a:pt x="0" y="0"/>
                </a:moveTo>
                <a:lnTo>
                  <a:pt x="12580534" y="0"/>
                </a:lnTo>
                <a:lnTo>
                  <a:pt x="12580534" y="8680686"/>
                </a:lnTo>
                <a:lnTo>
                  <a:pt x="0" y="8680686"/>
                </a:lnTo>
                <a:lnTo>
                  <a:pt x="0" y="0"/>
                </a:lnTo>
                <a:close/>
              </a:path>
            </a:pathLst>
          </a:custGeom>
          <a:blipFill rotWithShape="1">
            <a:blip r:embed="rId4">
              <a:alphaModFix amt="50000"/>
            </a:blip>
            <a:stretch>
              <a:fillRect/>
            </a:stretch>
          </a:blipFill>
          <a:ln>
            <a:noFill/>
          </a:ln>
        </p:spPr>
      </p:sp>
      <p:sp>
        <p:nvSpPr>
          <p:cNvPr id="281" name="Google Shape;281;p15"/>
          <p:cNvSpPr txBox="1"/>
          <p:nvPr/>
        </p:nvSpPr>
        <p:spPr>
          <a:xfrm>
            <a:off x="4724400" y="4621113"/>
            <a:ext cx="14042231" cy="1044773"/>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None/>
            </a:pPr>
            <a:r>
              <a:rPr lang="fr-FR" sz="7200" b="1" i="0" u="none" strike="noStrike" cap="none">
                <a:solidFill>
                  <a:srgbClr val="004AAD"/>
                </a:solidFill>
                <a:latin typeface="Montserrat"/>
                <a:ea typeface="Montserrat"/>
                <a:cs typeface="Montserrat"/>
                <a:sym typeface="Montserrat"/>
              </a:rPr>
              <a:t>Solution Proposée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16"/>
          <p:cNvSpPr txBox="1"/>
          <p:nvPr/>
        </p:nvSpPr>
        <p:spPr>
          <a:xfrm>
            <a:off x="3026229" y="319120"/>
            <a:ext cx="12302440" cy="999954"/>
          </a:xfrm>
          <a:prstGeom prst="rect">
            <a:avLst/>
          </a:prstGeom>
          <a:noFill/>
          <a:ln>
            <a:noFill/>
          </a:ln>
        </p:spPr>
        <p:txBody>
          <a:bodyPr spcFirstLastPara="1" wrap="square" lIns="0" tIns="0" rIns="0" bIns="0" anchor="t" anchorCtr="0">
            <a:spAutoFit/>
          </a:bodyPr>
          <a:lstStyle/>
          <a:p>
            <a:pPr marL="0" marR="0" lvl="0" indent="0" algn="l" rtl="0">
              <a:lnSpc>
                <a:spcPct val="166666"/>
              </a:lnSpc>
              <a:spcBef>
                <a:spcPts val="0"/>
              </a:spcBef>
              <a:spcAft>
                <a:spcPts val="0"/>
              </a:spcAft>
              <a:buNone/>
            </a:pPr>
            <a:endParaRPr sz="5400" b="1" i="0" u="none" strike="noStrike" cap="none">
              <a:solidFill>
                <a:srgbClr val="004AAD"/>
              </a:solidFill>
              <a:latin typeface="Montserrat"/>
              <a:ea typeface="Montserrat"/>
              <a:cs typeface="Montserrat"/>
              <a:sym typeface="Montserrat"/>
            </a:endParaRPr>
          </a:p>
        </p:txBody>
      </p:sp>
      <p:sp>
        <p:nvSpPr>
          <p:cNvPr id="287" name="Google Shape;287;p16"/>
          <p:cNvSpPr txBox="1"/>
          <p:nvPr/>
        </p:nvSpPr>
        <p:spPr>
          <a:xfrm>
            <a:off x="533400" y="2095500"/>
            <a:ext cx="16654351" cy="712316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fr-FR" sz="2400" b="0" i="0" u="none" strike="noStrike" cap="none">
                <a:solidFill>
                  <a:srgbClr val="2E2E2E"/>
                </a:solidFill>
                <a:latin typeface="Montserrat"/>
                <a:ea typeface="Montserrat"/>
                <a:cs typeface="Montserrat"/>
                <a:sym typeface="Montserrat"/>
              </a:rPr>
              <a:t>Face aux défis identifiés par l'absence de traçabilité, notre projet a consisté à concevoir et à mettre en œuvre une solution complète et intégrée, visant à transformer la gestion de la ligne d'ensachage du MCP :</a:t>
            </a:r>
            <a:endParaRPr/>
          </a:p>
          <a:p>
            <a:pPr marL="0" marR="0" lvl="0" indent="0" algn="l" rtl="0">
              <a:lnSpc>
                <a:spcPct val="150000"/>
              </a:lnSpc>
              <a:spcBef>
                <a:spcPts val="0"/>
              </a:spcBef>
              <a:spcAft>
                <a:spcPts val="0"/>
              </a:spcAft>
              <a:buClr>
                <a:schemeClr val="dk1"/>
              </a:buClr>
              <a:buSzPts val="2400"/>
              <a:buFont typeface="Arial"/>
              <a:buNone/>
            </a:pPr>
            <a:endParaRPr sz="2400" b="0" i="0" u="none" strike="noStrike" cap="none">
              <a:solidFill>
                <a:srgbClr val="2E2E2E"/>
              </a:solidFill>
              <a:latin typeface="Montserrat"/>
              <a:ea typeface="Montserrat"/>
              <a:cs typeface="Montserrat"/>
              <a:sym typeface="Montserrat"/>
            </a:endParaRPr>
          </a:p>
          <a:p>
            <a:pPr marL="0" marR="0" lvl="0" indent="0" algn="l" rtl="0">
              <a:lnSpc>
                <a:spcPct val="150000"/>
              </a:lnSpc>
              <a:spcBef>
                <a:spcPts val="0"/>
              </a:spcBef>
              <a:spcAft>
                <a:spcPts val="0"/>
              </a:spcAft>
              <a:buNone/>
            </a:pPr>
            <a:r>
              <a:rPr lang="fr-FR" sz="2400" b="1" i="0" u="none" strike="noStrike" cap="none">
                <a:solidFill>
                  <a:srgbClr val="2E2E2E"/>
                </a:solidFill>
                <a:latin typeface="Montserrat"/>
                <a:ea typeface="Montserrat"/>
                <a:cs typeface="Montserrat"/>
                <a:sym typeface="Montserrat"/>
              </a:rPr>
              <a:t>Mise en Place d'un Système de Suivi et de Traçabilité des Données :</a:t>
            </a:r>
            <a:endParaRPr/>
          </a:p>
          <a:p>
            <a:pPr marL="0" marR="0" lvl="0" indent="0" algn="l" rtl="0">
              <a:lnSpc>
                <a:spcPct val="150000"/>
              </a:lnSpc>
              <a:spcBef>
                <a:spcPts val="0"/>
              </a:spcBef>
              <a:spcAft>
                <a:spcPts val="0"/>
              </a:spcAft>
              <a:buNone/>
            </a:pPr>
            <a:endParaRPr sz="2400" b="0" i="0" u="none" strike="noStrike" cap="none">
              <a:solidFill>
                <a:srgbClr val="2E2E2E"/>
              </a:solidFill>
              <a:latin typeface="Montserrat"/>
              <a:ea typeface="Montserrat"/>
              <a:cs typeface="Montserrat"/>
              <a:sym typeface="Montserrat"/>
            </a:endParaRPr>
          </a:p>
          <a:p>
            <a:pPr marL="342900" marR="0" lvl="0" indent="-342900" algn="l" rtl="0">
              <a:spcBef>
                <a:spcPts val="0"/>
              </a:spcBef>
              <a:spcAft>
                <a:spcPts val="0"/>
              </a:spcAft>
              <a:buClr>
                <a:srgbClr val="2E2E2E"/>
              </a:buClr>
              <a:buSzPts val="2400"/>
              <a:buFont typeface="Arial"/>
              <a:buChar char="•"/>
            </a:pPr>
            <a:r>
              <a:rPr lang="fr-FR" sz="2400" b="0" i="0" u="none" strike="noStrike" cap="none">
                <a:solidFill>
                  <a:srgbClr val="2E2E2E"/>
                </a:solidFill>
                <a:latin typeface="Montserrat"/>
                <a:ea typeface="Montserrat"/>
                <a:cs typeface="Montserrat"/>
                <a:sym typeface="Montserrat"/>
              </a:rPr>
              <a:t>Développement d’une Architecture de Collecte &amp; Stockage de Données.</a:t>
            </a:r>
            <a:endParaRPr/>
          </a:p>
          <a:p>
            <a:pPr marL="342900" marR="0" lvl="0" indent="-342900" algn="l" rtl="0">
              <a:spcBef>
                <a:spcPts val="0"/>
              </a:spcBef>
              <a:spcAft>
                <a:spcPts val="0"/>
              </a:spcAft>
              <a:buClr>
                <a:srgbClr val="2E2E2E"/>
              </a:buClr>
              <a:buSzPts val="2400"/>
              <a:buFont typeface="Arial"/>
              <a:buChar char="•"/>
            </a:pPr>
            <a:r>
              <a:rPr lang="fr-FR" sz="2400" b="0" i="0" u="none" strike="noStrike" cap="none">
                <a:solidFill>
                  <a:srgbClr val="2E2E2E"/>
                </a:solidFill>
                <a:latin typeface="Montserrat"/>
                <a:ea typeface="Montserrat"/>
                <a:cs typeface="Montserrat"/>
                <a:sym typeface="Montserrat"/>
              </a:rPr>
              <a:t>Automatisation des Calculs KPIs </a:t>
            </a:r>
            <a:endParaRPr/>
          </a:p>
          <a:p>
            <a:pPr marL="342900" marR="0" lvl="0" indent="-342900" algn="l" rtl="0">
              <a:spcBef>
                <a:spcPts val="0"/>
              </a:spcBef>
              <a:spcAft>
                <a:spcPts val="0"/>
              </a:spcAft>
              <a:buClr>
                <a:srgbClr val="2E2E2E"/>
              </a:buClr>
              <a:buSzPts val="2400"/>
              <a:buFont typeface="Arial"/>
              <a:buChar char="•"/>
            </a:pPr>
            <a:r>
              <a:rPr lang="fr-FR" sz="2400" b="0" i="0" u="none" strike="noStrike" cap="none">
                <a:solidFill>
                  <a:srgbClr val="2E2E2E"/>
                </a:solidFill>
                <a:latin typeface="Montserrat"/>
                <a:ea typeface="Montserrat"/>
                <a:cs typeface="Montserrat"/>
                <a:sym typeface="Montserrat"/>
              </a:rPr>
              <a:t>Sauvegarde Cloud Sécurisée</a:t>
            </a:r>
            <a:endParaRPr/>
          </a:p>
          <a:p>
            <a:pPr marL="342900" marR="0" lvl="0" indent="-190500" algn="l" rtl="0">
              <a:lnSpc>
                <a:spcPct val="150000"/>
              </a:lnSpc>
              <a:spcBef>
                <a:spcPts val="0"/>
              </a:spcBef>
              <a:spcAft>
                <a:spcPts val="0"/>
              </a:spcAft>
              <a:buClr>
                <a:schemeClr val="dk1"/>
              </a:buClr>
              <a:buSzPts val="2400"/>
              <a:buFont typeface="Arial"/>
              <a:buNone/>
            </a:pPr>
            <a:endParaRPr sz="2400" b="1" i="0" u="none" strike="noStrike" cap="none">
              <a:solidFill>
                <a:srgbClr val="2E2E2E"/>
              </a:solidFill>
              <a:latin typeface="Montserrat"/>
              <a:ea typeface="Montserrat"/>
              <a:cs typeface="Montserrat"/>
              <a:sym typeface="Montserrat"/>
            </a:endParaRPr>
          </a:p>
          <a:p>
            <a:pPr marL="0" marR="0" lvl="0" indent="0" algn="l" rtl="0">
              <a:lnSpc>
                <a:spcPct val="150000"/>
              </a:lnSpc>
              <a:spcBef>
                <a:spcPts val="0"/>
              </a:spcBef>
              <a:spcAft>
                <a:spcPts val="0"/>
              </a:spcAft>
              <a:buNone/>
            </a:pPr>
            <a:r>
              <a:rPr lang="fr-FR" sz="2400" b="1" i="0" u="none" strike="noStrike" cap="none">
                <a:solidFill>
                  <a:srgbClr val="2E2E2E"/>
                </a:solidFill>
                <a:latin typeface="Montserrat"/>
                <a:ea typeface="Montserrat"/>
                <a:cs typeface="Montserrat"/>
                <a:sym typeface="Montserrat"/>
              </a:rPr>
              <a:t>Élaboration d'un Tableau de Bord de Performance :</a:t>
            </a:r>
            <a:endParaRPr/>
          </a:p>
          <a:p>
            <a:pPr marL="342900" marR="0" lvl="0" indent="-342900" algn="l" rtl="0">
              <a:lnSpc>
                <a:spcPct val="150000"/>
              </a:lnSpc>
              <a:spcBef>
                <a:spcPts val="0"/>
              </a:spcBef>
              <a:spcAft>
                <a:spcPts val="0"/>
              </a:spcAft>
              <a:buClr>
                <a:srgbClr val="2E2E2E"/>
              </a:buClr>
              <a:buSzPts val="2400"/>
              <a:buFont typeface="Arial"/>
              <a:buChar char="•"/>
            </a:pPr>
            <a:r>
              <a:rPr lang="fr-FR" sz="2400" b="0" i="0" u="none" strike="noStrike" cap="none">
                <a:solidFill>
                  <a:srgbClr val="2E2E2E"/>
                </a:solidFill>
                <a:latin typeface="Montserrat"/>
                <a:ea typeface="Montserrat"/>
                <a:cs typeface="Montserrat"/>
                <a:sym typeface="Montserrat"/>
              </a:rPr>
              <a:t>Conception &amp; Développement d'un tableau de bord interactif sous Power BI.</a:t>
            </a:r>
            <a:endParaRPr/>
          </a:p>
          <a:p>
            <a:pPr marL="342900" marR="0" lvl="0" indent="-342900" algn="l" rtl="0">
              <a:lnSpc>
                <a:spcPct val="150000"/>
              </a:lnSpc>
              <a:spcBef>
                <a:spcPts val="0"/>
              </a:spcBef>
              <a:spcAft>
                <a:spcPts val="0"/>
              </a:spcAft>
              <a:buClr>
                <a:srgbClr val="2E2E2E"/>
              </a:buClr>
              <a:buSzPts val="2400"/>
              <a:buFont typeface="Arial"/>
              <a:buChar char="•"/>
            </a:pPr>
            <a:r>
              <a:rPr lang="fr-FR" sz="2400" b="0" i="0" u="none" strike="noStrike" cap="none">
                <a:solidFill>
                  <a:srgbClr val="2E2E2E"/>
                </a:solidFill>
                <a:latin typeface="Montserrat"/>
                <a:ea typeface="Montserrat"/>
                <a:cs typeface="Montserrat"/>
                <a:sym typeface="Montserrat"/>
              </a:rPr>
              <a:t>Visualisation Intuitive &amp; Temps Quasi Réel </a:t>
            </a:r>
            <a:endParaRPr/>
          </a:p>
          <a:p>
            <a:pPr marL="342900" marR="0" lvl="0" indent="-342900" algn="l" rtl="0">
              <a:lnSpc>
                <a:spcPct val="150000"/>
              </a:lnSpc>
              <a:spcBef>
                <a:spcPts val="0"/>
              </a:spcBef>
              <a:spcAft>
                <a:spcPts val="0"/>
              </a:spcAft>
              <a:buClr>
                <a:srgbClr val="2E2E2E"/>
              </a:buClr>
              <a:buSzPts val="2400"/>
              <a:buFont typeface="Arial"/>
              <a:buChar char="•"/>
            </a:pPr>
            <a:r>
              <a:rPr lang="fr-FR" sz="2400" b="0" i="0" u="none" strike="noStrike" cap="none">
                <a:solidFill>
                  <a:srgbClr val="2E2E2E"/>
                </a:solidFill>
                <a:latin typeface="Montserrat"/>
                <a:ea typeface="Montserrat"/>
                <a:cs typeface="Montserrat"/>
                <a:sym typeface="Montserrat"/>
              </a:rPr>
              <a:t>Analyse Approfondie et détaillée des performances opérationnelles, de la maintenance, et du cycle de production</a:t>
            </a:r>
            <a:endParaRPr/>
          </a:p>
        </p:txBody>
      </p:sp>
      <p:sp>
        <p:nvSpPr>
          <p:cNvPr id="288" name="Google Shape;288;p16"/>
          <p:cNvSpPr txBox="1"/>
          <p:nvPr/>
        </p:nvSpPr>
        <p:spPr>
          <a:xfrm>
            <a:off x="2095500" y="255195"/>
            <a:ext cx="14097000" cy="999954"/>
          </a:xfrm>
          <a:prstGeom prst="rect">
            <a:avLst/>
          </a:prstGeom>
          <a:noFill/>
          <a:ln>
            <a:noFill/>
          </a:ln>
        </p:spPr>
        <p:txBody>
          <a:bodyPr spcFirstLastPara="1" wrap="square" lIns="0" tIns="0" rIns="0" bIns="0" anchor="t" anchorCtr="0">
            <a:spAutoFit/>
          </a:bodyPr>
          <a:lstStyle/>
          <a:p>
            <a:pPr marL="0" marR="0" lvl="0" indent="0" algn="ctr" rtl="0">
              <a:lnSpc>
                <a:spcPct val="166666"/>
              </a:lnSpc>
              <a:spcBef>
                <a:spcPts val="0"/>
              </a:spcBef>
              <a:spcAft>
                <a:spcPts val="0"/>
              </a:spcAft>
              <a:buNone/>
            </a:pPr>
            <a:r>
              <a:rPr lang="fr-FR" sz="5400" b="1" i="0" u="none" strike="noStrike" cap="none">
                <a:solidFill>
                  <a:srgbClr val="004AAD"/>
                </a:solidFill>
                <a:latin typeface="Montserrat"/>
                <a:ea typeface="Montserrat"/>
                <a:cs typeface="Montserrat"/>
                <a:sym typeface="Montserrat"/>
              </a:rPr>
              <a:t>Solution Proposée </a:t>
            </a:r>
            <a:endParaRPr sz="5400" b="1" i="0" u="none" strike="noStrike" cap="none">
              <a:solidFill>
                <a:srgbClr val="004AAD"/>
              </a:solidFill>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17"/>
          <p:cNvSpPr txBox="1"/>
          <p:nvPr/>
        </p:nvSpPr>
        <p:spPr>
          <a:xfrm>
            <a:off x="3026229" y="319120"/>
            <a:ext cx="12302440" cy="999954"/>
          </a:xfrm>
          <a:prstGeom prst="rect">
            <a:avLst/>
          </a:prstGeom>
          <a:noFill/>
          <a:ln>
            <a:noFill/>
          </a:ln>
        </p:spPr>
        <p:txBody>
          <a:bodyPr spcFirstLastPara="1" wrap="square" lIns="0" tIns="0" rIns="0" bIns="0" anchor="t" anchorCtr="0">
            <a:spAutoFit/>
          </a:bodyPr>
          <a:lstStyle/>
          <a:p>
            <a:pPr marL="0" marR="0" lvl="0" indent="0" algn="l" rtl="0">
              <a:lnSpc>
                <a:spcPct val="166666"/>
              </a:lnSpc>
              <a:spcBef>
                <a:spcPts val="0"/>
              </a:spcBef>
              <a:spcAft>
                <a:spcPts val="0"/>
              </a:spcAft>
              <a:buNone/>
            </a:pPr>
            <a:endParaRPr sz="5400" b="1" i="0" u="none" strike="noStrike" cap="none">
              <a:solidFill>
                <a:srgbClr val="004AAD"/>
              </a:solidFill>
              <a:latin typeface="Montserrat"/>
              <a:ea typeface="Montserrat"/>
              <a:cs typeface="Montserrat"/>
              <a:sym typeface="Montserrat"/>
            </a:endParaRPr>
          </a:p>
        </p:txBody>
      </p:sp>
      <p:sp>
        <p:nvSpPr>
          <p:cNvPr id="294" name="Google Shape;294;p17"/>
          <p:cNvSpPr txBox="1"/>
          <p:nvPr/>
        </p:nvSpPr>
        <p:spPr>
          <a:xfrm>
            <a:off x="2247900" y="407595"/>
            <a:ext cx="14097000" cy="999954"/>
          </a:xfrm>
          <a:prstGeom prst="rect">
            <a:avLst/>
          </a:prstGeom>
          <a:noFill/>
          <a:ln>
            <a:noFill/>
          </a:ln>
        </p:spPr>
        <p:txBody>
          <a:bodyPr spcFirstLastPara="1" wrap="square" lIns="0" tIns="0" rIns="0" bIns="0" anchor="t" anchorCtr="0">
            <a:spAutoFit/>
          </a:bodyPr>
          <a:lstStyle/>
          <a:p>
            <a:pPr marL="0" marR="0" lvl="0" indent="0" algn="ctr" rtl="0">
              <a:lnSpc>
                <a:spcPct val="166666"/>
              </a:lnSpc>
              <a:spcBef>
                <a:spcPts val="0"/>
              </a:spcBef>
              <a:spcAft>
                <a:spcPts val="0"/>
              </a:spcAft>
              <a:buNone/>
            </a:pPr>
            <a:r>
              <a:rPr lang="fr-FR" sz="5400" b="1" i="0" u="none" strike="noStrike" cap="none">
                <a:solidFill>
                  <a:srgbClr val="004AAD"/>
                </a:solidFill>
                <a:latin typeface="Montserrat"/>
                <a:ea typeface="Montserrat"/>
                <a:cs typeface="Montserrat"/>
                <a:sym typeface="Montserrat"/>
              </a:rPr>
              <a:t>Solution Proposée </a:t>
            </a:r>
            <a:endParaRPr sz="5400" b="1" i="0" u="none" strike="noStrike" cap="none">
              <a:solidFill>
                <a:srgbClr val="004AAD"/>
              </a:solidFill>
              <a:latin typeface="Montserrat"/>
              <a:ea typeface="Montserrat"/>
              <a:cs typeface="Montserrat"/>
              <a:sym typeface="Montserrat"/>
            </a:endParaRPr>
          </a:p>
        </p:txBody>
      </p:sp>
      <p:grpSp>
        <p:nvGrpSpPr>
          <p:cNvPr id="295" name="Google Shape;295;p17"/>
          <p:cNvGrpSpPr/>
          <p:nvPr/>
        </p:nvGrpSpPr>
        <p:grpSpPr>
          <a:xfrm>
            <a:off x="0" y="1845443"/>
            <a:ext cx="18288000" cy="7641457"/>
            <a:chOff x="0" y="2645543"/>
            <a:chExt cx="18288000" cy="7641457"/>
          </a:xfrm>
        </p:grpSpPr>
        <p:pic>
          <p:nvPicPr>
            <p:cNvPr id="296" name="Google Shape;296;p17"/>
            <p:cNvPicPr preferRelativeResize="0"/>
            <p:nvPr/>
          </p:nvPicPr>
          <p:blipFill rotWithShape="1">
            <a:blip r:embed="rId3">
              <a:alphaModFix/>
            </a:blip>
            <a:srcRect/>
            <a:stretch/>
          </p:blipFill>
          <p:spPr>
            <a:xfrm>
              <a:off x="0" y="2645543"/>
              <a:ext cx="18288000" cy="7641457"/>
            </a:xfrm>
            <a:prstGeom prst="rect">
              <a:avLst/>
            </a:prstGeom>
            <a:noFill/>
            <a:ln>
              <a:noFill/>
            </a:ln>
          </p:spPr>
        </p:pic>
        <p:pic>
          <p:nvPicPr>
            <p:cNvPr id="297" name="Google Shape;297;p17" descr="Microsoft Excel Logo transparent PNG - StickPNG"/>
            <p:cNvPicPr preferRelativeResize="0"/>
            <p:nvPr/>
          </p:nvPicPr>
          <p:blipFill rotWithShape="1">
            <a:blip r:embed="rId4">
              <a:alphaModFix/>
            </a:blip>
            <a:srcRect/>
            <a:stretch/>
          </p:blipFill>
          <p:spPr>
            <a:xfrm>
              <a:off x="225378" y="5733925"/>
              <a:ext cx="1597078" cy="995362"/>
            </a:xfrm>
            <a:prstGeom prst="rect">
              <a:avLst/>
            </a:prstGeom>
            <a:noFill/>
            <a:ln>
              <a:noFill/>
            </a:ln>
          </p:spPr>
        </p:pic>
        <p:pic>
          <p:nvPicPr>
            <p:cNvPr id="298" name="Google Shape;298;p17" descr="SQL Server Management Studio (SSMS) version 18.10 is released"/>
            <p:cNvPicPr preferRelativeResize="0"/>
            <p:nvPr/>
          </p:nvPicPr>
          <p:blipFill rotWithShape="1">
            <a:blip r:embed="rId5">
              <a:alphaModFix/>
            </a:blip>
            <a:srcRect l="24235" r="17431"/>
            <a:stretch/>
          </p:blipFill>
          <p:spPr>
            <a:xfrm>
              <a:off x="4609764" y="4863031"/>
              <a:ext cx="1828800" cy="1763486"/>
            </a:xfrm>
            <a:prstGeom prst="rect">
              <a:avLst/>
            </a:prstGeom>
            <a:noFill/>
            <a:ln>
              <a:noFill/>
            </a:ln>
          </p:spPr>
        </p:pic>
        <p:pic>
          <p:nvPicPr>
            <p:cNvPr id="299" name="Google Shape;299;p17" descr="Sql Database Icon Png"/>
            <p:cNvPicPr preferRelativeResize="0"/>
            <p:nvPr/>
          </p:nvPicPr>
          <p:blipFill rotWithShape="1">
            <a:blip r:embed="rId6">
              <a:alphaModFix/>
            </a:blip>
            <a:srcRect/>
            <a:stretch/>
          </p:blipFill>
          <p:spPr>
            <a:xfrm>
              <a:off x="8120883" y="7091827"/>
              <a:ext cx="1175517" cy="1234561"/>
            </a:xfrm>
            <a:prstGeom prst="rect">
              <a:avLst/>
            </a:prstGeom>
            <a:noFill/>
            <a:ln>
              <a:noFill/>
            </a:ln>
          </p:spPr>
        </p:pic>
        <p:pic>
          <p:nvPicPr>
            <p:cNvPr id="300" name="Google Shape;300;p17" descr="Macros, spreadsheet, vba icon - Download on Iconfinder"/>
            <p:cNvPicPr preferRelativeResize="0"/>
            <p:nvPr/>
          </p:nvPicPr>
          <p:blipFill rotWithShape="1">
            <a:blip r:embed="rId7">
              <a:alphaModFix/>
            </a:blip>
            <a:srcRect/>
            <a:stretch/>
          </p:blipFill>
          <p:spPr>
            <a:xfrm>
              <a:off x="2122433" y="5626563"/>
              <a:ext cx="1222322" cy="1222322"/>
            </a:xfrm>
            <a:prstGeom prst="rect">
              <a:avLst/>
            </a:prstGeom>
            <a:noFill/>
            <a:ln>
              <a:noFill/>
            </a:ln>
          </p:spPr>
        </p:pic>
        <p:sp>
          <p:nvSpPr>
            <p:cNvPr id="301" name="Google Shape;301;p17"/>
            <p:cNvSpPr txBox="1"/>
            <p:nvPr/>
          </p:nvSpPr>
          <p:spPr>
            <a:xfrm>
              <a:off x="9029700" y="6962946"/>
              <a:ext cx="533400" cy="999954"/>
            </a:xfrm>
            <a:prstGeom prst="rect">
              <a:avLst/>
            </a:prstGeom>
            <a:noFill/>
            <a:ln>
              <a:noFill/>
            </a:ln>
          </p:spPr>
          <p:txBody>
            <a:bodyPr spcFirstLastPara="1" wrap="square" lIns="0" tIns="0" rIns="0" bIns="0" anchor="t" anchorCtr="0">
              <a:spAutoFit/>
            </a:bodyPr>
            <a:lstStyle/>
            <a:p>
              <a:pPr marL="0" marR="0" lvl="0" indent="0" algn="ctr" rtl="0">
                <a:lnSpc>
                  <a:spcPct val="166666"/>
                </a:lnSpc>
                <a:spcBef>
                  <a:spcPts val="0"/>
                </a:spcBef>
                <a:spcAft>
                  <a:spcPts val="0"/>
                </a:spcAft>
                <a:buNone/>
              </a:pPr>
              <a:r>
                <a:rPr lang="fr-FR" sz="5400" b="1" i="0" u="none" strike="noStrike" cap="none">
                  <a:solidFill>
                    <a:schemeClr val="dk1"/>
                  </a:solidFill>
                  <a:latin typeface="Montserrat"/>
                  <a:ea typeface="Montserrat"/>
                  <a:cs typeface="Montserrat"/>
                  <a:sym typeface="Montserrat"/>
                </a:rPr>
                <a:t>+</a:t>
              </a:r>
              <a:endParaRPr sz="5400" b="1" i="0" u="none" strike="noStrike" cap="none">
                <a:solidFill>
                  <a:schemeClr val="dk1"/>
                </a:solidFill>
                <a:latin typeface="Montserrat"/>
                <a:ea typeface="Montserrat"/>
                <a:cs typeface="Montserrat"/>
                <a:sym typeface="Montserrat"/>
              </a:endParaRPr>
            </a:p>
          </p:txBody>
        </p:sp>
        <p:pic>
          <p:nvPicPr>
            <p:cNvPr id="302" name="Google Shape;302;p17" descr="Sql - Free electronics icons"/>
            <p:cNvPicPr preferRelativeResize="0"/>
            <p:nvPr/>
          </p:nvPicPr>
          <p:blipFill rotWithShape="1">
            <a:blip r:embed="rId8">
              <a:alphaModFix/>
            </a:blip>
            <a:srcRect/>
            <a:stretch/>
          </p:blipFill>
          <p:spPr>
            <a:xfrm>
              <a:off x="9563100" y="7186358"/>
              <a:ext cx="1045497" cy="1045497"/>
            </a:xfrm>
            <a:prstGeom prst="rect">
              <a:avLst/>
            </a:prstGeom>
            <a:noFill/>
            <a:ln>
              <a:noFill/>
            </a:ln>
          </p:spPr>
        </p:pic>
        <p:sp>
          <p:nvSpPr>
            <p:cNvPr id="303" name="Google Shape;303;p17"/>
            <p:cNvSpPr txBox="1"/>
            <p:nvPr/>
          </p:nvSpPr>
          <p:spPr>
            <a:xfrm>
              <a:off x="1705745" y="5626563"/>
              <a:ext cx="533400" cy="999954"/>
            </a:xfrm>
            <a:prstGeom prst="rect">
              <a:avLst/>
            </a:prstGeom>
            <a:noFill/>
            <a:ln>
              <a:noFill/>
            </a:ln>
          </p:spPr>
          <p:txBody>
            <a:bodyPr spcFirstLastPara="1" wrap="square" lIns="0" tIns="0" rIns="0" bIns="0" anchor="t" anchorCtr="0">
              <a:spAutoFit/>
            </a:bodyPr>
            <a:lstStyle/>
            <a:p>
              <a:pPr marL="0" marR="0" lvl="0" indent="0" algn="ctr" rtl="0">
                <a:lnSpc>
                  <a:spcPct val="166666"/>
                </a:lnSpc>
                <a:spcBef>
                  <a:spcPts val="0"/>
                </a:spcBef>
                <a:spcAft>
                  <a:spcPts val="0"/>
                </a:spcAft>
                <a:buNone/>
              </a:pPr>
              <a:r>
                <a:rPr lang="fr-FR" sz="5400" b="1" i="0" u="none" strike="noStrike" cap="none">
                  <a:solidFill>
                    <a:schemeClr val="dk1"/>
                  </a:solidFill>
                  <a:latin typeface="Montserrat"/>
                  <a:ea typeface="Montserrat"/>
                  <a:cs typeface="Montserrat"/>
                  <a:sym typeface="Montserrat"/>
                </a:rPr>
                <a:t>+</a:t>
              </a:r>
              <a:endParaRPr sz="5400" b="1" i="0" u="none" strike="noStrike" cap="none">
                <a:solidFill>
                  <a:schemeClr val="dk1"/>
                </a:solidFill>
                <a:latin typeface="Montserrat"/>
                <a:ea typeface="Montserrat"/>
                <a:cs typeface="Montserrat"/>
                <a:sym typeface="Montserrat"/>
              </a:endParaRPr>
            </a:p>
          </p:txBody>
        </p:sp>
        <p:pic>
          <p:nvPicPr>
            <p:cNvPr id="304" name="Google Shape;304;p17" descr="Power bl - Free logo icons"/>
            <p:cNvPicPr preferRelativeResize="0"/>
            <p:nvPr/>
          </p:nvPicPr>
          <p:blipFill rotWithShape="1">
            <a:blip r:embed="rId9">
              <a:alphaModFix/>
            </a:blip>
            <a:srcRect/>
            <a:stretch/>
          </p:blipFill>
          <p:spPr>
            <a:xfrm>
              <a:off x="12419304" y="5093444"/>
              <a:ext cx="1238350" cy="1238350"/>
            </a:xfrm>
            <a:prstGeom prst="rect">
              <a:avLst/>
            </a:prstGeom>
            <a:noFill/>
            <a:ln>
              <a:noFill/>
            </a:ln>
          </p:spPr>
        </p:pic>
        <p:sp>
          <p:nvSpPr>
            <p:cNvPr id="305" name="Google Shape;305;p17" descr="Power BI Icon Logo PNG Vector (SVG) Free Download"/>
            <p:cNvSpPr/>
            <p:nvPr/>
          </p:nvSpPr>
          <p:spPr>
            <a:xfrm>
              <a:off x="8991600" y="499110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306" name="Google Shape;306;p17" descr="Microsoft Power BI logo in PNG and vector formats (EPS, SVG)"/>
            <p:cNvPicPr preferRelativeResize="0"/>
            <p:nvPr/>
          </p:nvPicPr>
          <p:blipFill rotWithShape="1">
            <a:blip r:embed="rId10">
              <a:alphaModFix/>
            </a:blip>
            <a:srcRect/>
            <a:stretch/>
          </p:blipFill>
          <p:spPr>
            <a:xfrm>
              <a:off x="15869673" y="4718552"/>
              <a:ext cx="1238350" cy="1613241"/>
            </a:xfrm>
            <a:prstGeom prst="rect">
              <a:avLst/>
            </a:prstGeom>
            <a:noFill/>
            <a:ln>
              <a:noFill/>
            </a:ln>
          </p:spPr>
        </p:pic>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18"/>
          <p:cNvSpPr/>
          <p:nvPr/>
        </p:nvSpPr>
        <p:spPr>
          <a:xfrm rot="-6664043">
            <a:off x="998515" y="-258785"/>
            <a:ext cx="11511802" cy="11511802"/>
          </a:xfrm>
          <a:custGeom>
            <a:avLst/>
            <a:gdLst/>
            <a:ahLst/>
            <a:cxnLst/>
            <a:rect l="l" t="t" r="r" b="b"/>
            <a:pathLst>
              <a:path w="11511802" h="11511802" extrusionOk="0">
                <a:moveTo>
                  <a:pt x="0" y="0"/>
                </a:moveTo>
                <a:lnTo>
                  <a:pt x="11511802" y="0"/>
                </a:lnTo>
                <a:lnTo>
                  <a:pt x="11511802" y="11511802"/>
                </a:lnTo>
                <a:lnTo>
                  <a:pt x="0" y="11511802"/>
                </a:lnTo>
                <a:lnTo>
                  <a:pt x="0" y="0"/>
                </a:lnTo>
                <a:close/>
              </a:path>
            </a:pathLst>
          </a:custGeom>
          <a:blipFill rotWithShape="1">
            <a:blip r:embed="rId3">
              <a:alphaModFix amt="40000"/>
            </a:blip>
            <a:stretch>
              <a:fillRect/>
            </a:stretch>
          </a:blipFill>
          <a:ln>
            <a:noFill/>
          </a:ln>
        </p:spPr>
      </p:sp>
      <p:sp>
        <p:nvSpPr>
          <p:cNvPr id="312" name="Google Shape;312;p18"/>
          <p:cNvSpPr/>
          <p:nvPr/>
        </p:nvSpPr>
        <p:spPr>
          <a:xfrm rot="1505868">
            <a:off x="3567371" y="2601216"/>
            <a:ext cx="12580534" cy="8680686"/>
          </a:xfrm>
          <a:custGeom>
            <a:avLst/>
            <a:gdLst/>
            <a:ahLst/>
            <a:cxnLst/>
            <a:rect l="l" t="t" r="r" b="b"/>
            <a:pathLst>
              <a:path w="12580534" h="8680686" extrusionOk="0">
                <a:moveTo>
                  <a:pt x="0" y="0"/>
                </a:moveTo>
                <a:lnTo>
                  <a:pt x="12580534" y="0"/>
                </a:lnTo>
                <a:lnTo>
                  <a:pt x="12580534" y="8680686"/>
                </a:lnTo>
                <a:lnTo>
                  <a:pt x="0" y="8680686"/>
                </a:lnTo>
                <a:lnTo>
                  <a:pt x="0" y="0"/>
                </a:lnTo>
                <a:close/>
              </a:path>
            </a:pathLst>
          </a:custGeom>
          <a:blipFill rotWithShape="1">
            <a:blip r:embed="rId4">
              <a:alphaModFix amt="50000"/>
            </a:blip>
            <a:stretch>
              <a:fillRect/>
            </a:stretch>
          </a:blipFill>
          <a:ln>
            <a:noFill/>
          </a:ln>
        </p:spPr>
      </p:sp>
      <p:sp>
        <p:nvSpPr>
          <p:cNvPr id="313" name="Google Shape;313;p18"/>
          <p:cNvSpPr txBox="1"/>
          <p:nvPr/>
        </p:nvSpPr>
        <p:spPr>
          <a:xfrm>
            <a:off x="2590800" y="3243486"/>
            <a:ext cx="14042231" cy="2198935"/>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None/>
            </a:pPr>
            <a:r>
              <a:rPr lang="fr-FR" sz="7200" b="1">
                <a:solidFill>
                  <a:srgbClr val="004AAD"/>
                </a:solidFill>
                <a:latin typeface="Montserrat"/>
                <a:ea typeface="Montserrat"/>
                <a:cs typeface="Montserrat"/>
                <a:sym typeface="Montserrat"/>
              </a:rPr>
              <a:t>Processus de Mise en place de système de traçabilité</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19"/>
          <p:cNvSpPr/>
          <p:nvPr/>
        </p:nvSpPr>
        <p:spPr>
          <a:xfrm rot="-6664043">
            <a:off x="519355" y="-1838608"/>
            <a:ext cx="13624687" cy="13964216"/>
          </a:xfrm>
          <a:custGeom>
            <a:avLst/>
            <a:gdLst/>
            <a:ahLst/>
            <a:cxnLst/>
            <a:rect l="l" t="t" r="r" b="b"/>
            <a:pathLst>
              <a:path w="11511802" h="11511802" extrusionOk="0">
                <a:moveTo>
                  <a:pt x="0" y="0"/>
                </a:moveTo>
                <a:lnTo>
                  <a:pt x="11511802" y="0"/>
                </a:lnTo>
                <a:lnTo>
                  <a:pt x="11511802" y="11511802"/>
                </a:lnTo>
                <a:lnTo>
                  <a:pt x="0" y="11511802"/>
                </a:lnTo>
                <a:lnTo>
                  <a:pt x="0" y="0"/>
                </a:lnTo>
                <a:close/>
              </a:path>
            </a:pathLst>
          </a:custGeom>
          <a:blipFill rotWithShape="1">
            <a:blip r:embed="rId3">
              <a:alphaModFix amt="40000"/>
            </a:blip>
            <a:stretch>
              <a:fillRect/>
            </a:stretch>
          </a:blipFill>
          <a:ln>
            <a:noFill/>
          </a:ln>
        </p:spPr>
      </p:sp>
      <p:sp>
        <p:nvSpPr>
          <p:cNvPr id="320" name="Google Shape;320;p19"/>
          <p:cNvSpPr/>
          <p:nvPr/>
        </p:nvSpPr>
        <p:spPr>
          <a:xfrm rot="1505868">
            <a:off x="4218925" y="2601217"/>
            <a:ext cx="12580534" cy="8680686"/>
          </a:xfrm>
          <a:custGeom>
            <a:avLst/>
            <a:gdLst/>
            <a:ahLst/>
            <a:cxnLst/>
            <a:rect l="l" t="t" r="r" b="b"/>
            <a:pathLst>
              <a:path w="12580534" h="8680686" extrusionOk="0">
                <a:moveTo>
                  <a:pt x="0" y="0"/>
                </a:moveTo>
                <a:lnTo>
                  <a:pt x="12580534" y="0"/>
                </a:lnTo>
                <a:lnTo>
                  <a:pt x="12580534" y="8680686"/>
                </a:lnTo>
                <a:lnTo>
                  <a:pt x="0" y="8680686"/>
                </a:lnTo>
                <a:lnTo>
                  <a:pt x="0" y="0"/>
                </a:lnTo>
                <a:close/>
              </a:path>
            </a:pathLst>
          </a:custGeom>
          <a:blipFill rotWithShape="1">
            <a:blip r:embed="rId4">
              <a:alphaModFix amt="50000"/>
            </a:blip>
            <a:stretch>
              <a:fillRect/>
            </a:stretch>
          </a:blipFill>
          <a:ln>
            <a:noFill/>
          </a:ln>
        </p:spPr>
      </p:sp>
      <p:sp>
        <p:nvSpPr>
          <p:cNvPr id="321" name="Google Shape;321;p19"/>
          <p:cNvSpPr txBox="1"/>
          <p:nvPr/>
        </p:nvSpPr>
        <p:spPr>
          <a:xfrm>
            <a:off x="1992086" y="3140576"/>
            <a:ext cx="14042231" cy="999954"/>
          </a:xfrm>
          <a:prstGeom prst="rect">
            <a:avLst/>
          </a:prstGeom>
          <a:noFill/>
          <a:ln>
            <a:noFill/>
          </a:ln>
        </p:spPr>
        <p:txBody>
          <a:bodyPr spcFirstLastPara="1" wrap="square" lIns="0" tIns="0" rIns="0" bIns="0" anchor="t" anchorCtr="0">
            <a:spAutoFit/>
          </a:bodyPr>
          <a:lstStyle/>
          <a:p>
            <a:pPr marL="0" marR="0" lvl="0" indent="0" algn="l" rtl="0">
              <a:lnSpc>
                <a:spcPct val="166666"/>
              </a:lnSpc>
              <a:spcBef>
                <a:spcPts val="0"/>
              </a:spcBef>
              <a:spcAft>
                <a:spcPts val="0"/>
              </a:spcAft>
              <a:buNone/>
            </a:pPr>
            <a:r>
              <a:rPr lang="fr-FR" sz="5400" b="1">
                <a:solidFill>
                  <a:srgbClr val="FF0000"/>
                </a:solidFill>
                <a:latin typeface="Montserrat"/>
                <a:ea typeface="Montserrat"/>
                <a:cs typeface="Montserrat"/>
                <a:sym typeface="Montserrat"/>
              </a:rPr>
              <a:t>Phase 1 : Collection des données</a:t>
            </a:r>
            <a:endParaRPr sz="5400" b="1">
              <a:solidFill>
                <a:srgbClr val="FF0000"/>
              </a:solidFill>
              <a:latin typeface="Montserrat"/>
              <a:ea typeface="Montserrat"/>
              <a:cs typeface="Montserrat"/>
              <a:sym typeface="Montserrat"/>
            </a:endParaRPr>
          </a:p>
        </p:txBody>
      </p:sp>
      <p:sp>
        <p:nvSpPr>
          <p:cNvPr id="322" name="Google Shape;322;p19"/>
          <p:cNvSpPr txBox="1"/>
          <p:nvPr/>
        </p:nvSpPr>
        <p:spPr>
          <a:xfrm>
            <a:off x="3831771" y="4243440"/>
            <a:ext cx="14042231" cy="3263522"/>
          </a:xfrm>
          <a:prstGeom prst="rect">
            <a:avLst/>
          </a:prstGeom>
          <a:noFill/>
          <a:ln>
            <a:noFill/>
          </a:ln>
        </p:spPr>
        <p:txBody>
          <a:bodyPr spcFirstLastPara="1" wrap="square" lIns="0" tIns="0" rIns="0" bIns="0" anchor="t" anchorCtr="0">
            <a:spAutoFit/>
          </a:bodyPr>
          <a:lstStyle/>
          <a:p>
            <a:pPr marL="742950" marR="0" lvl="0" indent="-742950" algn="l" rtl="0">
              <a:lnSpc>
                <a:spcPct val="250000"/>
              </a:lnSpc>
              <a:spcBef>
                <a:spcPts val="0"/>
              </a:spcBef>
              <a:spcAft>
                <a:spcPts val="0"/>
              </a:spcAft>
              <a:buClr>
                <a:srgbClr val="004AAD"/>
              </a:buClr>
              <a:buSzPts val="3600"/>
              <a:buFont typeface="Calibri"/>
              <a:buAutoNum type="arabicPeriod"/>
            </a:pPr>
            <a:r>
              <a:rPr lang="fr-FR" sz="3600" b="1">
                <a:solidFill>
                  <a:srgbClr val="004AAD"/>
                </a:solidFill>
                <a:latin typeface="Montserrat"/>
                <a:ea typeface="Montserrat"/>
                <a:cs typeface="Montserrat"/>
                <a:sym typeface="Montserrat"/>
              </a:rPr>
              <a:t>Méthodologie adopté pour la collection des données</a:t>
            </a:r>
            <a:endParaRPr/>
          </a:p>
          <a:p>
            <a:pPr marL="742950" marR="0" lvl="0" indent="-742950" algn="l" rtl="0">
              <a:lnSpc>
                <a:spcPct val="250000"/>
              </a:lnSpc>
              <a:spcBef>
                <a:spcPts val="0"/>
              </a:spcBef>
              <a:spcAft>
                <a:spcPts val="0"/>
              </a:spcAft>
              <a:buClr>
                <a:srgbClr val="004AAD"/>
              </a:buClr>
              <a:buSzPts val="3600"/>
              <a:buFont typeface="Calibri"/>
              <a:buAutoNum type="arabicPeriod"/>
            </a:pPr>
            <a:r>
              <a:rPr lang="fr-FR" sz="3600" b="1">
                <a:solidFill>
                  <a:srgbClr val="004AAD"/>
                </a:solidFill>
                <a:latin typeface="Montserrat"/>
                <a:ea typeface="Montserrat"/>
                <a:cs typeface="Montserrat"/>
                <a:sym typeface="Montserrat"/>
              </a:rPr>
              <a:t>Type des données collecté</a:t>
            </a:r>
            <a:endParaRPr/>
          </a:p>
          <a:p>
            <a:pPr marL="742950" marR="0" lvl="0" indent="-742950" algn="l" rtl="0">
              <a:lnSpc>
                <a:spcPct val="250000"/>
              </a:lnSpc>
              <a:spcBef>
                <a:spcPts val="0"/>
              </a:spcBef>
              <a:spcAft>
                <a:spcPts val="0"/>
              </a:spcAft>
              <a:buClr>
                <a:srgbClr val="004AAD"/>
              </a:buClr>
              <a:buSzPts val="3600"/>
              <a:buFont typeface="Calibri"/>
              <a:buAutoNum type="arabicPeriod"/>
            </a:pPr>
            <a:r>
              <a:rPr lang="fr-FR" sz="3600" b="1">
                <a:solidFill>
                  <a:srgbClr val="004AAD"/>
                </a:solidFill>
                <a:latin typeface="Montserrat"/>
                <a:ea typeface="Montserrat"/>
                <a:cs typeface="Montserrat"/>
                <a:sym typeface="Montserrat"/>
              </a:rPr>
              <a:t>Méthode adopté pour la collection des données</a:t>
            </a:r>
            <a:endParaRPr sz="3600" b="1">
              <a:solidFill>
                <a:srgbClr val="004AAD"/>
              </a:solidFill>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20"/>
          <p:cNvSpPr txBox="1"/>
          <p:nvPr/>
        </p:nvSpPr>
        <p:spPr>
          <a:xfrm>
            <a:off x="3026229" y="319120"/>
            <a:ext cx="12302440" cy="999954"/>
          </a:xfrm>
          <a:prstGeom prst="rect">
            <a:avLst/>
          </a:prstGeom>
          <a:noFill/>
          <a:ln>
            <a:noFill/>
          </a:ln>
        </p:spPr>
        <p:txBody>
          <a:bodyPr spcFirstLastPara="1" wrap="square" lIns="0" tIns="0" rIns="0" bIns="0" anchor="t" anchorCtr="0">
            <a:spAutoFit/>
          </a:bodyPr>
          <a:lstStyle/>
          <a:p>
            <a:pPr marL="0" marR="0" lvl="0" indent="0" algn="l" rtl="0">
              <a:lnSpc>
                <a:spcPct val="166666"/>
              </a:lnSpc>
              <a:spcBef>
                <a:spcPts val="0"/>
              </a:spcBef>
              <a:spcAft>
                <a:spcPts val="0"/>
              </a:spcAft>
              <a:buNone/>
            </a:pPr>
            <a:endParaRPr sz="5400" b="1">
              <a:solidFill>
                <a:srgbClr val="004AAD"/>
              </a:solidFill>
              <a:latin typeface="Montserrat"/>
              <a:ea typeface="Montserrat"/>
              <a:cs typeface="Montserrat"/>
              <a:sym typeface="Montserrat"/>
            </a:endParaRPr>
          </a:p>
        </p:txBody>
      </p:sp>
      <p:sp>
        <p:nvSpPr>
          <p:cNvPr id="328" name="Google Shape;328;p20"/>
          <p:cNvSpPr txBox="1"/>
          <p:nvPr/>
        </p:nvSpPr>
        <p:spPr>
          <a:xfrm>
            <a:off x="1847034" y="-15410"/>
            <a:ext cx="14097000" cy="965136"/>
          </a:xfrm>
          <a:prstGeom prst="rect">
            <a:avLst/>
          </a:prstGeom>
          <a:noFill/>
          <a:ln>
            <a:noFill/>
          </a:ln>
        </p:spPr>
        <p:txBody>
          <a:bodyPr spcFirstLastPara="1" wrap="square" lIns="0" tIns="0" rIns="0" bIns="0" anchor="t" anchorCtr="0">
            <a:spAutoFit/>
          </a:bodyPr>
          <a:lstStyle/>
          <a:p>
            <a:pPr marL="0" marR="0" lvl="0" indent="0" algn="ctr" rtl="0">
              <a:lnSpc>
                <a:spcPct val="225000"/>
              </a:lnSpc>
              <a:spcBef>
                <a:spcPts val="0"/>
              </a:spcBef>
              <a:spcAft>
                <a:spcPts val="0"/>
              </a:spcAft>
              <a:buNone/>
            </a:pPr>
            <a:r>
              <a:rPr lang="fr-FR" sz="4000" b="1">
                <a:solidFill>
                  <a:srgbClr val="004AAD"/>
                </a:solidFill>
                <a:latin typeface="Montserrat"/>
                <a:ea typeface="Montserrat"/>
                <a:cs typeface="Montserrat"/>
                <a:sym typeface="Montserrat"/>
              </a:rPr>
              <a:t>Méthodologie adopté pour la collection des données</a:t>
            </a:r>
            <a:endParaRPr sz="4000" b="1">
              <a:solidFill>
                <a:srgbClr val="004AAD"/>
              </a:solidFill>
              <a:latin typeface="Montserrat"/>
              <a:ea typeface="Montserrat"/>
              <a:cs typeface="Montserrat"/>
              <a:sym typeface="Montserrat"/>
            </a:endParaRPr>
          </a:p>
        </p:txBody>
      </p:sp>
      <p:pic>
        <p:nvPicPr>
          <p:cNvPr id="329" name="Google Shape;329;p20"/>
          <p:cNvPicPr preferRelativeResize="0"/>
          <p:nvPr/>
        </p:nvPicPr>
        <p:blipFill rotWithShape="1">
          <a:blip r:embed="rId3">
            <a:alphaModFix/>
          </a:blip>
          <a:srcRect/>
          <a:stretch/>
        </p:blipFill>
        <p:spPr>
          <a:xfrm>
            <a:off x="2976113" y="1703015"/>
            <a:ext cx="11838842" cy="818322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21"/>
          <p:cNvSpPr txBox="1"/>
          <p:nvPr/>
        </p:nvSpPr>
        <p:spPr>
          <a:xfrm>
            <a:off x="3026229" y="319120"/>
            <a:ext cx="12302440" cy="999954"/>
          </a:xfrm>
          <a:prstGeom prst="rect">
            <a:avLst/>
          </a:prstGeom>
          <a:noFill/>
          <a:ln>
            <a:noFill/>
          </a:ln>
        </p:spPr>
        <p:txBody>
          <a:bodyPr spcFirstLastPara="1" wrap="square" lIns="0" tIns="0" rIns="0" bIns="0" anchor="t" anchorCtr="0">
            <a:spAutoFit/>
          </a:bodyPr>
          <a:lstStyle/>
          <a:p>
            <a:pPr marL="0" marR="0" lvl="0" indent="0" algn="l" rtl="0">
              <a:lnSpc>
                <a:spcPct val="166666"/>
              </a:lnSpc>
              <a:spcBef>
                <a:spcPts val="0"/>
              </a:spcBef>
              <a:spcAft>
                <a:spcPts val="0"/>
              </a:spcAft>
              <a:buNone/>
            </a:pPr>
            <a:endParaRPr sz="5400" b="1">
              <a:solidFill>
                <a:srgbClr val="004AAD"/>
              </a:solidFill>
              <a:latin typeface="Montserrat"/>
              <a:ea typeface="Montserrat"/>
              <a:cs typeface="Montserrat"/>
              <a:sym typeface="Montserrat"/>
            </a:endParaRPr>
          </a:p>
        </p:txBody>
      </p:sp>
      <p:sp>
        <p:nvSpPr>
          <p:cNvPr id="335" name="Google Shape;335;p21"/>
          <p:cNvSpPr txBox="1"/>
          <p:nvPr/>
        </p:nvSpPr>
        <p:spPr>
          <a:xfrm>
            <a:off x="1905000" y="335449"/>
            <a:ext cx="14097000" cy="999954"/>
          </a:xfrm>
          <a:prstGeom prst="rect">
            <a:avLst/>
          </a:prstGeom>
          <a:noFill/>
          <a:ln>
            <a:noFill/>
          </a:ln>
        </p:spPr>
        <p:txBody>
          <a:bodyPr spcFirstLastPara="1" wrap="square" lIns="0" tIns="0" rIns="0" bIns="0" anchor="t" anchorCtr="0">
            <a:spAutoFit/>
          </a:bodyPr>
          <a:lstStyle/>
          <a:p>
            <a:pPr marL="0" marR="0" lvl="0" indent="0" algn="ctr" rtl="0">
              <a:lnSpc>
                <a:spcPct val="166666"/>
              </a:lnSpc>
              <a:spcBef>
                <a:spcPts val="0"/>
              </a:spcBef>
              <a:spcAft>
                <a:spcPts val="0"/>
              </a:spcAft>
              <a:buNone/>
            </a:pPr>
            <a:r>
              <a:rPr lang="fr-FR" sz="5400" b="1">
                <a:solidFill>
                  <a:srgbClr val="004AAD"/>
                </a:solidFill>
                <a:latin typeface="Montserrat"/>
                <a:ea typeface="Montserrat"/>
                <a:cs typeface="Montserrat"/>
                <a:sym typeface="Montserrat"/>
              </a:rPr>
              <a:t>Type des données collecté</a:t>
            </a:r>
            <a:endParaRPr sz="5400" b="1">
              <a:solidFill>
                <a:srgbClr val="004AAD"/>
              </a:solidFill>
              <a:latin typeface="Montserrat"/>
              <a:ea typeface="Montserrat"/>
              <a:cs typeface="Montserrat"/>
              <a:sym typeface="Montserrat"/>
            </a:endParaRPr>
          </a:p>
        </p:txBody>
      </p:sp>
      <p:sp>
        <p:nvSpPr>
          <p:cNvPr id="336" name="Google Shape;336;p21"/>
          <p:cNvSpPr/>
          <p:nvPr/>
        </p:nvSpPr>
        <p:spPr>
          <a:xfrm>
            <a:off x="228600" y="2400300"/>
            <a:ext cx="5760000" cy="10668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Arrêts Planifiées</a:t>
            </a:r>
            <a:endParaRPr/>
          </a:p>
        </p:txBody>
      </p:sp>
      <p:sp>
        <p:nvSpPr>
          <p:cNvPr id="337" name="Google Shape;337;p21"/>
          <p:cNvSpPr/>
          <p:nvPr/>
        </p:nvSpPr>
        <p:spPr>
          <a:xfrm>
            <a:off x="6286500" y="2400300"/>
            <a:ext cx="5760000" cy="10668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Arrêts Non Planifiées</a:t>
            </a:r>
            <a:endParaRPr/>
          </a:p>
        </p:txBody>
      </p:sp>
      <p:sp>
        <p:nvSpPr>
          <p:cNvPr id="338" name="Google Shape;338;p21"/>
          <p:cNvSpPr/>
          <p:nvPr/>
        </p:nvSpPr>
        <p:spPr>
          <a:xfrm>
            <a:off x="12344400" y="2400300"/>
            <a:ext cx="5760000" cy="10668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Sacs produits</a:t>
            </a:r>
            <a:endParaRPr/>
          </a:p>
        </p:txBody>
      </p:sp>
      <p:sp>
        <p:nvSpPr>
          <p:cNvPr id="339" name="Google Shape;339;p21"/>
          <p:cNvSpPr/>
          <p:nvPr/>
        </p:nvSpPr>
        <p:spPr>
          <a:xfrm>
            <a:off x="228600" y="3619500"/>
            <a:ext cx="17875800" cy="632323"/>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Date, séquence</a:t>
            </a:r>
            <a:endParaRPr/>
          </a:p>
        </p:txBody>
      </p:sp>
      <p:sp>
        <p:nvSpPr>
          <p:cNvPr id="340" name="Google Shape;340;p21"/>
          <p:cNvSpPr/>
          <p:nvPr/>
        </p:nvSpPr>
        <p:spPr>
          <a:xfrm>
            <a:off x="228600" y="4437118"/>
            <a:ext cx="11817900" cy="632323"/>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Début et Fin Arrêt,  Durée Arrêt </a:t>
            </a:r>
            <a:endParaRPr/>
          </a:p>
        </p:txBody>
      </p:sp>
      <p:sp>
        <p:nvSpPr>
          <p:cNvPr id="341" name="Google Shape;341;p21"/>
          <p:cNvSpPr/>
          <p:nvPr/>
        </p:nvSpPr>
        <p:spPr>
          <a:xfrm>
            <a:off x="6286501" y="5295900"/>
            <a:ext cx="5760000" cy="632323"/>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Type de défaillance</a:t>
            </a:r>
            <a:endParaRPr/>
          </a:p>
        </p:txBody>
      </p:sp>
      <p:sp>
        <p:nvSpPr>
          <p:cNvPr id="342" name="Google Shape;342;p21"/>
          <p:cNvSpPr/>
          <p:nvPr/>
        </p:nvSpPr>
        <p:spPr>
          <a:xfrm>
            <a:off x="12115800" y="7640182"/>
            <a:ext cx="5760000" cy="6336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Sacs et Palettes Total produits</a:t>
            </a:r>
            <a:endParaRPr/>
          </a:p>
        </p:txBody>
      </p:sp>
      <p:sp>
        <p:nvSpPr>
          <p:cNvPr id="343" name="Google Shape;343;p21"/>
          <p:cNvSpPr/>
          <p:nvPr/>
        </p:nvSpPr>
        <p:spPr>
          <a:xfrm>
            <a:off x="228600" y="5295900"/>
            <a:ext cx="5760000" cy="632323"/>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Catégorie et type Arrêt</a:t>
            </a:r>
            <a:endParaRPr/>
          </a:p>
        </p:txBody>
      </p:sp>
      <p:sp>
        <p:nvSpPr>
          <p:cNvPr id="344" name="Google Shape;344;p21"/>
          <p:cNvSpPr/>
          <p:nvPr/>
        </p:nvSpPr>
        <p:spPr>
          <a:xfrm>
            <a:off x="12115800" y="8420100"/>
            <a:ext cx="5760000" cy="632323"/>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Sacs et Palettes Non Conforme</a:t>
            </a:r>
            <a:endParaRPr/>
          </a:p>
        </p:txBody>
      </p:sp>
      <p:sp>
        <p:nvSpPr>
          <p:cNvPr id="345" name="Google Shape;345;p21"/>
          <p:cNvSpPr/>
          <p:nvPr/>
        </p:nvSpPr>
        <p:spPr>
          <a:xfrm>
            <a:off x="6286501" y="6097189"/>
            <a:ext cx="5760000" cy="632323"/>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Source de défaillance </a:t>
            </a:r>
            <a:endParaRPr/>
          </a:p>
        </p:txBody>
      </p:sp>
      <p:sp>
        <p:nvSpPr>
          <p:cNvPr id="346" name="Google Shape;346;p21"/>
          <p:cNvSpPr/>
          <p:nvPr/>
        </p:nvSpPr>
        <p:spPr>
          <a:xfrm>
            <a:off x="206100" y="9330694"/>
            <a:ext cx="11840400" cy="632323"/>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Commentaire</a:t>
            </a:r>
            <a:endParaRPr/>
          </a:p>
        </p:txBody>
      </p:sp>
      <p:sp>
        <p:nvSpPr>
          <p:cNvPr id="347" name="Google Shape;347;p21"/>
          <p:cNvSpPr/>
          <p:nvPr/>
        </p:nvSpPr>
        <p:spPr>
          <a:xfrm>
            <a:off x="6286501" y="6898478"/>
            <a:ext cx="5760000" cy="632323"/>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Début, Fin et Durée d’intervention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22"/>
          <p:cNvSpPr txBox="1"/>
          <p:nvPr/>
        </p:nvSpPr>
        <p:spPr>
          <a:xfrm>
            <a:off x="3026229" y="319120"/>
            <a:ext cx="12302440" cy="999954"/>
          </a:xfrm>
          <a:prstGeom prst="rect">
            <a:avLst/>
          </a:prstGeom>
          <a:noFill/>
          <a:ln>
            <a:noFill/>
          </a:ln>
        </p:spPr>
        <p:txBody>
          <a:bodyPr spcFirstLastPara="1" wrap="square" lIns="0" tIns="0" rIns="0" bIns="0" anchor="t" anchorCtr="0">
            <a:spAutoFit/>
          </a:bodyPr>
          <a:lstStyle/>
          <a:p>
            <a:pPr marL="0" marR="0" lvl="0" indent="0" algn="l" rtl="0">
              <a:lnSpc>
                <a:spcPct val="166666"/>
              </a:lnSpc>
              <a:spcBef>
                <a:spcPts val="0"/>
              </a:spcBef>
              <a:spcAft>
                <a:spcPts val="0"/>
              </a:spcAft>
              <a:buNone/>
            </a:pPr>
            <a:endParaRPr sz="5400" b="1">
              <a:solidFill>
                <a:srgbClr val="004AAD"/>
              </a:solidFill>
              <a:latin typeface="Montserrat"/>
              <a:ea typeface="Montserrat"/>
              <a:cs typeface="Montserrat"/>
              <a:sym typeface="Montserrat"/>
            </a:endParaRPr>
          </a:p>
        </p:txBody>
      </p:sp>
      <p:sp>
        <p:nvSpPr>
          <p:cNvPr id="353" name="Google Shape;353;p22"/>
          <p:cNvSpPr txBox="1"/>
          <p:nvPr/>
        </p:nvSpPr>
        <p:spPr>
          <a:xfrm>
            <a:off x="1905000" y="335449"/>
            <a:ext cx="14097000" cy="965136"/>
          </a:xfrm>
          <a:prstGeom prst="rect">
            <a:avLst/>
          </a:prstGeom>
          <a:noFill/>
          <a:ln>
            <a:noFill/>
          </a:ln>
        </p:spPr>
        <p:txBody>
          <a:bodyPr spcFirstLastPara="1" wrap="square" lIns="0" tIns="0" rIns="0" bIns="0" anchor="t" anchorCtr="0">
            <a:spAutoFit/>
          </a:bodyPr>
          <a:lstStyle/>
          <a:p>
            <a:pPr marL="0" marR="0" lvl="0" indent="0" algn="ctr" rtl="0">
              <a:lnSpc>
                <a:spcPct val="225000"/>
              </a:lnSpc>
              <a:spcBef>
                <a:spcPts val="0"/>
              </a:spcBef>
              <a:spcAft>
                <a:spcPts val="0"/>
              </a:spcAft>
              <a:buNone/>
            </a:pPr>
            <a:r>
              <a:rPr lang="fr-FR" sz="4000" b="1">
                <a:solidFill>
                  <a:srgbClr val="004AAD"/>
                </a:solidFill>
                <a:latin typeface="Montserrat"/>
                <a:ea typeface="Montserrat"/>
                <a:cs typeface="Montserrat"/>
                <a:sym typeface="Montserrat"/>
              </a:rPr>
              <a:t>Méthode adopté pour la collection des données</a:t>
            </a:r>
            <a:endParaRPr sz="4000" b="1">
              <a:solidFill>
                <a:srgbClr val="004AAD"/>
              </a:solidFill>
              <a:latin typeface="Montserrat"/>
              <a:ea typeface="Montserrat"/>
              <a:cs typeface="Montserrat"/>
              <a:sym typeface="Montserrat"/>
            </a:endParaRPr>
          </a:p>
        </p:txBody>
      </p:sp>
      <p:grpSp>
        <p:nvGrpSpPr>
          <p:cNvPr id="354" name="Google Shape;354;p22"/>
          <p:cNvGrpSpPr/>
          <p:nvPr/>
        </p:nvGrpSpPr>
        <p:grpSpPr>
          <a:xfrm>
            <a:off x="4192640" y="5598457"/>
            <a:ext cx="9342466" cy="3403060"/>
            <a:chOff x="4472767" y="6510391"/>
            <a:chExt cx="9342466" cy="3403060"/>
          </a:xfrm>
        </p:grpSpPr>
        <p:grpSp>
          <p:nvGrpSpPr>
            <p:cNvPr id="355" name="Google Shape;355;p22"/>
            <p:cNvGrpSpPr/>
            <p:nvPr/>
          </p:nvGrpSpPr>
          <p:grpSpPr>
            <a:xfrm>
              <a:off x="4472767" y="6865580"/>
              <a:ext cx="7601483" cy="3047871"/>
              <a:chOff x="3733800" y="6213600"/>
              <a:chExt cx="7601483" cy="3047871"/>
            </a:xfrm>
          </p:grpSpPr>
          <p:pic>
            <p:nvPicPr>
              <p:cNvPr id="356" name="Google Shape;356;p22"/>
              <p:cNvPicPr preferRelativeResize="0"/>
              <p:nvPr/>
            </p:nvPicPr>
            <p:blipFill rotWithShape="1">
              <a:blip r:embed="rId3">
                <a:alphaModFix/>
              </a:blip>
              <a:srcRect/>
              <a:stretch/>
            </p:blipFill>
            <p:spPr>
              <a:xfrm>
                <a:off x="3733800" y="6213600"/>
                <a:ext cx="3033862" cy="1879125"/>
              </a:xfrm>
              <a:prstGeom prst="rect">
                <a:avLst/>
              </a:prstGeom>
              <a:noFill/>
              <a:ln>
                <a:noFill/>
              </a:ln>
            </p:spPr>
          </p:pic>
          <p:pic>
            <p:nvPicPr>
              <p:cNvPr id="357" name="Google Shape;357;p22"/>
              <p:cNvPicPr preferRelativeResize="0"/>
              <p:nvPr/>
            </p:nvPicPr>
            <p:blipFill rotWithShape="1">
              <a:blip r:embed="rId4">
                <a:alphaModFix/>
              </a:blip>
              <a:srcRect/>
              <a:stretch/>
            </p:blipFill>
            <p:spPr>
              <a:xfrm>
                <a:off x="6077480" y="7382346"/>
                <a:ext cx="5257803" cy="1879125"/>
              </a:xfrm>
              <a:prstGeom prst="rect">
                <a:avLst/>
              </a:prstGeom>
              <a:noFill/>
              <a:ln>
                <a:noFill/>
              </a:ln>
            </p:spPr>
          </p:pic>
        </p:grpSp>
        <p:pic>
          <p:nvPicPr>
            <p:cNvPr id="358" name="Google Shape;358;p22"/>
            <p:cNvPicPr preferRelativeResize="0"/>
            <p:nvPr/>
          </p:nvPicPr>
          <p:blipFill rotWithShape="1">
            <a:blip r:embed="rId5">
              <a:alphaModFix/>
            </a:blip>
            <a:srcRect/>
            <a:stretch/>
          </p:blipFill>
          <p:spPr>
            <a:xfrm>
              <a:off x="9920320" y="6510391"/>
              <a:ext cx="3894913" cy="1879125"/>
            </a:xfrm>
            <a:prstGeom prst="rect">
              <a:avLst/>
            </a:prstGeom>
            <a:noFill/>
            <a:ln>
              <a:noFill/>
            </a:ln>
          </p:spPr>
        </p:pic>
      </p:grpSp>
      <p:grpSp>
        <p:nvGrpSpPr>
          <p:cNvPr id="359" name="Google Shape;359;p22"/>
          <p:cNvGrpSpPr/>
          <p:nvPr/>
        </p:nvGrpSpPr>
        <p:grpSpPr>
          <a:xfrm>
            <a:off x="455728" y="2777824"/>
            <a:ext cx="17443441" cy="2390344"/>
            <a:chOff x="405463" y="2496755"/>
            <a:chExt cx="17443441" cy="2390344"/>
          </a:xfrm>
        </p:grpSpPr>
        <p:sp>
          <p:nvSpPr>
            <p:cNvPr id="360" name="Google Shape;360;p22"/>
            <p:cNvSpPr/>
            <p:nvPr/>
          </p:nvSpPr>
          <p:spPr>
            <a:xfrm>
              <a:off x="9680380" y="2848401"/>
              <a:ext cx="3581400" cy="1710634"/>
            </a:xfrm>
            <a:prstGeom prst="roundRect">
              <a:avLst>
                <a:gd name="adj" fmla="val 16667"/>
              </a:avLst>
            </a:prstGeom>
            <a:solidFill>
              <a:srgbClr val="0070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000" b="1">
                  <a:solidFill>
                    <a:schemeClr val="lt1"/>
                  </a:solidFill>
                  <a:latin typeface="Montserrat"/>
                  <a:ea typeface="Montserrat"/>
                  <a:cs typeface="Montserrat"/>
                  <a:sym typeface="Montserrat"/>
                </a:rPr>
                <a:t>Saisie et validation des données via interface formulaire par les Operateurs, techniciens </a:t>
              </a:r>
              <a:endParaRPr/>
            </a:p>
          </p:txBody>
        </p:sp>
        <p:sp>
          <p:nvSpPr>
            <p:cNvPr id="361" name="Google Shape;361;p22"/>
            <p:cNvSpPr/>
            <p:nvPr/>
          </p:nvSpPr>
          <p:spPr>
            <a:xfrm>
              <a:off x="405463" y="2853727"/>
              <a:ext cx="3581400" cy="1676400"/>
            </a:xfrm>
            <a:prstGeom prst="roundRect">
              <a:avLst>
                <a:gd name="adj" fmla="val 16667"/>
              </a:avLst>
            </a:prstGeom>
            <a:solidFill>
              <a:srgbClr val="0070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000" b="1">
                  <a:solidFill>
                    <a:schemeClr val="lt1"/>
                  </a:solidFill>
                  <a:latin typeface="Montserrat"/>
                  <a:ea typeface="Montserrat"/>
                  <a:cs typeface="Montserrat"/>
                  <a:sym typeface="Montserrat"/>
                </a:rPr>
                <a:t>Conception des formulaires en tant qu’IHM (Interface HM) sur EXCEL</a:t>
              </a:r>
              <a:endParaRPr/>
            </a:p>
          </p:txBody>
        </p:sp>
        <p:sp>
          <p:nvSpPr>
            <p:cNvPr id="362" name="Google Shape;362;p22"/>
            <p:cNvSpPr/>
            <p:nvPr/>
          </p:nvSpPr>
          <p:spPr>
            <a:xfrm>
              <a:off x="14267504" y="2496755"/>
              <a:ext cx="3581400" cy="2390344"/>
            </a:xfrm>
            <a:prstGeom prst="roundRect">
              <a:avLst>
                <a:gd name="adj" fmla="val 16667"/>
              </a:avLst>
            </a:prstGeom>
            <a:solidFill>
              <a:srgbClr val="0070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000" b="1">
                  <a:solidFill>
                    <a:schemeClr val="lt1"/>
                  </a:solidFill>
                  <a:latin typeface="Montserrat"/>
                  <a:ea typeface="Montserrat"/>
                  <a:cs typeface="Montserrat"/>
                  <a:sym typeface="Montserrat"/>
                </a:rPr>
                <a:t>Soumission et organisation automatique des données saisies dans des feuilles Excel structurées</a:t>
              </a:r>
              <a:endParaRPr/>
            </a:p>
          </p:txBody>
        </p:sp>
        <p:sp>
          <p:nvSpPr>
            <p:cNvPr id="363" name="Google Shape;363;p22"/>
            <p:cNvSpPr/>
            <p:nvPr/>
          </p:nvSpPr>
          <p:spPr>
            <a:xfrm>
              <a:off x="4992589" y="2637859"/>
              <a:ext cx="3682064" cy="2108137"/>
            </a:xfrm>
            <a:prstGeom prst="roundRect">
              <a:avLst>
                <a:gd name="adj" fmla="val 16667"/>
              </a:avLst>
            </a:prstGeom>
            <a:solidFill>
              <a:srgbClr val="0070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000" b="1">
                  <a:solidFill>
                    <a:schemeClr val="lt1"/>
                  </a:solidFill>
                  <a:latin typeface="Montserrat"/>
                  <a:ea typeface="Montserrat"/>
                  <a:cs typeface="Montserrat"/>
                  <a:sym typeface="Montserrat"/>
                </a:rPr>
                <a:t>Programmation du processus d'enregistrement et d'affectation des données via VBA</a:t>
              </a:r>
              <a:endParaRPr/>
            </a:p>
          </p:txBody>
        </p:sp>
        <p:sp>
          <p:nvSpPr>
            <p:cNvPr id="364" name="Google Shape;364;p22"/>
            <p:cNvSpPr/>
            <p:nvPr/>
          </p:nvSpPr>
          <p:spPr>
            <a:xfrm>
              <a:off x="4193549" y="3310927"/>
              <a:ext cx="592354" cy="762000"/>
            </a:xfrm>
            <a:prstGeom prst="right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5" name="Google Shape;365;p22"/>
            <p:cNvSpPr/>
            <p:nvPr/>
          </p:nvSpPr>
          <p:spPr>
            <a:xfrm>
              <a:off x="8881339" y="3310927"/>
              <a:ext cx="592354" cy="762000"/>
            </a:xfrm>
            <a:prstGeom prst="right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6" name="Google Shape;366;p22"/>
            <p:cNvSpPr/>
            <p:nvPr/>
          </p:nvSpPr>
          <p:spPr>
            <a:xfrm>
              <a:off x="13468465" y="3310927"/>
              <a:ext cx="592354" cy="762000"/>
            </a:xfrm>
            <a:prstGeom prst="right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367" name="Google Shape;367;p22"/>
          <p:cNvSpPr txBox="1"/>
          <p:nvPr/>
        </p:nvSpPr>
        <p:spPr>
          <a:xfrm>
            <a:off x="5734786" y="8823880"/>
            <a:ext cx="6437428" cy="965136"/>
          </a:xfrm>
          <a:prstGeom prst="rect">
            <a:avLst/>
          </a:prstGeom>
          <a:noFill/>
          <a:ln>
            <a:noFill/>
          </a:ln>
        </p:spPr>
        <p:txBody>
          <a:bodyPr spcFirstLastPara="1" wrap="square" lIns="0" tIns="0" rIns="0" bIns="0" anchor="t" anchorCtr="0">
            <a:spAutoFit/>
          </a:bodyPr>
          <a:lstStyle/>
          <a:p>
            <a:pPr marL="0" marR="0" lvl="0" indent="0" algn="ctr" rtl="0">
              <a:lnSpc>
                <a:spcPct val="225000"/>
              </a:lnSpc>
              <a:spcBef>
                <a:spcPts val="0"/>
              </a:spcBef>
              <a:spcAft>
                <a:spcPts val="0"/>
              </a:spcAft>
              <a:buNone/>
            </a:pPr>
            <a:r>
              <a:rPr lang="fr-FR" sz="4000" b="1">
                <a:solidFill>
                  <a:srgbClr val="004AAD"/>
                </a:solidFill>
                <a:latin typeface="Montserrat"/>
                <a:ea typeface="Montserrat"/>
                <a:cs typeface="Montserrat"/>
                <a:sym typeface="Montserrat"/>
              </a:rPr>
              <a:t>Formulaire </a:t>
            </a:r>
            <a:endParaRPr sz="4000" b="1">
              <a:solidFill>
                <a:srgbClr val="004AAD"/>
              </a:solidFill>
              <a:latin typeface="Montserrat"/>
              <a:ea typeface="Montserrat"/>
              <a:cs typeface="Montserrat"/>
              <a:sym typeface="Montserra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23"/>
          <p:cNvSpPr txBox="1"/>
          <p:nvPr/>
        </p:nvSpPr>
        <p:spPr>
          <a:xfrm>
            <a:off x="3026229" y="319120"/>
            <a:ext cx="12302440" cy="999954"/>
          </a:xfrm>
          <a:prstGeom prst="rect">
            <a:avLst/>
          </a:prstGeom>
          <a:noFill/>
          <a:ln>
            <a:noFill/>
          </a:ln>
        </p:spPr>
        <p:txBody>
          <a:bodyPr spcFirstLastPara="1" wrap="square" lIns="0" tIns="0" rIns="0" bIns="0" anchor="t" anchorCtr="0">
            <a:spAutoFit/>
          </a:bodyPr>
          <a:lstStyle/>
          <a:p>
            <a:pPr marL="0" marR="0" lvl="0" indent="0" algn="l" rtl="0">
              <a:lnSpc>
                <a:spcPct val="166666"/>
              </a:lnSpc>
              <a:spcBef>
                <a:spcPts val="0"/>
              </a:spcBef>
              <a:spcAft>
                <a:spcPts val="0"/>
              </a:spcAft>
              <a:buNone/>
            </a:pPr>
            <a:endParaRPr sz="5400" b="1">
              <a:solidFill>
                <a:srgbClr val="004AAD"/>
              </a:solidFill>
              <a:latin typeface="Montserrat"/>
              <a:ea typeface="Montserrat"/>
              <a:cs typeface="Montserrat"/>
              <a:sym typeface="Montserrat"/>
            </a:endParaRPr>
          </a:p>
        </p:txBody>
      </p:sp>
      <p:sp>
        <p:nvSpPr>
          <p:cNvPr id="373" name="Google Shape;373;p23"/>
          <p:cNvSpPr txBox="1"/>
          <p:nvPr/>
        </p:nvSpPr>
        <p:spPr>
          <a:xfrm>
            <a:off x="1905000" y="335449"/>
            <a:ext cx="14097000" cy="965136"/>
          </a:xfrm>
          <a:prstGeom prst="rect">
            <a:avLst/>
          </a:prstGeom>
          <a:noFill/>
          <a:ln>
            <a:noFill/>
          </a:ln>
        </p:spPr>
        <p:txBody>
          <a:bodyPr spcFirstLastPara="1" wrap="square" lIns="0" tIns="0" rIns="0" bIns="0" anchor="t" anchorCtr="0">
            <a:spAutoFit/>
          </a:bodyPr>
          <a:lstStyle/>
          <a:p>
            <a:pPr marL="0" marR="0" lvl="0" indent="0" algn="ctr" rtl="0">
              <a:lnSpc>
                <a:spcPct val="225000"/>
              </a:lnSpc>
              <a:spcBef>
                <a:spcPts val="0"/>
              </a:spcBef>
              <a:spcAft>
                <a:spcPts val="0"/>
              </a:spcAft>
              <a:buNone/>
            </a:pPr>
            <a:r>
              <a:rPr lang="fr-FR" sz="4000" b="1">
                <a:solidFill>
                  <a:srgbClr val="004AAD"/>
                </a:solidFill>
                <a:latin typeface="Montserrat"/>
                <a:ea typeface="Montserrat"/>
                <a:cs typeface="Montserrat"/>
                <a:sym typeface="Montserrat"/>
              </a:rPr>
              <a:t>Méthode adopté pour la collection des données</a:t>
            </a:r>
            <a:endParaRPr sz="4000" b="1">
              <a:solidFill>
                <a:srgbClr val="004AAD"/>
              </a:solidFill>
              <a:latin typeface="Montserrat"/>
              <a:ea typeface="Montserrat"/>
              <a:cs typeface="Montserrat"/>
              <a:sym typeface="Montserrat"/>
            </a:endParaRPr>
          </a:p>
        </p:txBody>
      </p:sp>
      <p:pic>
        <p:nvPicPr>
          <p:cNvPr id="374" name="Google Shape;374;p23"/>
          <p:cNvPicPr preferRelativeResize="0"/>
          <p:nvPr/>
        </p:nvPicPr>
        <p:blipFill rotWithShape="1">
          <a:blip r:embed="rId3">
            <a:alphaModFix/>
          </a:blip>
          <a:srcRect/>
          <a:stretch/>
        </p:blipFill>
        <p:spPr>
          <a:xfrm>
            <a:off x="3484827" y="2019300"/>
            <a:ext cx="11318345" cy="70104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24"/>
          <p:cNvSpPr txBox="1"/>
          <p:nvPr/>
        </p:nvSpPr>
        <p:spPr>
          <a:xfrm>
            <a:off x="3026229" y="319120"/>
            <a:ext cx="12302440" cy="999954"/>
          </a:xfrm>
          <a:prstGeom prst="rect">
            <a:avLst/>
          </a:prstGeom>
          <a:noFill/>
          <a:ln>
            <a:noFill/>
          </a:ln>
        </p:spPr>
        <p:txBody>
          <a:bodyPr spcFirstLastPara="1" wrap="square" lIns="0" tIns="0" rIns="0" bIns="0" anchor="t" anchorCtr="0">
            <a:spAutoFit/>
          </a:bodyPr>
          <a:lstStyle/>
          <a:p>
            <a:pPr marL="0" marR="0" lvl="0" indent="0" algn="l" rtl="0">
              <a:lnSpc>
                <a:spcPct val="166666"/>
              </a:lnSpc>
              <a:spcBef>
                <a:spcPts val="0"/>
              </a:spcBef>
              <a:spcAft>
                <a:spcPts val="0"/>
              </a:spcAft>
              <a:buNone/>
            </a:pPr>
            <a:endParaRPr sz="5400" b="1">
              <a:solidFill>
                <a:srgbClr val="004AAD"/>
              </a:solidFill>
              <a:latin typeface="Montserrat"/>
              <a:ea typeface="Montserrat"/>
              <a:cs typeface="Montserrat"/>
              <a:sym typeface="Montserrat"/>
            </a:endParaRPr>
          </a:p>
        </p:txBody>
      </p:sp>
      <p:sp>
        <p:nvSpPr>
          <p:cNvPr id="380" name="Google Shape;380;p24"/>
          <p:cNvSpPr txBox="1"/>
          <p:nvPr/>
        </p:nvSpPr>
        <p:spPr>
          <a:xfrm>
            <a:off x="1905000" y="335449"/>
            <a:ext cx="14097000" cy="965136"/>
          </a:xfrm>
          <a:prstGeom prst="rect">
            <a:avLst/>
          </a:prstGeom>
          <a:noFill/>
          <a:ln>
            <a:noFill/>
          </a:ln>
        </p:spPr>
        <p:txBody>
          <a:bodyPr spcFirstLastPara="1" wrap="square" lIns="0" tIns="0" rIns="0" bIns="0" anchor="t" anchorCtr="0">
            <a:spAutoFit/>
          </a:bodyPr>
          <a:lstStyle/>
          <a:p>
            <a:pPr marL="0" marR="0" lvl="0" indent="0" algn="ctr" rtl="0">
              <a:lnSpc>
                <a:spcPct val="225000"/>
              </a:lnSpc>
              <a:spcBef>
                <a:spcPts val="0"/>
              </a:spcBef>
              <a:spcAft>
                <a:spcPts val="0"/>
              </a:spcAft>
              <a:buNone/>
            </a:pPr>
            <a:r>
              <a:rPr lang="fr-FR" sz="4000" b="1">
                <a:solidFill>
                  <a:srgbClr val="004AAD"/>
                </a:solidFill>
                <a:latin typeface="Montserrat"/>
                <a:ea typeface="Montserrat"/>
                <a:cs typeface="Montserrat"/>
                <a:sym typeface="Montserrat"/>
              </a:rPr>
              <a:t>Méthode adopté pour la collection des données</a:t>
            </a:r>
            <a:endParaRPr sz="4000" b="1">
              <a:solidFill>
                <a:srgbClr val="004AAD"/>
              </a:solidFill>
              <a:latin typeface="Montserrat"/>
              <a:ea typeface="Montserrat"/>
              <a:cs typeface="Montserrat"/>
              <a:sym typeface="Montserrat"/>
            </a:endParaRPr>
          </a:p>
        </p:txBody>
      </p:sp>
      <p:pic>
        <p:nvPicPr>
          <p:cNvPr id="381" name="Google Shape;381;p24"/>
          <p:cNvPicPr preferRelativeResize="0"/>
          <p:nvPr/>
        </p:nvPicPr>
        <p:blipFill rotWithShape="1">
          <a:blip r:embed="rId3">
            <a:alphaModFix/>
          </a:blip>
          <a:srcRect/>
          <a:stretch/>
        </p:blipFill>
        <p:spPr>
          <a:xfrm>
            <a:off x="1562793" y="2247900"/>
            <a:ext cx="15162414" cy="7315202"/>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25"/>
          <p:cNvSpPr txBox="1"/>
          <p:nvPr/>
        </p:nvSpPr>
        <p:spPr>
          <a:xfrm>
            <a:off x="3026229" y="319120"/>
            <a:ext cx="12302440" cy="999954"/>
          </a:xfrm>
          <a:prstGeom prst="rect">
            <a:avLst/>
          </a:prstGeom>
          <a:noFill/>
          <a:ln>
            <a:noFill/>
          </a:ln>
        </p:spPr>
        <p:txBody>
          <a:bodyPr spcFirstLastPara="1" wrap="square" lIns="0" tIns="0" rIns="0" bIns="0" anchor="t" anchorCtr="0">
            <a:spAutoFit/>
          </a:bodyPr>
          <a:lstStyle/>
          <a:p>
            <a:pPr marL="0" marR="0" lvl="0" indent="0" algn="l" rtl="0">
              <a:lnSpc>
                <a:spcPct val="166666"/>
              </a:lnSpc>
              <a:spcBef>
                <a:spcPts val="0"/>
              </a:spcBef>
              <a:spcAft>
                <a:spcPts val="0"/>
              </a:spcAft>
              <a:buNone/>
            </a:pPr>
            <a:endParaRPr sz="5400" b="1">
              <a:solidFill>
                <a:srgbClr val="004AAD"/>
              </a:solidFill>
              <a:latin typeface="Montserrat"/>
              <a:ea typeface="Montserrat"/>
              <a:cs typeface="Montserrat"/>
              <a:sym typeface="Montserrat"/>
            </a:endParaRPr>
          </a:p>
        </p:txBody>
      </p:sp>
      <p:sp>
        <p:nvSpPr>
          <p:cNvPr id="387" name="Google Shape;387;p25"/>
          <p:cNvSpPr txBox="1"/>
          <p:nvPr/>
        </p:nvSpPr>
        <p:spPr>
          <a:xfrm>
            <a:off x="1905000" y="335449"/>
            <a:ext cx="14097000" cy="965136"/>
          </a:xfrm>
          <a:prstGeom prst="rect">
            <a:avLst/>
          </a:prstGeom>
          <a:noFill/>
          <a:ln>
            <a:noFill/>
          </a:ln>
        </p:spPr>
        <p:txBody>
          <a:bodyPr spcFirstLastPara="1" wrap="square" lIns="0" tIns="0" rIns="0" bIns="0" anchor="t" anchorCtr="0">
            <a:spAutoFit/>
          </a:bodyPr>
          <a:lstStyle/>
          <a:p>
            <a:pPr marL="0" marR="0" lvl="0" indent="0" algn="ctr" rtl="0">
              <a:lnSpc>
                <a:spcPct val="225000"/>
              </a:lnSpc>
              <a:spcBef>
                <a:spcPts val="0"/>
              </a:spcBef>
              <a:spcAft>
                <a:spcPts val="0"/>
              </a:spcAft>
              <a:buNone/>
            </a:pPr>
            <a:r>
              <a:rPr lang="fr-FR" sz="4000" b="1">
                <a:solidFill>
                  <a:srgbClr val="004AAD"/>
                </a:solidFill>
                <a:latin typeface="Montserrat"/>
                <a:ea typeface="Montserrat"/>
                <a:cs typeface="Montserrat"/>
                <a:sym typeface="Montserrat"/>
              </a:rPr>
              <a:t>Méthode adopté pour la collection des données</a:t>
            </a:r>
            <a:endParaRPr sz="4000" b="1">
              <a:solidFill>
                <a:srgbClr val="004AAD"/>
              </a:solidFill>
              <a:latin typeface="Montserrat"/>
              <a:ea typeface="Montserrat"/>
              <a:cs typeface="Montserrat"/>
              <a:sym typeface="Montserrat"/>
            </a:endParaRPr>
          </a:p>
        </p:txBody>
      </p:sp>
      <p:pic>
        <p:nvPicPr>
          <p:cNvPr id="388" name="Google Shape;388;p25"/>
          <p:cNvPicPr preferRelativeResize="0"/>
          <p:nvPr/>
        </p:nvPicPr>
        <p:blipFill rotWithShape="1">
          <a:blip r:embed="rId3">
            <a:alphaModFix/>
          </a:blip>
          <a:srcRect/>
          <a:stretch/>
        </p:blipFill>
        <p:spPr>
          <a:xfrm>
            <a:off x="369500" y="2268334"/>
            <a:ext cx="17497127" cy="625342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26"/>
          <p:cNvSpPr/>
          <p:nvPr/>
        </p:nvSpPr>
        <p:spPr>
          <a:xfrm rot="-6664043">
            <a:off x="519355" y="-1838608"/>
            <a:ext cx="13624687" cy="13964216"/>
          </a:xfrm>
          <a:custGeom>
            <a:avLst/>
            <a:gdLst/>
            <a:ahLst/>
            <a:cxnLst/>
            <a:rect l="l" t="t" r="r" b="b"/>
            <a:pathLst>
              <a:path w="11511802" h="11511802" extrusionOk="0">
                <a:moveTo>
                  <a:pt x="0" y="0"/>
                </a:moveTo>
                <a:lnTo>
                  <a:pt x="11511802" y="0"/>
                </a:lnTo>
                <a:lnTo>
                  <a:pt x="11511802" y="11511802"/>
                </a:lnTo>
                <a:lnTo>
                  <a:pt x="0" y="11511802"/>
                </a:lnTo>
                <a:lnTo>
                  <a:pt x="0" y="0"/>
                </a:lnTo>
                <a:close/>
              </a:path>
            </a:pathLst>
          </a:custGeom>
          <a:blipFill rotWithShape="1">
            <a:blip r:embed="rId3">
              <a:alphaModFix amt="40000"/>
            </a:blip>
            <a:stretch>
              <a:fillRect/>
            </a:stretch>
          </a:blipFill>
          <a:ln>
            <a:noFill/>
          </a:ln>
        </p:spPr>
      </p:sp>
      <p:sp>
        <p:nvSpPr>
          <p:cNvPr id="395" name="Google Shape;395;p26"/>
          <p:cNvSpPr/>
          <p:nvPr/>
        </p:nvSpPr>
        <p:spPr>
          <a:xfrm rot="1505868">
            <a:off x="4218925" y="2601217"/>
            <a:ext cx="12580534" cy="8680686"/>
          </a:xfrm>
          <a:custGeom>
            <a:avLst/>
            <a:gdLst/>
            <a:ahLst/>
            <a:cxnLst/>
            <a:rect l="l" t="t" r="r" b="b"/>
            <a:pathLst>
              <a:path w="12580534" h="8680686" extrusionOk="0">
                <a:moveTo>
                  <a:pt x="0" y="0"/>
                </a:moveTo>
                <a:lnTo>
                  <a:pt x="12580534" y="0"/>
                </a:lnTo>
                <a:lnTo>
                  <a:pt x="12580534" y="8680686"/>
                </a:lnTo>
                <a:lnTo>
                  <a:pt x="0" y="8680686"/>
                </a:lnTo>
                <a:lnTo>
                  <a:pt x="0" y="0"/>
                </a:lnTo>
                <a:close/>
              </a:path>
            </a:pathLst>
          </a:custGeom>
          <a:blipFill rotWithShape="1">
            <a:blip r:embed="rId4">
              <a:alphaModFix amt="50000"/>
            </a:blip>
            <a:stretch>
              <a:fillRect/>
            </a:stretch>
          </a:blipFill>
          <a:ln>
            <a:noFill/>
          </a:ln>
        </p:spPr>
      </p:sp>
      <p:sp>
        <p:nvSpPr>
          <p:cNvPr id="396" name="Google Shape;396;p26"/>
          <p:cNvSpPr txBox="1"/>
          <p:nvPr/>
        </p:nvSpPr>
        <p:spPr>
          <a:xfrm>
            <a:off x="1970314" y="2324100"/>
            <a:ext cx="14042231" cy="2192523"/>
          </a:xfrm>
          <a:prstGeom prst="rect">
            <a:avLst/>
          </a:prstGeom>
          <a:noFill/>
          <a:ln>
            <a:noFill/>
          </a:ln>
        </p:spPr>
        <p:txBody>
          <a:bodyPr spcFirstLastPara="1" wrap="square" lIns="0" tIns="0" rIns="0" bIns="0" anchor="t" anchorCtr="0">
            <a:spAutoFit/>
          </a:bodyPr>
          <a:lstStyle/>
          <a:p>
            <a:pPr marL="0" marR="0" lvl="0" indent="0" algn="l" rtl="0">
              <a:lnSpc>
                <a:spcPct val="166666"/>
              </a:lnSpc>
              <a:spcBef>
                <a:spcPts val="0"/>
              </a:spcBef>
              <a:spcAft>
                <a:spcPts val="0"/>
              </a:spcAft>
              <a:buNone/>
            </a:pPr>
            <a:r>
              <a:rPr lang="fr-FR" sz="5400" b="1">
                <a:solidFill>
                  <a:srgbClr val="FF0000"/>
                </a:solidFill>
                <a:latin typeface="Montserrat"/>
                <a:ea typeface="Montserrat"/>
                <a:cs typeface="Montserrat"/>
                <a:sym typeface="Montserrat"/>
              </a:rPr>
              <a:t>Phase 2 : Migration des données vers la Database </a:t>
            </a:r>
            <a:endParaRPr sz="5400" b="1">
              <a:solidFill>
                <a:srgbClr val="FF0000"/>
              </a:solidFill>
              <a:latin typeface="Montserrat"/>
              <a:ea typeface="Montserrat"/>
              <a:cs typeface="Montserrat"/>
              <a:sym typeface="Montserrat"/>
            </a:endParaRPr>
          </a:p>
        </p:txBody>
      </p:sp>
      <p:sp>
        <p:nvSpPr>
          <p:cNvPr id="397" name="Google Shape;397;p26"/>
          <p:cNvSpPr txBox="1"/>
          <p:nvPr/>
        </p:nvSpPr>
        <p:spPr>
          <a:xfrm>
            <a:off x="3831771" y="4243440"/>
            <a:ext cx="14042231" cy="3263522"/>
          </a:xfrm>
          <a:prstGeom prst="rect">
            <a:avLst/>
          </a:prstGeom>
          <a:noFill/>
          <a:ln>
            <a:noFill/>
          </a:ln>
        </p:spPr>
        <p:txBody>
          <a:bodyPr spcFirstLastPara="1" wrap="square" lIns="0" tIns="0" rIns="0" bIns="0" anchor="t" anchorCtr="0">
            <a:spAutoFit/>
          </a:bodyPr>
          <a:lstStyle/>
          <a:p>
            <a:pPr marL="742950" marR="0" lvl="0" indent="-742950" algn="l" rtl="0">
              <a:lnSpc>
                <a:spcPct val="250000"/>
              </a:lnSpc>
              <a:spcBef>
                <a:spcPts val="0"/>
              </a:spcBef>
              <a:spcAft>
                <a:spcPts val="0"/>
              </a:spcAft>
              <a:buClr>
                <a:srgbClr val="004AAD"/>
              </a:buClr>
              <a:buSzPts val="3600"/>
              <a:buFont typeface="Calibri"/>
              <a:buAutoNum type="arabicPeriod"/>
            </a:pPr>
            <a:r>
              <a:rPr lang="fr-FR" sz="3600" b="1">
                <a:solidFill>
                  <a:srgbClr val="004AAD"/>
                </a:solidFill>
                <a:latin typeface="Montserrat"/>
                <a:ea typeface="Montserrat"/>
                <a:cs typeface="Montserrat"/>
                <a:sym typeface="Montserrat"/>
              </a:rPr>
              <a:t>Création dune base de données et tableau de données</a:t>
            </a:r>
            <a:endParaRPr/>
          </a:p>
          <a:p>
            <a:pPr marL="742950" marR="0" lvl="0" indent="-742950" algn="l" rtl="0">
              <a:lnSpc>
                <a:spcPct val="250000"/>
              </a:lnSpc>
              <a:spcBef>
                <a:spcPts val="0"/>
              </a:spcBef>
              <a:spcAft>
                <a:spcPts val="0"/>
              </a:spcAft>
              <a:buClr>
                <a:srgbClr val="004AAD"/>
              </a:buClr>
              <a:buSzPts val="3600"/>
              <a:buFont typeface="Calibri"/>
              <a:buAutoNum type="arabicPeriod"/>
            </a:pPr>
            <a:r>
              <a:rPr lang="fr-FR" sz="3600" b="1">
                <a:solidFill>
                  <a:srgbClr val="004AAD"/>
                </a:solidFill>
                <a:latin typeface="Montserrat"/>
                <a:ea typeface="Montserrat"/>
                <a:cs typeface="Montserrat"/>
                <a:sym typeface="Montserrat"/>
              </a:rPr>
              <a:t>Transfert des données via base de données</a:t>
            </a:r>
            <a:endParaRPr/>
          </a:p>
          <a:p>
            <a:pPr marL="742950" marR="0" lvl="0" indent="-514350" algn="l" rtl="0">
              <a:lnSpc>
                <a:spcPct val="250000"/>
              </a:lnSpc>
              <a:spcBef>
                <a:spcPts val="0"/>
              </a:spcBef>
              <a:spcAft>
                <a:spcPts val="0"/>
              </a:spcAft>
              <a:buClr>
                <a:schemeClr val="dk1"/>
              </a:buClr>
              <a:buSzPts val="3600"/>
              <a:buFont typeface="Calibri"/>
              <a:buNone/>
            </a:pPr>
            <a:endParaRPr sz="3600" b="1">
              <a:solidFill>
                <a:srgbClr val="004AAD"/>
              </a:solidFill>
              <a:latin typeface="Montserrat"/>
              <a:ea typeface="Montserrat"/>
              <a:cs typeface="Montserrat"/>
              <a:sym typeface="Montserra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27"/>
          <p:cNvSpPr txBox="1"/>
          <p:nvPr/>
        </p:nvSpPr>
        <p:spPr>
          <a:xfrm>
            <a:off x="3026229" y="319120"/>
            <a:ext cx="12302440" cy="999954"/>
          </a:xfrm>
          <a:prstGeom prst="rect">
            <a:avLst/>
          </a:prstGeom>
          <a:noFill/>
          <a:ln>
            <a:noFill/>
          </a:ln>
        </p:spPr>
        <p:txBody>
          <a:bodyPr spcFirstLastPara="1" wrap="square" lIns="0" tIns="0" rIns="0" bIns="0" anchor="t" anchorCtr="0">
            <a:spAutoFit/>
          </a:bodyPr>
          <a:lstStyle/>
          <a:p>
            <a:pPr marL="0" marR="0" lvl="0" indent="0" algn="l" rtl="0">
              <a:lnSpc>
                <a:spcPct val="166666"/>
              </a:lnSpc>
              <a:spcBef>
                <a:spcPts val="0"/>
              </a:spcBef>
              <a:spcAft>
                <a:spcPts val="0"/>
              </a:spcAft>
              <a:buNone/>
            </a:pPr>
            <a:endParaRPr sz="5400" b="1">
              <a:solidFill>
                <a:srgbClr val="004AAD"/>
              </a:solidFill>
              <a:latin typeface="Montserrat"/>
              <a:ea typeface="Montserrat"/>
              <a:cs typeface="Montserrat"/>
              <a:sym typeface="Montserrat"/>
            </a:endParaRPr>
          </a:p>
        </p:txBody>
      </p:sp>
      <p:sp>
        <p:nvSpPr>
          <p:cNvPr id="404" name="Google Shape;404;p27"/>
          <p:cNvSpPr txBox="1"/>
          <p:nvPr/>
        </p:nvSpPr>
        <p:spPr>
          <a:xfrm>
            <a:off x="2095500" y="311669"/>
            <a:ext cx="14097000" cy="965136"/>
          </a:xfrm>
          <a:prstGeom prst="rect">
            <a:avLst/>
          </a:prstGeom>
          <a:noFill/>
          <a:ln>
            <a:noFill/>
          </a:ln>
        </p:spPr>
        <p:txBody>
          <a:bodyPr spcFirstLastPara="1" wrap="square" lIns="0" tIns="0" rIns="0" bIns="0" anchor="t" anchorCtr="0">
            <a:spAutoFit/>
          </a:bodyPr>
          <a:lstStyle/>
          <a:p>
            <a:pPr marL="0" marR="0" lvl="0" indent="0" algn="ctr" rtl="0">
              <a:lnSpc>
                <a:spcPct val="225000"/>
              </a:lnSpc>
              <a:spcBef>
                <a:spcPts val="0"/>
              </a:spcBef>
              <a:spcAft>
                <a:spcPts val="0"/>
              </a:spcAft>
              <a:buNone/>
            </a:pPr>
            <a:r>
              <a:rPr lang="fr-FR" sz="4000" b="1">
                <a:solidFill>
                  <a:srgbClr val="004AAD"/>
                </a:solidFill>
                <a:latin typeface="Montserrat"/>
                <a:ea typeface="Montserrat"/>
                <a:cs typeface="Montserrat"/>
                <a:sym typeface="Montserrat"/>
              </a:rPr>
              <a:t>Création de Base de données et Tableaux des données</a:t>
            </a:r>
            <a:endParaRPr sz="4000" b="1">
              <a:solidFill>
                <a:srgbClr val="004AAD"/>
              </a:solidFill>
              <a:latin typeface="Montserrat"/>
              <a:ea typeface="Montserrat"/>
              <a:cs typeface="Montserrat"/>
              <a:sym typeface="Montserrat"/>
            </a:endParaRPr>
          </a:p>
        </p:txBody>
      </p:sp>
      <p:sp>
        <p:nvSpPr>
          <p:cNvPr id="405" name="Google Shape;405;p27"/>
          <p:cNvSpPr txBox="1"/>
          <p:nvPr/>
        </p:nvSpPr>
        <p:spPr>
          <a:xfrm>
            <a:off x="778186" y="5589678"/>
            <a:ext cx="16078199" cy="4154984"/>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2E2E2E"/>
              </a:buClr>
              <a:buSzPts val="2400"/>
              <a:buFont typeface="Arial"/>
              <a:buChar char="•"/>
            </a:pPr>
            <a:r>
              <a:rPr lang="fr-FR" sz="2400">
                <a:solidFill>
                  <a:srgbClr val="2E2E2E"/>
                </a:solidFill>
                <a:latin typeface="Montserrat"/>
                <a:ea typeface="Montserrat"/>
                <a:cs typeface="Montserrat"/>
                <a:sym typeface="Montserrat"/>
              </a:rPr>
              <a:t>Installation de SQL Server Express et hébergement du serveur localement sur le serveur de l'atelier MCP.</a:t>
            </a:r>
            <a:endParaRPr/>
          </a:p>
          <a:p>
            <a:pPr marL="342900" marR="0" lvl="0" indent="-342900" algn="l" rtl="0">
              <a:lnSpc>
                <a:spcPct val="100000"/>
              </a:lnSpc>
              <a:spcBef>
                <a:spcPts val="0"/>
              </a:spcBef>
              <a:spcAft>
                <a:spcPts val="0"/>
              </a:spcAft>
              <a:buClr>
                <a:srgbClr val="2E2E2E"/>
              </a:buClr>
              <a:buSzPts val="2400"/>
              <a:buFont typeface="Arial"/>
              <a:buChar char="•"/>
            </a:pPr>
            <a:r>
              <a:rPr lang="fr-FR" sz="2400">
                <a:solidFill>
                  <a:srgbClr val="2E2E2E"/>
                </a:solidFill>
                <a:latin typeface="Montserrat"/>
                <a:ea typeface="Montserrat"/>
                <a:cs typeface="Montserrat"/>
                <a:sym typeface="Montserrat"/>
              </a:rPr>
              <a:t>Mise en place d'une base de données sous SQL Server Express.</a:t>
            </a:r>
            <a:br>
              <a:rPr lang="fr-FR" sz="2400">
                <a:solidFill>
                  <a:srgbClr val="2E2E2E"/>
                </a:solidFill>
                <a:latin typeface="Montserrat"/>
                <a:ea typeface="Montserrat"/>
                <a:cs typeface="Montserrat"/>
                <a:sym typeface="Montserrat"/>
              </a:rPr>
            </a:br>
            <a:r>
              <a:rPr lang="fr-FR" sz="2400">
                <a:solidFill>
                  <a:srgbClr val="2E2E2E"/>
                </a:solidFill>
                <a:latin typeface="Montserrat"/>
                <a:ea typeface="Montserrat"/>
                <a:cs typeface="Montserrat"/>
                <a:sym typeface="Montserrat"/>
              </a:rPr>
              <a:t>Définition et création des tableaux de données spécifiques à la base :</a:t>
            </a:r>
            <a:endParaRPr/>
          </a:p>
          <a:p>
            <a:pPr marL="342900" marR="0" lvl="0" indent="-190500" algn="l" rtl="0">
              <a:lnSpc>
                <a:spcPct val="100000"/>
              </a:lnSpc>
              <a:spcBef>
                <a:spcPts val="0"/>
              </a:spcBef>
              <a:spcAft>
                <a:spcPts val="0"/>
              </a:spcAft>
              <a:buClr>
                <a:schemeClr val="dk1"/>
              </a:buClr>
              <a:buSzPts val="2400"/>
              <a:buFont typeface="Arial"/>
              <a:buNone/>
            </a:pPr>
            <a:endParaRPr sz="2400">
              <a:solidFill>
                <a:srgbClr val="2E2E2E"/>
              </a:solidFill>
              <a:latin typeface="Montserrat"/>
              <a:ea typeface="Montserrat"/>
              <a:cs typeface="Montserrat"/>
              <a:sym typeface="Montserrat"/>
            </a:endParaRPr>
          </a:p>
          <a:p>
            <a:pPr marL="457200" marR="0" lvl="0" indent="-457200" algn="l" rtl="0">
              <a:spcBef>
                <a:spcPts val="0"/>
              </a:spcBef>
              <a:spcAft>
                <a:spcPts val="0"/>
              </a:spcAft>
              <a:buClr>
                <a:srgbClr val="2E2E2E"/>
              </a:buClr>
              <a:buSzPts val="2400"/>
              <a:buFont typeface="Calibri"/>
              <a:buAutoNum type="arabicPeriod"/>
            </a:pPr>
            <a:r>
              <a:rPr lang="fr-FR" sz="2400">
                <a:solidFill>
                  <a:srgbClr val="2E2E2E"/>
                </a:solidFill>
                <a:latin typeface="Montserrat"/>
                <a:ea typeface="Montserrat"/>
                <a:cs typeface="Montserrat"/>
                <a:sym typeface="Montserrat"/>
              </a:rPr>
              <a:t>Arrets_Planifies</a:t>
            </a:r>
            <a:endParaRPr sz="2400">
              <a:solidFill>
                <a:srgbClr val="2E2E2E"/>
              </a:solidFill>
              <a:latin typeface="Montserrat"/>
              <a:ea typeface="Montserrat"/>
              <a:cs typeface="Montserrat"/>
              <a:sym typeface="Montserrat"/>
            </a:endParaRPr>
          </a:p>
          <a:p>
            <a:pPr marL="457200" marR="0" lvl="0" indent="-457200" algn="l" rtl="0">
              <a:spcBef>
                <a:spcPts val="0"/>
              </a:spcBef>
              <a:spcAft>
                <a:spcPts val="0"/>
              </a:spcAft>
              <a:buClr>
                <a:srgbClr val="2E2E2E"/>
              </a:buClr>
              <a:buSzPts val="2400"/>
              <a:buFont typeface="Calibri"/>
              <a:buAutoNum type="arabicPeriod"/>
            </a:pPr>
            <a:r>
              <a:rPr lang="fr-FR" sz="2400">
                <a:solidFill>
                  <a:srgbClr val="2E2E2E"/>
                </a:solidFill>
                <a:latin typeface="Montserrat"/>
                <a:ea typeface="Montserrat"/>
                <a:cs typeface="Montserrat"/>
                <a:sym typeface="Montserrat"/>
              </a:rPr>
              <a:t>Arrets_Non_Planifies</a:t>
            </a:r>
            <a:endParaRPr sz="2400">
              <a:solidFill>
                <a:srgbClr val="2E2E2E"/>
              </a:solidFill>
              <a:latin typeface="Montserrat"/>
              <a:ea typeface="Montserrat"/>
              <a:cs typeface="Montserrat"/>
              <a:sym typeface="Montserrat"/>
            </a:endParaRPr>
          </a:p>
          <a:p>
            <a:pPr marL="457200" marR="0" lvl="0" indent="-457200" algn="l" rtl="0">
              <a:spcBef>
                <a:spcPts val="0"/>
              </a:spcBef>
              <a:spcAft>
                <a:spcPts val="0"/>
              </a:spcAft>
              <a:buClr>
                <a:srgbClr val="2E2E2E"/>
              </a:buClr>
              <a:buSzPts val="2400"/>
              <a:buFont typeface="Calibri"/>
              <a:buAutoNum type="arabicPeriod"/>
            </a:pPr>
            <a:r>
              <a:rPr lang="fr-FR" sz="2400">
                <a:solidFill>
                  <a:srgbClr val="2E2E2E"/>
                </a:solidFill>
                <a:latin typeface="Montserrat"/>
                <a:ea typeface="Montserrat"/>
                <a:cs typeface="Montserrat"/>
                <a:sym typeface="Montserrat"/>
              </a:rPr>
              <a:t>Sacs_Produits</a:t>
            </a:r>
            <a:endParaRPr sz="2400">
              <a:solidFill>
                <a:srgbClr val="2E2E2E"/>
              </a:solidFill>
              <a:latin typeface="Montserrat"/>
              <a:ea typeface="Montserrat"/>
              <a:cs typeface="Montserrat"/>
              <a:sym typeface="Montserrat"/>
            </a:endParaRPr>
          </a:p>
          <a:p>
            <a:pPr marL="457200" marR="0" lvl="0" indent="-304800" algn="l" rtl="0">
              <a:spcBef>
                <a:spcPts val="0"/>
              </a:spcBef>
              <a:spcAft>
                <a:spcPts val="0"/>
              </a:spcAft>
              <a:buClr>
                <a:schemeClr val="dk1"/>
              </a:buClr>
              <a:buSzPts val="2400"/>
              <a:buFont typeface="Calibri"/>
              <a:buNone/>
            </a:pPr>
            <a:endParaRPr sz="2400">
              <a:solidFill>
                <a:srgbClr val="2E2E2E"/>
              </a:solidFill>
              <a:latin typeface="Montserrat"/>
              <a:ea typeface="Montserrat"/>
              <a:cs typeface="Montserrat"/>
              <a:sym typeface="Montserrat"/>
            </a:endParaRPr>
          </a:p>
          <a:p>
            <a:pPr marL="342900" marR="0" lvl="0" indent="-342900" algn="l" rtl="0">
              <a:spcBef>
                <a:spcPts val="0"/>
              </a:spcBef>
              <a:spcAft>
                <a:spcPts val="0"/>
              </a:spcAft>
              <a:buClr>
                <a:srgbClr val="2E2E2E"/>
              </a:buClr>
              <a:buSzPts val="2400"/>
              <a:buFont typeface="Arial"/>
              <a:buChar char="•"/>
            </a:pPr>
            <a:r>
              <a:rPr lang="fr-FR" sz="2400">
                <a:solidFill>
                  <a:srgbClr val="2E2E2E"/>
                </a:solidFill>
                <a:latin typeface="Montserrat"/>
                <a:ea typeface="Montserrat"/>
                <a:cs typeface="Montserrat"/>
                <a:sym typeface="Montserrat"/>
              </a:rPr>
              <a:t>Objectif : Centraliser et organiser les données clés pour l’analyse de performance.</a:t>
            </a:r>
            <a:endParaRPr/>
          </a:p>
          <a:p>
            <a:pPr marL="342900" marR="0" lvl="0" indent="-190500" algn="l" rtl="0">
              <a:lnSpc>
                <a:spcPct val="100000"/>
              </a:lnSpc>
              <a:spcBef>
                <a:spcPts val="0"/>
              </a:spcBef>
              <a:spcAft>
                <a:spcPts val="0"/>
              </a:spcAft>
              <a:buClr>
                <a:schemeClr val="dk1"/>
              </a:buClr>
              <a:buSzPts val="2400"/>
              <a:buFont typeface="Arial"/>
              <a:buNone/>
            </a:pPr>
            <a:endParaRPr sz="2400">
              <a:solidFill>
                <a:srgbClr val="2E2E2E"/>
              </a:solidFill>
              <a:latin typeface="Montserrat"/>
              <a:ea typeface="Montserrat"/>
              <a:cs typeface="Montserrat"/>
              <a:sym typeface="Montserrat"/>
            </a:endParaRPr>
          </a:p>
        </p:txBody>
      </p:sp>
      <p:grpSp>
        <p:nvGrpSpPr>
          <p:cNvPr id="406" name="Google Shape;406;p27"/>
          <p:cNvGrpSpPr/>
          <p:nvPr/>
        </p:nvGrpSpPr>
        <p:grpSpPr>
          <a:xfrm>
            <a:off x="5029200" y="3771900"/>
            <a:ext cx="12856317" cy="1078325"/>
            <a:chOff x="405463" y="2637859"/>
            <a:chExt cx="12856317" cy="2108137"/>
          </a:xfrm>
        </p:grpSpPr>
        <p:sp>
          <p:nvSpPr>
            <p:cNvPr id="407" name="Google Shape;407;p27"/>
            <p:cNvSpPr/>
            <p:nvPr/>
          </p:nvSpPr>
          <p:spPr>
            <a:xfrm>
              <a:off x="9680380" y="2848401"/>
              <a:ext cx="3581400" cy="1710634"/>
            </a:xfrm>
            <a:prstGeom prst="roundRect">
              <a:avLst>
                <a:gd name="adj" fmla="val 16667"/>
              </a:avLst>
            </a:prstGeom>
            <a:solidFill>
              <a:srgbClr val="0070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000" b="1">
                  <a:solidFill>
                    <a:schemeClr val="lt1"/>
                  </a:solidFill>
                  <a:latin typeface="Montserrat"/>
                  <a:ea typeface="Montserrat"/>
                  <a:cs typeface="Montserrat"/>
                  <a:sym typeface="Montserrat"/>
                </a:rPr>
                <a:t>Management des tableau des Données</a:t>
              </a:r>
              <a:endParaRPr/>
            </a:p>
          </p:txBody>
        </p:sp>
        <p:sp>
          <p:nvSpPr>
            <p:cNvPr id="408" name="Google Shape;408;p27"/>
            <p:cNvSpPr/>
            <p:nvPr/>
          </p:nvSpPr>
          <p:spPr>
            <a:xfrm>
              <a:off x="405463" y="2853727"/>
              <a:ext cx="3581400" cy="1676400"/>
            </a:xfrm>
            <a:prstGeom prst="roundRect">
              <a:avLst>
                <a:gd name="adj" fmla="val 16667"/>
              </a:avLst>
            </a:prstGeom>
            <a:solidFill>
              <a:srgbClr val="0070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000" b="1">
                  <a:solidFill>
                    <a:schemeClr val="lt1"/>
                  </a:solidFill>
                  <a:latin typeface="Montserrat"/>
                  <a:ea typeface="Montserrat"/>
                  <a:cs typeface="Montserrat"/>
                  <a:sym typeface="Montserrat"/>
                </a:rPr>
                <a:t>Elaboration de </a:t>
              </a:r>
              <a:endParaRPr/>
            </a:p>
            <a:p>
              <a:pPr marL="0" marR="0" lvl="0" indent="0" algn="ctr" rtl="0">
                <a:spcBef>
                  <a:spcPts val="0"/>
                </a:spcBef>
                <a:spcAft>
                  <a:spcPts val="0"/>
                </a:spcAft>
                <a:buNone/>
              </a:pPr>
              <a:r>
                <a:rPr lang="fr-FR" sz="2000" b="1">
                  <a:solidFill>
                    <a:schemeClr val="lt1"/>
                  </a:solidFill>
                  <a:latin typeface="Montserrat"/>
                  <a:ea typeface="Montserrat"/>
                  <a:cs typeface="Montserrat"/>
                  <a:sym typeface="Montserrat"/>
                </a:rPr>
                <a:t>la Base de Données </a:t>
              </a:r>
              <a:endParaRPr/>
            </a:p>
          </p:txBody>
        </p:sp>
        <p:sp>
          <p:nvSpPr>
            <p:cNvPr id="409" name="Google Shape;409;p27"/>
            <p:cNvSpPr/>
            <p:nvPr/>
          </p:nvSpPr>
          <p:spPr>
            <a:xfrm>
              <a:off x="4992589" y="2637859"/>
              <a:ext cx="3682064" cy="2108137"/>
            </a:xfrm>
            <a:prstGeom prst="roundRect">
              <a:avLst>
                <a:gd name="adj" fmla="val 16667"/>
              </a:avLst>
            </a:prstGeom>
            <a:solidFill>
              <a:srgbClr val="0070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000" b="1">
                  <a:solidFill>
                    <a:schemeClr val="lt1"/>
                  </a:solidFill>
                  <a:latin typeface="Montserrat"/>
                  <a:ea typeface="Montserrat"/>
                  <a:cs typeface="Montserrat"/>
                  <a:sym typeface="Montserrat"/>
                </a:rPr>
                <a:t>Définition et création des tableau de données</a:t>
              </a:r>
              <a:endParaRPr sz="2000" b="1">
                <a:solidFill>
                  <a:schemeClr val="lt1"/>
                </a:solidFill>
                <a:latin typeface="Montserrat"/>
                <a:ea typeface="Montserrat"/>
                <a:cs typeface="Montserrat"/>
                <a:sym typeface="Montserrat"/>
              </a:endParaRPr>
            </a:p>
          </p:txBody>
        </p:sp>
        <p:sp>
          <p:nvSpPr>
            <p:cNvPr id="410" name="Google Shape;410;p27"/>
            <p:cNvSpPr/>
            <p:nvPr/>
          </p:nvSpPr>
          <p:spPr>
            <a:xfrm>
              <a:off x="4193549" y="3310927"/>
              <a:ext cx="592354" cy="762000"/>
            </a:xfrm>
            <a:prstGeom prst="right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1" name="Google Shape;411;p27"/>
            <p:cNvSpPr/>
            <p:nvPr/>
          </p:nvSpPr>
          <p:spPr>
            <a:xfrm>
              <a:off x="8881339" y="3310927"/>
              <a:ext cx="592354" cy="762000"/>
            </a:xfrm>
            <a:prstGeom prst="right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412" name="Google Shape;412;p27"/>
          <p:cNvSpPr/>
          <p:nvPr/>
        </p:nvSpPr>
        <p:spPr>
          <a:xfrm>
            <a:off x="556302" y="3776549"/>
            <a:ext cx="3581400" cy="1069026"/>
          </a:xfrm>
          <a:prstGeom prst="roundRect">
            <a:avLst>
              <a:gd name="adj" fmla="val 16667"/>
            </a:avLst>
          </a:prstGeom>
          <a:solidFill>
            <a:srgbClr val="0070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000" b="1">
                <a:solidFill>
                  <a:schemeClr val="lt1"/>
                </a:solidFill>
                <a:latin typeface="Montserrat"/>
                <a:ea typeface="Montserrat"/>
                <a:cs typeface="Montserrat"/>
                <a:sym typeface="Montserrat"/>
              </a:rPr>
              <a:t>Type de le serveur</a:t>
            </a:r>
            <a:endParaRPr/>
          </a:p>
        </p:txBody>
      </p:sp>
      <p:sp>
        <p:nvSpPr>
          <p:cNvPr id="413" name="Google Shape;413;p27"/>
          <p:cNvSpPr/>
          <p:nvPr/>
        </p:nvSpPr>
        <p:spPr>
          <a:xfrm>
            <a:off x="4241045" y="4140669"/>
            <a:ext cx="592354" cy="340787"/>
          </a:xfrm>
          <a:prstGeom prst="right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14" name="Google Shape;414;p27" descr="SQL Server Management Studio (SSMS) version 18.10 is released"/>
          <p:cNvPicPr preferRelativeResize="0"/>
          <p:nvPr/>
        </p:nvPicPr>
        <p:blipFill rotWithShape="1">
          <a:blip r:embed="rId3">
            <a:alphaModFix/>
          </a:blip>
          <a:srcRect l="24235" r="17431"/>
          <a:stretch/>
        </p:blipFill>
        <p:spPr>
          <a:xfrm>
            <a:off x="15278100" y="1848128"/>
            <a:ext cx="1828800" cy="1763486"/>
          </a:xfrm>
          <a:prstGeom prst="rect">
            <a:avLst/>
          </a:prstGeom>
          <a:noFill/>
          <a:ln>
            <a:noFill/>
          </a:ln>
        </p:spPr>
      </p:pic>
      <p:pic>
        <p:nvPicPr>
          <p:cNvPr id="415" name="Google Shape;415;p27"/>
          <p:cNvPicPr preferRelativeResize="0"/>
          <p:nvPr/>
        </p:nvPicPr>
        <p:blipFill rotWithShape="1">
          <a:blip r:embed="rId4">
            <a:alphaModFix/>
          </a:blip>
          <a:srcRect/>
          <a:stretch/>
        </p:blipFill>
        <p:spPr>
          <a:xfrm>
            <a:off x="778186" y="1560739"/>
            <a:ext cx="3108014" cy="2160551"/>
          </a:xfrm>
          <a:prstGeom prst="rect">
            <a:avLst/>
          </a:prstGeom>
          <a:noFill/>
          <a:ln>
            <a:noFill/>
          </a:ln>
        </p:spPr>
      </p:pic>
      <p:pic>
        <p:nvPicPr>
          <p:cNvPr id="416" name="Google Shape;416;p27" descr="Microsoft BI Tools: SQL Snack: Create readonly DB user in Azure SQL DB"/>
          <p:cNvPicPr preferRelativeResize="0"/>
          <p:nvPr/>
        </p:nvPicPr>
        <p:blipFill rotWithShape="1">
          <a:blip r:embed="rId5">
            <a:alphaModFix/>
          </a:blip>
          <a:srcRect/>
          <a:stretch/>
        </p:blipFill>
        <p:spPr>
          <a:xfrm>
            <a:off x="5929736" y="1883265"/>
            <a:ext cx="1894556" cy="1900648"/>
          </a:xfrm>
          <a:prstGeom prst="rect">
            <a:avLst/>
          </a:prstGeom>
          <a:noFill/>
          <a:ln>
            <a:noFill/>
          </a:ln>
        </p:spPr>
      </p:pic>
      <p:pic>
        <p:nvPicPr>
          <p:cNvPr id="417" name="Google Shape;417;p27"/>
          <p:cNvPicPr preferRelativeResize="0"/>
          <p:nvPr/>
        </p:nvPicPr>
        <p:blipFill rotWithShape="1">
          <a:blip r:embed="rId6">
            <a:alphaModFix/>
          </a:blip>
          <a:srcRect/>
          <a:stretch/>
        </p:blipFill>
        <p:spPr>
          <a:xfrm>
            <a:off x="10622816" y="1867887"/>
            <a:ext cx="1828800" cy="1853403"/>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28"/>
          <p:cNvSpPr txBox="1"/>
          <p:nvPr/>
        </p:nvSpPr>
        <p:spPr>
          <a:xfrm>
            <a:off x="3026229" y="319120"/>
            <a:ext cx="12302440" cy="999954"/>
          </a:xfrm>
          <a:prstGeom prst="rect">
            <a:avLst/>
          </a:prstGeom>
          <a:noFill/>
          <a:ln>
            <a:noFill/>
          </a:ln>
        </p:spPr>
        <p:txBody>
          <a:bodyPr spcFirstLastPara="1" wrap="square" lIns="0" tIns="0" rIns="0" bIns="0" anchor="t" anchorCtr="0">
            <a:spAutoFit/>
          </a:bodyPr>
          <a:lstStyle/>
          <a:p>
            <a:pPr marL="0" marR="0" lvl="0" indent="0" algn="l" rtl="0">
              <a:lnSpc>
                <a:spcPct val="166666"/>
              </a:lnSpc>
              <a:spcBef>
                <a:spcPts val="0"/>
              </a:spcBef>
              <a:spcAft>
                <a:spcPts val="0"/>
              </a:spcAft>
              <a:buNone/>
            </a:pPr>
            <a:endParaRPr sz="5400" b="1">
              <a:solidFill>
                <a:srgbClr val="004AAD"/>
              </a:solidFill>
              <a:latin typeface="Montserrat"/>
              <a:ea typeface="Montserrat"/>
              <a:cs typeface="Montserrat"/>
              <a:sym typeface="Montserrat"/>
            </a:endParaRPr>
          </a:p>
        </p:txBody>
      </p:sp>
      <p:sp>
        <p:nvSpPr>
          <p:cNvPr id="424" name="Google Shape;424;p28"/>
          <p:cNvSpPr txBox="1"/>
          <p:nvPr/>
        </p:nvSpPr>
        <p:spPr>
          <a:xfrm>
            <a:off x="2095500" y="311669"/>
            <a:ext cx="14097000" cy="965136"/>
          </a:xfrm>
          <a:prstGeom prst="rect">
            <a:avLst/>
          </a:prstGeom>
          <a:noFill/>
          <a:ln>
            <a:noFill/>
          </a:ln>
        </p:spPr>
        <p:txBody>
          <a:bodyPr spcFirstLastPara="1" wrap="square" lIns="0" tIns="0" rIns="0" bIns="0" anchor="t" anchorCtr="0">
            <a:spAutoFit/>
          </a:bodyPr>
          <a:lstStyle/>
          <a:p>
            <a:pPr marL="0" marR="0" lvl="0" indent="0" algn="ctr" rtl="0">
              <a:lnSpc>
                <a:spcPct val="225000"/>
              </a:lnSpc>
              <a:spcBef>
                <a:spcPts val="0"/>
              </a:spcBef>
              <a:spcAft>
                <a:spcPts val="0"/>
              </a:spcAft>
              <a:buNone/>
            </a:pPr>
            <a:r>
              <a:rPr lang="fr-FR" sz="4000" b="1">
                <a:solidFill>
                  <a:srgbClr val="004AAD"/>
                </a:solidFill>
                <a:latin typeface="Montserrat"/>
                <a:ea typeface="Montserrat"/>
                <a:cs typeface="Montserrat"/>
                <a:sym typeface="Montserrat"/>
              </a:rPr>
              <a:t>Transfert des données via base de données</a:t>
            </a:r>
            <a:endParaRPr/>
          </a:p>
        </p:txBody>
      </p:sp>
      <p:sp>
        <p:nvSpPr>
          <p:cNvPr id="425" name="Google Shape;425;p28"/>
          <p:cNvSpPr txBox="1"/>
          <p:nvPr/>
        </p:nvSpPr>
        <p:spPr>
          <a:xfrm>
            <a:off x="863177" y="2017334"/>
            <a:ext cx="16078200" cy="4401205"/>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rgbClr val="2E2E2E"/>
              </a:buClr>
              <a:buSzPts val="2400"/>
              <a:buFont typeface="Arial"/>
              <a:buChar char="•"/>
            </a:pPr>
            <a:r>
              <a:rPr lang="fr-FR" sz="2400">
                <a:solidFill>
                  <a:srgbClr val="2E2E2E"/>
                </a:solidFill>
                <a:latin typeface="Montserrat"/>
                <a:ea typeface="Montserrat"/>
                <a:cs typeface="Montserrat"/>
                <a:sym typeface="Montserrat"/>
              </a:rPr>
              <a:t>Mise en place d'un processus automatisé (Mécanisme de "Pipeline") pour le transfert direct des données.</a:t>
            </a:r>
            <a:endParaRPr/>
          </a:p>
          <a:p>
            <a:pPr marL="342900" marR="0" lvl="0" indent="-342900" algn="l" rtl="0">
              <a:spcBef>
                <a:spcPts val="0"/>
              </a:spcBef>
              <a:spcAft>
                <a:spcPts val="0"/>
              </a:spcAft>
              <a:buClr>
                <a:srgbClr val="2E2E2E"/>
              </a:buClr>
              <a:buSzPts val="2400"/>
              <a:buFont typeface="Arial"/>
              <a:buChar char="•"/>
            </a:pPr>
            <a:r>
              <a:rPr lang="fr-FR" sz="2400">
                <a:solidFill>
                  <a:srgbClr val="2E2E2E"/>
                </a:solidFill>
                <a:latin typeface="Montserrat"/>
                <a:ea typeface="Montserrat"/>
                <a:cs typeface="Montserrat"/>
                <a:sym typeface="Montserrat"/>
              </a:rPr>
              <a:t>Utilisation de macros VBA intégrées aux formulaires de saisie Excel pour :</a:t>
            </a:r>
            <a:endParaRPr/>
          </a:p>
          <a:p>
            <a:pPr marL="342900" marR="0" lvl="0" indent="-190500" algn="l" rtl="0">
              <a:spcBef>
                <a:spcPts val="0"/>
              </a:spcBef>
              <a:spcAft>
                <a:spcPts val="0"/>
              </a:spcAft>
              <a:buClr>
                <a:schemeClr val="dk1"/>
              </a:buClr>
              <a:buSzPts val="2400"/>
              <a:buFont typeface="Arial"/>
              <a:buNone/>
            </a:pPr>
            <a:endParaRPr sz="2400">
              <a:solidFill>
                <a:srgbClr val="2E2E2E"/>
              </a:solidFill>
              <a:latin typeface="Montserrat"/>
              <a:ea typeface="Montserrat"/>
              <a:cs typeface="Montserrat"/>
              <a:sym typeface="Montserrat"/>
            </a:endParaRPr>
          </a:p>
          <a:p>
            <a:pPr marL="457200" marR="0" lvl="0" indent="-457200" algn="l" rtl="0">
              <a:spcBef>
                <a:spcPts val="0"/>
              </a:spcBef>
              <a:spcAft>
                <a:spcPts val="0"/>
              </a:spcAft>
              <a:buClr>
                <a:srgbClr val="2E2E2E"/>
              </a:buClr>
              <a:buSzPts val="2400"/>
              <a:buFont typeface="Calibri"/>
              <a:buAutoNum type="alphaLcPeriod"/>
            </a:pPr>
            <a:r>
              <a:rPr lang="fr-FR" sz="2400">
                <a:solidFill>
                  <a:srgbClr val="2E2E2E"/>
                </a:solidFill>
                <a:latin typeface="Montserrat"/>
                <a:ea typeface="Montserrat"/>
                <a:cs typeface="Montserrat"/>
                <a:sym typeface="Montserrat"/>
              </a:rPr>
              <a:t>Configurer la connexion à la base de données SQL Server.</a:t>
            </a:r>
            <a:endParaRPr/>
          </a:p>
          <a:p>
            <a:pPr marL="457200" marR="0" lvl="0" indent="-457200" algn="l" rtl="0">
              <a:spcBef>
                <a:spcPts val="0"/>
              </a:spcBef>
              <a:spcAft>
                <a:spcPts val="0"/>
              </a:spcAft>
              <a:buClr>
                <a:srgbClr val="2E2E2E"/>
              </a:buClr>
              <a:buSzPts val="2400"/>
              <a:buFont typeface="Calibri"/>
              <a:buAutoNum type="alphaLcPeriod"/>
            </a:pPr>
            <a:r>
              <a:rPr lang="fr-FR" sz="2400">
                <a:solidFill>
                  <a:srgbClr val="2E2E2E"/>
                </a:solidFill>
                <a:latin typeface="Montserrat"/>
                <a:ea typeface="Montserrat"/>
                <a:cs typeface="Montserrat"/>
                <a:sym typeface="Montserrat"/>
              </a:rPr>
              <a:t>Automatiser l'envoi des données (saisies par les opérateurs) vers les tableaux des donnees correspondantes.</a:t>
            </a:r>
            <a:endParaRPr/>
          </a:p>
          <a:p>
            <a:pPr marL="457200" marR="0" lvl="0" indent="-304800" algn="l" rtl="0">
              <a:spcBef>
                <a:spcPts val="0"/>
              </a:spcBef>
              <a:spcAft>
                <a:spcPts val="0"/>
              </a:spcAft>
              <a:buClr>
                <a:schemeClr val="dk1"/>
              </a:buClr>
              <a:buSzPts val="2400"/>
              <a:buFont typeface="Calibri"/>
              <a:buNone/>
            </a:pPr>
            <a:endParaRPr sz="2400">
              <a:solidFill>
                <a:srgbClr val="2E2E2E"/>
              </a:solidFill>
              <a:latin typeface="Montserrat"/>
              <a:ea typeface="Montserrat"/>
              <a:cs typeface="Montserrat"/>
              <a:sym typeface="Montserrat"/>
            </a:endParaRPr>
          </a:p>
          <a:p>
            <a:pPr marL="0" marR="0" lvl="0" indent="0" algn="l" rtl="0">
              <a:spcBef>
                <a:spcPts val="0"/>
              </a:spcBef>
              <a:spcAft>
                <a:spcPts val="0"/>
              </a:spcAft>
              <a:buNone/>
            </a:pPr>
            <a:r>
              <a:rPr lang="fr-FR" sz="2400">
                <a:solidFill>
                  <a:srgbClr val="2E2E2E"/>
                </a:solidFill>
                <a:latin typeface="Montserrat"/>
                <a:ea typeface="Montserrat"/>
                <a:cs typeface="Montserrat"/>
                <a:sym typeface="Montserrat"/>
              </a:rPr>
              <a:t>Fiabilité et Traçabilité : Ce processus assure une mise à jour régulière, fiable et structurée des informations, créant un historique de données indispensable pour l'analyse de performance.</a:t>
            </a:r>
            <a:endParaRPr/>
          </a:p>
          <a:p>
            <a:pPr marL="0" marR="0" lvl="0" indent="0" algn="l" rtl="0">
              <a:spcBef>
                <a:spcPts val="0"/>
              </a:spcBef>
              <a:spcAft>
                <a:spcPts val="0"/>
              </a:spcAft>
              <a:buNone/>
            </a:pPr>
            <a:endParaRPr sz="2400">
              <a:solidFill>
                <a:srgbClr val="2E2E2E"/>
              </a:solidFill>
              <a:latin typeface="Montserrat"/>
              <a:ea typeface="Montserrat"/>
              <a:cs typeface="Montserrat"/>
              <a:sym typeface="Montserrat"/>
            </a:endParaRPr>
          </a:p>
          <a:p>
            <a:pPr marL="0" marR="0" lvl="0" indent="0" algn="l" rtl="0">
              <a:spcBef>
                <a:spcPts val="0"/>
              </a:spcBef>
              <a:spcAft>
                <a:spcPts val="0"/>
              </a:spcAft>
              <a:buNone/>
            </a:pPr>
            <a:endParaRPr sz="1600">
              <a:solidFill>
                <a:schemeClr val="dk1"/>
              </a:solidFill>
              <a:latin typeface="Calibri"/>
              <a:ea typeface="Calibri"/>
              <a:cs typeface="Calibri"/>
              <a:sym typeface="Calibri"/>
            </a:endParaRPr>
          </a:p>
        </p:txBody>
      </p:sp>
      <p:grpSp>
        <p:nvGrpSpPr>
          <p:cNvPr id="426" name="Google Shape;426;p28"/>
          <p:cNvGrpSpPr/>
          <p:nvPr/>
        </p:nvGrpSpPr>
        <p:grpSpPr>
          <a:xfrm>
            <a:off x="2819400" y="5829300"/>
            <a:ext cx="11799068" cy="3883855"/>
            <a:chOff x="3429000" y="6457284"/>
            <a:chExt cx="11799068" cy="3883855"/>
          </a:xfrm>
        </p:grpSpPr>
        <p:grpSp>
          <p:nvGrpSpPr>
            <p:cNvPr id="427" name="Google Shape;427;p28"/>
            <p:cNvGrpSpPr/>
            <p:nvPr/>
          </p:nvGrpSpPr>
          <p:grpSpPr>
            <a:xfrm>
              <a:off x="3429000" y="8707458"/>
              <a:ext cx="3119377" cy="1222322"/>
              <a:chOff x="1129174" y="7734300"/>
              <a:chExt cx="3119377" cy="1222322"/>
            </a:xfrm>
          </p:grpSpPr>
          <p:pic>
            <p:nvPicPr>
              <p:cNvPr id="428" name="Google Shape;428;p28" descr="Microsoft Excel Logo transparent PNG - StickPNG"/>
              <p:cNvPicPr preferRelativeResize="0"/>
              <p:nvPr/>
            </p:nvPicPr>
            <p:blipFill rotWithShape="1">
              <a:blip r:embed="rId3">
                <a:alphaModFix/>
              </a:blip>
              <a:srcRect/>
              <a:stretch/>
            </p:blipFill>
            <p:spPr>
              <a:xfrm>
                <a:off x="1129174" y="7841662"/>
                <a:ext cx="1597078" cy="995362"/>
              </a:xfrm>
              <a:prstGeom prst="rect">
                <a:avLst/>
              </a:prstGeom>
              <a:noFill/>
              <a:ln>
                <a:noFill/>
              </a:ln>
            </p:spPr>
          </p:pic>
          <p:pic>
            <p:nvPicPr>
              <p:cNvPr id="429" name="Google Shape;429;p28" descr="Macros, spreadsheet, vba icon - Download on Iconfinder"/>
              <p:cNvPicPr preferRelativeResize="0"/>
              <p:nvPr/>
            </p:nvPicPr>
            <p:blipFill rotWithShape="1">
              <a:blip r:embed="rId4">
                <a:alphaModFix/>
              </a:blip>
              <a:srcRect/>
              <a:stretch/>
            </p:blipFill>
            <p:spPr>
              <a:xfrm>
                <a:off x="3026229" y="7734300"/>
                <a:ext cx="1222322" cy="1222322"/>
              </a:xfrm>
              <a:prstGeom prst="rect">
                <a:avLst/>
              </a:prstGeom>
              <a:noFill/>
              <a:ln>
                <a:noFill/>
              </a:ln>
            </p:spPr>
          </p:pic>
          <p:sp>
            <p:nvSpPr>
              <p:cNvPr id="430" name="Google Shape;430;p28"/>
              <p:cNvSpPr txBox="1"/>
              <p:nvPr/>
            </p:nvSpPr>
            <p:spPr>
              <a:xfrm>
                <a:off x="2609541" y="7734300"/>
                <a:ext cx="533400" cy="999954"/>
              </a:xfrm>
              <a:prstGeom prst="rect">
                <a:avLst/>
              </a:prstGeom>
              <a:noFill/>
              <a:ln>
                <a:noFill/>
              </a:ln>
            </p:spPr>
            <p:txBody>
              <a:bodyPr spcFirstLastPara="1" wrap="square" lIns="0" tIns="0" rIns="0" bIns="0" anchor="t" anchorCtr="0">
                <a:spAutoFit/>
              </a:bodyPr>
              <a:lstStyle/>
              <a:p>
                <a:pPr marL="0" marR="0" lvl="0" indent="0" algn="ctr" rtl="0">
                  <a:lnSpc>
                    <a:spcPct val="166666"/>
                  </a:lnSpc>
                  <a:spcBef>
                    <a:spcPts val="0"/>
                  </a:spcBef>
                  <a:spcAft>
                    <a:spcPts val="0"/>
                  </a:spcAft>
                  <a:buNone/>
                </a:pPr>
                <a:r>
                  <a:rPr lang="fr-FR" sz="5400" b="1">
                    <a:solidFill>
                      <a:schemeClr val="dk1"/>
                    </a:solidFill>
                    <a:latin typeface="Montserrat"/>
                    <a:ea typeface="Montserrat"/>
                    <a:cs typeface="Montserrat"/>
                    <a:sym typeface="Montserrat"/>
                  </a:rPr>
                  <a:t>+</a:t>
                </a:r>
                <a:endParaRPr sz="5400" b="1">
                  <a:solidFill>
                    <a:schemeClr val="dk1"/>
                  </a:solidFill>
                  <a:latin typeface="Montserrat"/>
                  <a:ea typeface="Montserrat"/>
                  <a:cs typeface="Montserrat"/>
                  <a:sym typeface="Montserrat"/>
                </a:endParaRPr>
              </a:p>
            </p:txBody>
          </p:sp>
        </p:grpSp>
        <p:pic>
          <p:nvPicPr>
            <p:cNvPr id="431" name="Google Shape;431;p28" descr="Send Icon Images – Browse 537,790 Stock Photos, Vectors, and Video | Adobe Stock"/>
            <p:cNvPicPr preferRelativeResize="0"/>
            <p:nvPr/>
          </p:nvPicPr>
          <p:blipFill rotWithShape="1">
            <a:blip r:embed="rId5">
              <a:alphaModFix/>
            </a:blip>
            <a:srcRect l="26667" t="26191" r="26667" b="24921"/>
            <a:stretch/>
          </p:blipFill>
          <p:spPr>
            <a:xfrm rot="988499">
              <a:off x="6570148" y="7403268"/>
              <a:ext cx="841851" cy="881940"/>
            </a:xfrm>
            <a:prstGeom prst="rect">
              <a:avLst/>
            </a:prstGeom>
            <a:noFill/>
            <a:ln>
              <a:noFill/>
            </a:ln>
          </p:spPr>
        </p:pic>
        <p:pic>
          <p:nvPicPr>
            <p:cNvPr id="432" name="Google Shape;432;p28" descr="16+ Thousand Data Sources Icon Royalty-Free Images, Stock Photos &amp; Pictures  | Shutterstock"/>
            <p:cNvPicPr preferRelativeResize="0"/>
            <p:nvPr/>
          </p:nvPicPr>
          <p:blipFill rotWithShape="1">
            <a:blip r:embed="rId6">
              <a:alphaModFix/>
            </a:blip>
            <a:srcRect l="20859" t="18224" r="17735" b="13660"/>
            <a:stretch/>
          </p:blipFill>
          <p:spPr>
            <a:xfrm>
              <a:off x="8636687" y="6457284"/>
              <a:ext cx="1865790" cy="2069687"/>
            </a:xfrm>
            <a:prstGeom prst="rect">
              <a:avLst/>
            </a:prstGeom>
            <a:noFill/>
            <a:ln>
              <a:noFill/>
            </a:ln>
          </p:spPr>
        </p:pic>
        <p:pic>
          <p:nvPicPr>
            <p:cNvPr id="433" name="Google Shape;433;p28" descr="Send Icon Images – Browse 537,790 Stock Photos, Vectors, and Video | Adobe Stock"/>
            <p:cNvPicPr preferRelativeResize="0"/>
            <p:nvPr/>
          </p:nvPicPr>
          <p:blipFill rotWithShape="1">
            <a:blip r:embed="rId5">
              <a:alphaModFix/>
            </a:blip>
            <a:srcRect l="26667" t="26191" r="26667" b="24921"/>
            <a:stretch/>
          </p:blipFill>
          <p:spPr>
            <a:xfrm rot="4867162">
              <a:off x="11198463" y="7446254"/>
              <a:ext cx="841851" cy="881940"/>
            </a:xfrm>
            <a:prstGeom prst="rect">
              <a:avLst/>
            </a:prstGeom>
            <a:noFill/>
            <a:ln>
              <a:noFill/>
            </a:ln>
          </p:spPr>
        </p:pic>
        <p:pic>
          <p:nvPicPr>
            <p:cNvPr id="434" name="Google Shape;434;p28"/>
            <p:cNvPicPr preferRelativeResize="0"/>
            <p:nvPr/>
          </p:nvPicPr>
          <p:blipFill rotWithShape="1">
            <a:blip r:embed="rId7">
              <a:alphaModFix/>
            </a:blip>
            <a:srcRect/>
            <a:stretch/>
          </p:blipFill>
          <p:spPr>
            <a:xfrm>
              <a:off x="12120054" y="8180588"/>
              <a:ext cx="3108014" cy="2160551"/>
            </a:xfrm>
            <a:prstGeom prst="rect">
              <a:avLst/>
            </a:prstGeom>
            <a:noFill/>
            <a:ln>
              <a:noFill/>
            </a:ln>
          </p:spPr>
        </p:pic>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29"/>
          <p:cNvSpPr/>
          <p:nvPr/>
        </p:nvSpPr>
        <p:spPr>
          <a:xfrm rot="-6664043">
            <a:off x="519355" y="-1838608"/>
            <a:ext cx="13624687" cy="13964216"/>
          </a:xfrm>
          <a:custGeom>
            <a:avLst/>
            <a:gdLst/>
            <a:ahLst/>
            <a:cxnLst/>
            <a:rect l="l" t="t" r="r" b="b"/>
            <a:pathLst>
              <a:path w="11511802" h="11511802" extrusionOk="0">
                <a:moveTo>
                  <a:pt x="0" y="0"/>
                </a:moveTo>
                <a:lnTo>
                  <a:pt x="11511802" y="0"/>
                </a:lnTo>
                <a:lnTo>
                  <a:pt x="11511802" y="11511802"/>
                </a:lnTo>
                <a:lnTo>
                  <a:pt x="0" y="11511802"/>
                </a:lnTo>
                <a:lnTo>
                  <a:pt x="0" y="0"/>
                </a:lnTo>
                <a:close/>
              </a:path>
            </a:pathLst>
          </a:custGeom>
          <a:blipFill rotWithShape="1">
            <a:blip r:embed="rId3">
              <a:alphaModFix amt="40000"/>
            </a:blip>
            <a:stretch>
              <a:fillRect/>
            </a:stretch>
          </a:blipFill>
          <a:ln>
            <a:noFill/>
          </a:ln>
        </p:spPr>
      </p:sp>
      <p:sp>
        <p:nvSpPr>
          <p:cNvPr id="441" name="Google Shape;441;p29"/>
          <p:cNvSpPr/>
          <p:nvPr/>
        </p:nvSpPr>
        <p:spPr>
          <a:xfrm rot="1505868">
            <a:off x="4218925" y="2601217"/>
            <a:ext cx="12580534" cy="8680686"/>
          </a:xfrm>
          <a:custGeom>
            <a:avLst/>
            <a:gdLst/>
            <a:ahLst/>
            <a:cxnLst/>
            <a:rect l="l" t="t" r="r" b="b"/>
            <a:pathLst>
              <a:path w="12580534" h="8680686" extrusionOk="0">
                <a:moveTo>
                  <a:pt x="0" y="0"/>
                </a:moveTo>
                <a:lnTo>
                  <a:pt x="12580534" y="0"/>
                </a:lnTo>
                <a:lnTo>
                  <a:pt x="12580534" y="8680686"/>
                </a:lnTo>
                <a:lnTo>
                  <a:pt x="0" y="8680686"/>
                </a:lnTo>
                <a:lnTo>
                  <a:pt x="0" y="0"/>
                </a:lnTo>
                <a:close/>
              </a:path>
            </a:pathLst>
          </a:custGeom>
          <a:blipFill rotWithShape="1">
            <a:blip r:embed="rId4">
              <a:alphaModFix amt="50000"/>
            </a:blip>
            <a:stretch>
              <a:fillRect/>
            </a:stretch>
          </a:blipFill>
          <a:ln>
            <a:noFill/>
          </a:ln>
        </p:spPr>
      </p:sp>
      <p:sp>
        <p:nvSpPr>
          <p:cNvPr id="442" name="Google Shape;442;p29"/>
          <p:cNvSpPr txBox="1"/>
          <p:nvPr/>
        </p:nvSpPr>
        <p:spPr>
          <a:xfrm>
            <a:off x="2122884" y="1951805"/>
            <a:ext cx="14042231" cy="3700628"/>
          </a:xfrm>
          <a:prstGeom prst="rect">
            <a:avLst/>
          </a:prstGeom>
          <a:noFill/>
          <a:ln>
            <a:noFill/>
          </a:ln>
        </p:spPr>
        <p:txBody>
          <a:bodyPr spcFirstLastPara="1" wrap="square" lIns="0" tIns="0" rIns="0" bIns="0" anchor="t" anchorCtr="0">
            <a:spAutoFit/>
          </a:bodyPr>
          <a:lstStyle/>
          <a:p>
            <a:pPr marL="0" marR="0" lvl="0" indent="0" algn="l" rtl="0">
              <a:lnSpc>
                <a:spcPct val="166666"/>
              </a:lnSpc>
              <a:spcBef>
                <a:spcPts val="0"/>
              </a:spcBef>
              <a:spcAft>
                <a:spcPts val="0"/>
              </a:spcAft>
              <a:buNone/>
            </a:pPr>
            <a:r>
              <a:rPr lang="fr-FR" sz="4800" b="1" dirty="0">
                <a:solidFill>
                  <a:srgbClr val="FF0000"/>
                </a:solidFill>
                <a:latin typeface="Montserrat"/>
                <a:ea typeface="Montserrat"/>
                <a:cs typeface="Montserrat"/>
                <a:sym typeface="Montserrat"/>
              </a:rPr>
              <a:t>Phase 3 : Préparation et automatisation des processus de calcul des KPIs et d'analyse de performance</a:t>
            </a:r>
            <a:endParaRPr sz="4800" b="1" dirty="0">
              <a:solidFill>
                <a:srgbClr val="FF0000"/>
              </a:solidFill>
              <a:latin typeface="Montserrat"/>
              <a:ea typeface="Montserrat"/>
              <a:cs typeface="Montserrat"/>
              <a:sym typeface="Montserrat"/>
            </a:endParaRPr>
          </a:p>
        </p:txBody>
      </p:sp>
      <p:sp>
        <p:nvSpPr>
          <p:cNvPr id="443" name="Google Shape;443;p29"/>
          <p:cNvSpPr txBox="1"/>
          <p:nvPr/>
        </p:nvSpPr>
        <p:spPr>
          <a:xfrm>
            <a:off x="3488076" y="5652433"/>
            <a:ext cx="14042231" cy="2109360"/>
          </a:xfrm>
          <a:prstGeom prst="rect">
            <a:avLst/>
          </a:prstGeom>
          <a:noFill/>
          <a:ln>
            <a:noFill/>
          </a:ln>
        </p:spPr>
        <p:txBody>
          <a:bodyPr spcFirstLastPara="1" wrap="square" lIns="0" tIns="0" rIns="0" bIns="0" anchor="t" anchorCtr="0">
            <a:spAutoFit/>
          </a:bodyPr>
          <a:lstStyle/>
          <a:p>
            <a:pPr marL="742950" marR="0" lvl="0" indent="-742950" algn="l" rtl="0">
              <a:lnSpc>
                <a:spcPct val="250000"/>
              </a:lnSpc>
              <a:spcBef>
                <a:spcPts val="0"/>
              </a:spcBef>
              <a:spcAft>
                <a:spcPts val="0"/>
              </a:spcAft>
              <a:buClr>
                <a:srgbClr val="004AAD"/>
              </a:buClr>
              <a:buSzPts val="3600"/>
              <a:buFont typeface="Calibri"/>
              <a:buAutoNum type="arabicPeriod"/>
            </a:pPr>
            <a:r>
              <a:rPr lang="fr-FR" sz="3600" b="1" dirty="0">
                <a:solidFill>
                  <a:srgbClr val="004AAD"/>
                </a:solidFill>
                <a:latin typeface="Montserrat"/>
                <a:ea typeface="Montserrat"/>
                <a:cs typeface="Montserrat"/>
                <a:sym typeface="Montserrat"/>
              </a:rPr>
              <a:t>Préparation des tableaux de données clients</a:t>
            </a:r>
            <a:endParaRPr dirty="0"/>
          </a:p>
          <a:p>
            <a:pPr marL="742950" marR="0" lvl="0" indent="-742950" algn="l" rtl="0">
              <a:lnSpc>
                <a:spcPct val="250000"/>
              </a:lnSpc>
              <a:spcBef>
                <a:spcPts val="0"/>
              </a:spcBef>
              <a:spcAft>
                <a:spcPts val="0"/>
              </a:spcAft>
              <a:buClr>
                <a:srgbClr val="004AAD"/>
              </a:buClr>
              <a:buSzPts val="3600"/>
              <a:buFont typeface="Calibri"/>
              <a:buAutoNum type="arabicPeriod"/>
            </a:pPr>
            <a:r>
              <a:rPr lang="fr-FR" sz="3600" b="1" dirty="0">
                <a:solidFill>
                  <a:srgbClr val="004AAD"/>
                </a:solidFill>
                <a:latin typeface="Montserrat"/>
                <a:ea typeface="Montserrat"/>
                <a:cs typeface="Montserrat"/>
                <a:sym typeface="Montserrat"/>
              </a:rPr>
              <a:t>Programmation et automatisation des processus</a:t>
            </a:r>
            <a:endParaRPr sz="3600" b="1" dirty="0">
              <a:solidFill>
                <a:srgbClr val="004AAD"/>
              </a:solidFill>
              <a:latin typeface="Montserrat"/>
              <a:ea typeface="Montserrat"/>
              <a:cs typeface="Montserrat"/>
              <a:sym typeface="Montserrat"/>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p30"/>
          <p:cNvSpPr txBox="1"/>
          <p:nvPr/>
        </p:nvSpPr>
        <p:spPr>
          <a:xfrm>
            <a:off x="3026229" y="319120"/>
            <a:ext cx="12302440" cy="999954"/>
          </a:xfrm>
          <a:prstGeom prst="rect">
            <a:avLst/>
          </a:prstGeom>
          <a:noFill/>
          <a:ln>
            <a:noFill/>
          </a:ln>
        </p:spPr>
        <p:txBody>
          <a:bodyPr spcFirstLastPara="1" wrap="square" lIns="0" tIns="0" rIns="0" bIns="0" anchor="t" anchorCtr="0">
            <a:spAutoFit/>
          </a:bodyPr>
          <a:lstStyle/>
          <a:p>
            <a:pPr marL="0" marR="0" lvl="0" indent="0" algn="l" rtl="0">
              <a:lnSpc>
                <a:spcPct val="166666"/>
              </a:lnSpc>
              <a:spcBef>
                <a:spcPts val="0"/>
              </a:spcBef>
              <a:spcAft>
                <a:spcPts val="0"/>
              </a:spcAft>
              <a:buNone/>
            </a:pPr>
            <a:endParaRPr sz="5400" b="1">
              <a:solidFill>
                <a:srgbClr val="004AAD"/>
              </a:solidFill>
              <a:latin typeface="Montserrat"/>
              <a:ea typeface="Montserrat"/>
              <a:cs typeface="Montserrat"/>
              <a:sym typeface="Montserrat"/>
            </a:endParaRPr>
          </a:p>
        </p:txBody>
      </p:sp>
      <p:sp>
        <p:nvSpPr>
          <p:cNvPr id="450" name="Google Shape;450;p30"/>
          <p:cNvSpPr txBox="1"/>
          <p:nvPr/>
        </p:nvSpPr>
        <p:spPr>
          <a:xfrm>
            <a:off x="1853777" y="260605"/>
            <a:ext cx="14097000" cy="965136"/>
          </a:xfrm>
          <a:prstGeom prst="rect">
            <a:avLst/>
          </a:prstGeom>
          <a:noFill/>
          <a:ln>
            <a:noFill/>
          </a:ln>
        </p:spPr>
        <p:txBody>
          <a:bodyPr spcFirstLastPara="1" wrap="square" lIns="0" tIns="0" rIns="0" bIns="0" anchor="t" anchorCtr="0">
            <a:spAutoFit/>
          </a:bodyPr>
          <a:lstStyle/>
          <a:p>
            <a:pPr marL="0" marR="0" lvl="0" indent="0" algn="ctr" rtl="0">
              <a:lnSpc>
                <a:spcPct val="225000"/>
              </a:lnSpc>
              <a:spcBef>
                <a:spcPts val="0"/>
              </a:spcBef>
              <a:spcAft>
                <a:spcPts val="0"/>
              </a:spcAft>
              <a:buNone/>
            </a:pPr>
            <a:r>
              <a:rPr lang="fr-FR" sz="4000" b="1">
                <a:solidFill>
                  <a:srgbClr val="004AAD"/>
                </a:solidFill>
                <a:latin typeface="Montserrat"/>
                <a:ea typeface="Montserrat"/>
                <a:cs typeface="Montserrat"/>
                <a:sym typeface="Montserrat"/>
              </a:rPr>
              <a:t>Préparation des tableaux de données clients</a:t>
            </a:r>
            <a:endParaRPr/>
          </a:p>
        </p:txBody>
      </p:sp>
      <p:sp>
        <p:nvSpPr>
          <p:cNvPr id="451" name="Google Shape;451;p30"/>
          <p:cNvSpPr txBox="1"/>
          <p:nvPr/>
        </p:nvSpPr>
        <p:spPr>
          <a:xfrm>
            <a:off x="914400" y="3390900"/>
            <a:ext cx="16078200" cy="21852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2E2E2E"/>
              </a:buClr>
              <a:buSzPts val="2400"/>
              <a:buFont typeface="Montserrat"/>
              <a:buNone/>
            </a:pPr>
            <a:r>
              <a:rPr lang="fr-FR" sz="2400">
                <a:solidFill>
                  <a:srgbClr val="2E2E2E"/>
                </a:solidFill>
                <a:latin typeface="Montserrat"/>
                <a:ea typeface="Montserrat"/>
                <a:cs typeface="Montserrat"/>
                <a:sym typeface="Montserrat"/>
              </a:rPr>
              <a:t>Dans cette section, l'objectif principal a été de structurer la base de données pour héberger les calculs et analyses de performance. </a:t>
            </a:r>
            <a:endParaRPr/>
          </a:p>
          <a:p>
            <a:pPr marL="0" marR="0" lvl="0" indent="0" algn="l" rtl="0">
              <a:lnSpc>
                <a:spcPct val="100000"/>
              </a:lnSpc>
              <a:spcBef>
                <a:spcPts val="0"/>
              </a:spcBef>
              <a:spcAft>
                <a:spcPts val="0"/>
              </a:spcAft>
              <a:buClr>
                <a:schemeClr val="dk1"/>
              </a:buClr>
              <a:buSzPts val="2400"/>
              <a:buFont typeface="Calibri"/>
              <a:buNone/>
            </a:pPr>
            <a:endParaRPr sz="2400">
              <a:solidFill>
                <a:srgbClr val="2E2E2E"/>
              </a:solidFill>
              <a:latin typeface="Montserrat"/>
              <a:ea typeface="Montserrat"/>
              <a:cs typeface="Montserrat"/>
              <a:sym typeface="Montserrat"/>
            </a:endParaRPr>
          </a:p>
          <a:p>
            <a:pPr marL="0" marR="0" lvl="0" indent="0" algn="l" rtl="0">
              <a:lnSpc>
                <a:spcPct val="100000"/>
              </a:lnSpc>
              <a:spcBef>
                <a:spcPts val="0"/>
              </a:spcBef>
              <a:spcAft>
                <a:spcPts val="0"/>
              </a:spcAft>
              <a:buClr>
                <a:srgbClr val="2E2E2E"/>
              </a:buClr>
              <a:buSzPts val="2400"/>
              <a:buFont typeface="Montserrat"/>
              <a:buNone/>
            </a:pPr>
            <a:r>
              <a:rPr lang="fr-FR" sz="2400">
                <a:solidFill>
                  <a:srgbClr val="2E2E2E"/>
                </a:solidFill>
                <a:latin typeface="Montserrat"/>
                <a:ea typeface="Montserrat"/>
                <a:cs typeface="Montserrat"/>
                <a:sym typeface="Montserrat"/>
              </a:rPr>
              <a:t>À partir des données brutes issues des tables sources (Arrêts Planifiés, Arrêts Non Planifiés, Sacs Produits), nous avons créé des "tables clients" dédiées :</a:t>
            </a:r>
            <a:endParaRPr/>
          </a:p>
          <a:p>
            <a:pPr marL="0" marR="0" lvl="0" indent="0" algn="l" rtl="0">
              <a:spcBef>
                <a:spcPts val="0"/>
              </a:spcBef>
              <a:spcAft>
                <a:spcPts val="0"/>
              </a:spcAft>
              <a:buNone/>
            </a:pPr>
            <a:endParaRPr sz="1600">
              <a:solidFill>
                <a:schemeClr val="dk1"/>
              </a:solidFill>
              <a:latin typeface="Calibri"/>
              <a:ea typeface="Calibri"/>
              <a:cs typeface="Calibri"/>
              <a:sym typeface="Calibri"/>
            </a:endParaRPr>
          </a:p>
        </p:txBody>
      </p:sp>
      <p:sp>
        <p:nvSpPr>
          <p:cNvPr id="452" name="Google Shape;452;p30"/>
          <p:cNvSpPr/>
          <p:nvPr/>
        </p:nvSpPr>
        <p:spPr>
          <a:xfrm>
            <a:off x="502558" y="6286500"/>
            <a:ext cx="3581400" cy="1069026"/>
          </a:xfrm>
          <a:prstGeom prst="roundRect">
            <a:avLst>
              <a:gd name="adj" fmla="val 16667"/>
            </a:avLst>
          </a:prstGeom>
          <a:solidFill>
            <a:srgbClr val="0070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000" b="1">
                <a:solidFill>
                  <a:schemeClr val="lt1"/>
                </a:solidFill>
                <a:latin typeface="Montserrat"/>
                <a:ea typeface="Montserrat"/>
                <a:cs typeface="Montserrat"/>
                <a:sym typeface="Montserrat"/>
              </a:rPr>
              <a:t>Cycle de Production </a:t>
            </a:r>
            <a:endParaRPr/>
          </a:p>
        </p:txBody>
      </p:sp>
      <p:sp>
        <p:nvSpPr>
          <p:cNvPr id="453" name="Google Shape;453;p30"/>
          <p:cNvSpPr/>
          <p:nvPr/>
        </p:nvSpPr>
        <p:spPr>
          <a:xfrm>
            <a:off x="5013779" y="6286500"/>
            <a:ext cx="3581400" cy="1069026"/>
          </a:xfrm>
          <a:prstGeom prst="roundRect">
            <a:avLst>
              <a:gd name="adj" fmla="val 16667"/>
            </a:avLst>
          </a:prstGeom>
          <a:solidFill>
            <a:srgbClr val="92D0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000" b="1">
                <a:solidFill>
                  <a:schemeClr val="lt1"/>
                </a:solidFill>
                <a:latin typeface="Montserrat"/>
                <a:ea typeface="Montserrat"/>
                <a:cs typeface="Montserrat"/>
                <a:sym typeface="Montserrat"/>
              </a:rPr>
              <a:t>KPIs de Production</a:t>
            </a:r>
            <a:endParaRPr/>
          </a:p>
        </p:txBody>
      </p:sp>
      <p:sp>
        <p:nvSpPr>
          <p:cNvPr id="454" name="Google Shape;454;p30"/>
          <p:cNvSpPr/>
          <p:nvPr/>
        </p:nvSpPr>
        <p:spPr>
          <a:xfrm>
            <a:off x="9525000" y="6286500"/>
            <a:ext cx="3581400" cy="1069026"/>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000" b="1">
                <a:solidFill>
                  <a:schemeClr val="lt1"/>
                </a:solidFill>
                <a:latin typeface="Montserrat"/>
                <a:ea typeface="Montserrat"/>
                <a:cs typeface="Montserrat"/>
                <a:sym typeface="Montserrat"/>
              </a:rPr>
              <a:t>KPIs de Maintenance</a:t>
            </a:r>
            <a:endParaRPr/>
          </a:p>
        </p:txBody>
      </p:sp>
      <p:sp>
        <p:nvSpPr>
          <p:cNvPr id="455" name="Google Shape;455;p30"/>
          <p:cNvSpPr/>
          <p:nvPr/>
        </p:nvSpPr>
        <p:spPr>
          <a:xfrm>
            <a:off x="14036222" y="6286500"/>
            <a:ext cx="3581400" cy="1069026"/>
          </a:xfrm>
          <a:prstGeom prst="roundRect">
            <a:avLst>
              <a:gd name="adj" fmla="val 16667"/>
            </a:avLst>
          </a:prstGeom>
          <a:solidFill>
            <a:srgbClr val="7030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000" b="1">
                <a:solidFill>
                  <a:schemeClr val="lt1"/>
                </a:solidFill>
                <a:latin typeface="Montserrat"/>
                <a:ea typeface="Montserrat"/>
                <a:cs typeface="Montserrat"/>
                <a:sym typeface="Montserrat"/>
              </a:rPr>
              <a:t>Analyse des données de Pareto</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sp>
        <p:nvSpPr>
          <p:cNvPr id="461" name="Google Shape;461;p31"/>
          <p:cNvSpPr txBox="1"/>
          <p:nvPr/>
        </p:nvSpPr>
        <p:spPr>
          <a:xfrm>
            <a:off x="3026229" y="319120"/>
            <a:ext cx="12302440" cy="999954"/>
          </a:xfrm>
          <a:prstGeom prst="rect">
            <a:avLst/>
          </a:prstGeom>
          <a:noFill/>
          <a:ln>
            <a:noFill/>
          </a:ln>
        </p:spPr>
        <p:txBody>
          <a:bodyPr spcFirstLastPara="1" wrap="square" lIns="0" tIns="0" rIns="0" bIns="0" anchor="t" anchorCtr="0">
            <a:spAutoFit/>
          </a:bodyPr>
          <a:lstStyle/>
          <a:p>
            <a:pPr marL="0" marR="0" lvl="0" indent="0" algn="l" rtl="0">
              <a:lnSpc>
                <a:spcPct val="166666"/>
              </a:lnSpc>
              <a:spcBef>
                <a:spcPts val="0"/>
              </a:spcBef>
              <a:spcAft>
                <a:spcPts val="0"/>
              </a:spcAft>
              <a:buNone/>
            </a:pPr>
            <a:endParaRPr sz="5400" b="1">
              <a:solidFill>
                <a:srgbClr val="004AAD"/>
              </a:solidFill>
              <a:latin typeface="Montserrat"/>
              <a:ea typeface="Montserrat"/>
              <a:cs typeface="Montserrat"/>
              <a:sym typeface="Montserrat"/>
            </a:endParaRPr>
          </a:p>
        </p:txBody>
      </p:sp>
      <p:sp>
        <p:nvSpPr>
          <p:cNvPr id="462" name="Google Shape;462;p31"/>
          <p:cNvSpPr txBox="1"/>
          <p:nvPr/>
        </p:nvSpPr>
        <p:spPr>
          <a:xfrm>
            <a:off x="1853777" y="260605"/>
            <a:ext cx="14097000" cy="965136"/>
          </a:xfrm>
          <a:prstGeom prst="rect">
            <a:avLst/>
          </a:prstGeom>
          <a:noFill/>
          <a:ln>
            <a:noFill/>
          </a:ln>
        </p:spPr>
        <p:txBody>
          <a:bodyPr spcFirstLastPara="1" wrap="square" lIns="0" tIns="0" rIns="0" bIns="0" anchor="t" anchorCtr="0">
            <a:spAutoFit/>
          </a:bodyPr>
          <a:lstStyle/>
          <a:p>
            <a:pPr marL="0" marR="0" lvl="0" indent="0" algn="ctr" rtl="0">
              <a:lnSpc>
                <a:spcPct val="225000"/>
              </a:lnSpc>
              <a:spcBef>
                <a:spcPts val="0"/>
              </a:spcBef>
              <a:spcAft>
                <a:spcPts val="0"/>
              </a:spcAft>
              <a:buNone/>
            </a:pPr>
            <a:r>
              <a:rPr lang="fr-FR" sz="4000" b="1">
                <a:solidFill>
                  <a:srgbClr val="004AAD"/>
                </a:solidFill>
                <a:latin typeface="Montserrat"/>
                <a:ea typeface="Montserrat"/>
                <a:cs typeface="Montserrat"/>
                <a:sym typeface="Montserrat"/>
              </a:rPr>
              <a:t>Préparation des tableaux de données clients</a:t>
            </a:r>
            <a:endParaRPr/>
          </a:p>
        </p:txBody>
      </p:sp>
      <p:sp>
        <p:nvSpPr>
          <p:cNvPr id="463" name="Google Shape;463;p31"/>
          <p:cNvSpPr/>
          <p:nvPr/>
        </p:nvSpPr>
        <p:spPr>
          <a:xfrm>
            <a:off x="7111577" y="3495281"/>
            <a:ext cx="3581400" cy="1069026"/>
          </a:xfrm>
          <a:prstGeom prst="roundRect">
            <a:avLst>
              <a:gd name="adj" fmla="val 16667"/>
            </a:avLst>
          </a:prstGeom>
          <a:solidFill>
            <a:srgbClr val="0070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000" b="1">
                <a:solidFill>
                  <a:schemeClr val="lt1"/>
                </a:solidFill>
                <a:latin typeface="Montserrat"/>
                <a:ea typeface="Montserrat"/>
                <a:cs typeface="Montserrat"/>
                <a:sym typeface="Montserrat"/>
              </a:rPr>
              <a:t>Cycle de Production </a:t>
            </a:r>
            <a:endParaRPr/>
          </a:p>
        </p:txBody>
      </p:sp>
      <p:sp>
        <p:nvSpPr>
          <p:cNvPr id="464" name="Google Shape;464;p31"/>
          <p:cNvSpPr/>
          <p:nvPr/>
        </p:nvSpPr>
        <p:spPr>
          <a:xfrm>
            <a:off x="2600356" y="2025865"/>
            <a:ext cx="3581400" cy="1069026"/>
          </a:xfrm>
          <a:prstGeom prst="roundRect">
            <a:avLst>
              <a:gd name="adj" fmla="val 16667"/>
            </a:avLst>
          </a:prstGeom>
          <a:solidFill>
            <a:srgbClr val="92D0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000" b="1">
                <a:solidFill>
                  <a:schemeClr val="lt1"/>
                </a:solidFill>
                <a:latin typeface="Montserrat"/>
                <a:ea typeface="Montserrat"/>
                <a:cs typeface="Montserrat"/>
                <a:sym typeface="Montserrat"/>
              </a:rPr>
              <a:t>KPIs de Production</a:t>
            </a:r>
            <a:endParaRPr/>
          </a:p>
        </p:txBody>
      </p:sp>
      <p:sp>
        <p:nvSpPr>
          <p:cNvPr id="465" name="Google Shape;465;p31"/>
          <p:cNvSpPr/>
          <p:nvPr/>
        </p:nvSpPr>
        <p:spPr>
          <a:xfrm>
            <a:off x="7111577" y="2025865"/>
            <a:ext cx="3581400" cy="1069026"/>
          </a:xfrm>
          <a:prstGeom prst="roundRect">
            <a:avLst>
              <a:gd name="adj" fmla="val 16667"/>
            </a:avLst>
          </a:prstGeom>
          <a:solidFill>
            <a:srgbClr val="FA910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000" b="1">
                <a:solidFill>
                  <a:schemeClr val="lt1"/>
                </a:solidFill>
                <a:latin typeface="Montserrat"/>
                <a:ea typeface="Montserrat"/>
                <a:cs typeface="Montserrat"/>
                <a:sym typeface="Montserrat"/>
              </a:rPr>
              <a:t>KPIs de Maintenance</a:t>
            </a:r>
            <a:endParaRPr/>
          </a:p>
        </p:txBody>
      </p:sp>
      <p:sp>
        <p:nvSpPr>
          <p:cNvPr id="466" name="Google Shape;466;p31"/>
          <p:cNvSpPr/>
          <p:nvPr/>
        </p:nvSpPr>
        <p:spPr>
          <a:xfrm>
            <a:off x="11622799" y="2025865"/>
            <a:ext cx="3581400" cy="1069026"/>
          </a:xfrm>
          <a:prstGeom prst="roundRect">
            <a:avLst>
              <a:gd name="adj" fmla="val 16667"/>
            </a:avLst>
          </a:prstGeom>
          <a:solidFill>
            <a:srgbClr val="7030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000" b="1">
                <a:solidFill>
                  <a:schemeClr val="lt1"/>
                </a:solidFill>
                <a:latin typeface="Montserrat"/>
                <a:ea typeface="Montserrat"/>
                <a:cs typeface="Montserrat"/>
                <a:sym typeface="Montserrat"/>
              </a:rPr>
              <a:t>Analyse des données de Pareto</a:t>
            </a:r>
            <a:endParaRPr/>
          </a:p>
        </p:txBody>
      </p:sp>
      <p:sp>
        <p:nvSpPr>
          <p:cNvPr id="467" name="Google Shape;467;p31"/>
          <p:cNvSpPr/>
          <p:nvPr/>
        </p:nvSpPr>
        <p:spPr>
          <a:xfrm>
            <a:off x="2057400" y="6134100"/>
            <a:ext cx="2565823" cy="1069026"/>
          </a:xfrm>
          <a:prstGeom prst="roundRect">
            <a:avLst>
              <a:gd name="adj" fmla="val 16667"/>
            </a:avLst>
          </a:prstGeom>
          <a:solidFill>
            <a:srgbClr val="00B0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Temps Requis  </a:t>
            </a:r>
            <a:endParaRPr/>
          </a:p>
        </p:txBody>
      </p:sp>
      <p:sp>
        <p:nvSpPr>
          <p:cNvPr id="468" name="Google Shape;468;p31"/>
          <p:cNvSpPr/>
          <p:nvPr/>
        </p:nvSpPr>
        <p:spPr>
          <a:xfrm>
            <a:off x="4920312" y="6134100"/>
            <a:ext cx="2362200" cy="1069026"/>
          </a:xfrm>
          <a:prstGeom prst="roundRect">
            <a:avLst>
              <a:gd name="adj" fmla="val 16667"/>
            </a:avLst>
          </a:prstGeom>
          <a:solidFill>
            <a:srgbClr val="00B0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Temps Brut  </a:t>
            </a:r>
            <a:endParaRPr/>
          </a:p>
        </p:txBody>
      </p:sp>
      <p:sp>
        <p:nvSpPr>
          <p:cNvPr id="469" name="Google Shape;469;p31"/>
          <p:cNvSpPr/>
          <p:nvPr/>
        </p:nvSpPr>
        <p:spPr>
          <a:xfrm>
            <a:off x="7546945" y="6134100"/>
            <a:ext cx="2362200" cy="1069026"/>
          </a:xfrm>
          <a:prstGeom prst="roundRect">
            <a:avLst>
              <a:gd name="adj" fmla="val 16667"/>
            </a:avLst>
          </a:prstGeom>
          <a:solidFill>
            <a:srgbClr val="00B0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Temps Net   </a:t>
            </a:r>
            <a:endParaRPr/>
          </a:p>
        </p:txBody>
      </p:sp>
      <p:sp>
        <p:nvSpPr>
          <p:cNvPr id="470" name="Google Shape;470;p31"/>
          <p:cNvSpPr/>
          <p:nvPr/>
        </p:nvSpPr>
        <p:spPr>
          <a:xfrm>
            <a:off x="10096500" y="6134100"/>
            <a:ext cx="2362200" cy="1069026"/>
          </a:xfrm>
          <a:prstGeom prst="roundRect">
            <a:avLst>
              <a:gd name="adj" fmla="val 16667"/>
            </a:avLst>
          </a:prstGeom>
          <a:solidFill>
            <a:srgbClr val="00B0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Temps Utile   </a:t>
            </a:r>
            <a:endParaRPr/>
          </a:p>
        </p:txBody>
      </p:sp>
      <p:sp>
        <p:nvSpPr>
          <p:cNvPr id="471" name="Google Shape;471;p31"/>
          <p:cNvSpPr/>
          <p:nvPr/>
        </p:nvSpPr>
        <p:spPr>
          <a:xfrm>
            <a:off x="12662323" y="6134100"/>
            <a:ext cx="2857500" cy="1069026"/>
          </a:xfrm>
          <a:prstGeom prst="roundRect">
            <a:avLst>
              <a:gd name="adj" fmla="val 16667"/>
            </a:avLst>
          </a:prstGeom>
          <a:solidFill>
            <a:srgbClr val="00B0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Temps Perdu de production</a:t>
            </a:r>
            <a:endParaRPr/>
          </a:p>
        </p:txBody>
      </p:sp>
      <p:sp>
        <p:nvSpPr>
          <p:cNvPr id="472" name="Google Shape;472;p31"/>
          <p:cNvSpPr/>
          <p:nvPr/>
        </p:nvSpPr>
        <p:spPr>
          <a:xfrm>
            <a:off x="9827925" y="8798874"/>
            <a:ext cx="2362200" cy="1069026"/>
          </a:xfrm>
          <a:prstGeom prst="roundRect">
            <a:avLst>
              <a:gd name="adj" fmla="val 16667"/>
            </a:avLst>
          </a:prstGeom>
          <a:solidFill>
            <a:srgbClr val="00B0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Arrêts Planifiés</a:t>
            </a:r>
            <a:endParaRPr/>
          </a:p>
        </p:txBody>
      </p:sp>
      <p:sp>
        <p:nvSpPr>
          <p:cNvPr id="473" name="Google Shape;473;p31"/>
          <p:cNvSpPr/>
          <p:nvPr/>
        </p:nvSpPr>
        <p:spPr>
          <a:xfrm>
            <a:off x="12606988" y="8798874"/>
            <a:ext cx="2362200" cy="1069026"/>
          </a:xfrm>
          <a:prstGeom prst="roundRect">
            <a:avLst>
              <a:gd name="adj" fmla="val 16667"/>
            </a:avLst>
          </a:prstGeom>
          <a:solidFill>
            <a:srgbClr val="00B0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Ecart de Cadence   </a:t>
            </a:r>
            <a:endParaRPr/>
          </a:p>
        </p:txBody>
      </p:sp>
      <p:sp>
        <p:nvSpPr>
          <p:cNvPr id="474" name="Google Shape;474;p31"/>
          <p:cNvSpPr/>
          <p:nvPr/>
        </p:nvSpPr>
        <p:spPr>
          <a:xfrm>
            <a:off x="15386051" y="8798874"/>
            <a:ext cx="2362200" cy="1069026"/>
          </a:xfrm>
          <a:prstGeom prst="roundRect">
            <a:avLst>
              <a:gd name="adj" fmla="val 16667"/>
            </a:avLst>
          </a:prstGeom>
          <a:solidFill>
            <a:srgbClr val="00B0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Production Non Qalité</a:t>
            </a:r>
            <a:endParaRPr sz="2400" b="1">
              <a:solidFill>
                <a:schemeClr val="lt1"/>
              </a:solidFill>
              <a:latin typeface="Montserrat"/>
              <a:ea typeface="Montserrat"/>
              <a:cs typeface="Montserrat"/>
              <a:sym typeface="Montserrat"/>
            </a:endParaRPr>
          </a:p>
        </p:txBody>
      </p:sp>
      <p:sp>
        <p:nvSpPr>
          <p:cNvPr id="475" name="Google Shape;475;p31"/>
          <p:cNvSpPr/>
          <p:nvPr/>
        </p:nvSpPr>
        <p:spPr>
          <a:xfrm>
            <a:off x="7048862" y="8798874"/>
            <a:ext cx="2362200" cy="1069026"/>
          </a:xfrm>
          <a:prstGeom prst="roundRect">
            <a:avLst>
              <a:gd name="adj" fmla="val 16667"/>
            </a:avLst>
          </a:prstGeom>
          <a:solidFill>
            <a:srgbClr val="00B0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Arrêts Non Planifiés</a:t>
            </a:r>
            <a:endParaRPr/>
          </a:p>
        </p:txBody>
      </p:sp>
      <p:sp>
        <p:nvSpPr>
          <p:cNvPr id="476" name="Google Shape;476;p31"/>
          <p:cNvSpPr/>
          <p:nvPr/>
        </p:nvSpPr>
        <p:spPr>
          <a:xfrm rot="1376575">
            <a:off x="10295129" y="5223400"/>
            <a:ext cx="3200400" cy="228600"/>
          </a:xfrm>
          <a:prstGeom prst="right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7" name="Google Shape;477;p31"/>
          <p:cNvSpPr/>
          <p:nvPr/>
        </p:nvSpPr>
        <p:spPr>
          <a:xfrm rot="5968603">
            <a:off x="8211071" y="5322055"/>
            <a:ext cx="955792" cy="272978"/>
          </a:xfrm>
          <a:prstGeom prst="right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8" name="Google Shape;478;p31"/>
          <p:cNvSpPr/>
          <p:nvPr/>
        </p:nvSpPr>
        <p:spPr>
          <a:xfrm rot="2304484">
            <a:off x="9409805" y="5247162"/>
            <a:ext cx="1703284" cy="258272"/>
          </a:xfrm>
          <a:prstGeom prst="right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9" name="Google Shape;479;p31"/>
          <p:cNvSpPr/>
          <p:nvPr/>
        </p:nvSpPr>
        <p:spPr>
          <a:xfrm rot="-2304484" flipH="1">
            <a:off x="6430870" y="5247281"/>
            <a:ext cx="1703284" cy="258272"/>
          </a:xfrm>
          <a:prstGeom prst="right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0" name="Google Shape;480;p31"/>
          <p:cNvSpPr/>
          <p:nvPr/>
        </p:nvSpPr>
        <p:spPr>
          <a:xfrm rot="-2304484" flipH="1">
            <a:off x="12209044" y="7877306"/>
            <a:ext cx="1703284" cy="258272"/>
          </a:xfrm>
          <a:prstGeom prst="right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1" name="Google Shape;481;p31"/>
          <p:cNvSpPr/>
          <p:nvPr/>
        </p:nvSpPr>
        <p:spPr>
          <a:xfrm rot="-1376575" flipH="1">
            <a:off x="3991166" y="5261998"/>
            <a:ext cx="3200400" cy="228600"/>
          </a:xfrm>
          <a:prstGeom prst="right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2" name="Google Shape;482;p31"/>
          <p:cNvSpPr/>
          <p:nvPr/>
        </p:nvSpPr>
        <p:spPr>
          <a:xfrm rot="-4895087" flipH="1">
            <a:off x="13811107" y="7960087"/>
            <a:ext cx="1274279" cy="252225"/>
          </a:xfrm>
          <a:prstGeom prst="right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3" name="Google Shape;483;p31"/>
          <p:cNvSpPr/>
          <p:nvPr/>
        </p:nvSpPr>
        <p:spPr>
          <a:xfrm rot="-1177941" flipH="1">
            <a:off x="9219569" y="7908547"/>
            <a:ext cx="3974946" cy="291070"/>
          </a:xfrm>
          <a:prstGeom prst="right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4" name="Google Shape;484;p31"/>
          <p:cNvSpPr/>
          <p:nvPr/>
        </p:nvSpPr>
        <p:spPr>
          <a:xfrm rot="2304484">
            <a:off x="15327114" y="7938611"/>
            <a:ext cx="1703284" cy="258272"/>
          </a:xfrm>
          <a:prstGeom prst="right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32"/>
          <p:cNvSpPr txBox="1"/>
          <p:nvPr/>
        </p:nvSpPr>
        <p:spPr>
          <a:xfrm>
            <a:off x="3026229" y="319120"/>
            <a:ext cx="12302440" cy="999954"/>
          </a:xfrm>
          <a:prstGeom prst="rect">
            <a:avLst/>
          </a:prstGeom>
          <a:noFill/>
          <a:ln>
            <a:noFill/>
          </a:ln>
        </p:spPr>
        <p:txBody>
          <a:bodyPr spcFirstLastPara="1" wrap="square" lIns="0" tIns="0" rIns="0" bIns="0" anchor="t" anchorCtr="0">
            <a:spAutoFit/>
          </a:bodyPr>
          <a:lstStyle/>
          <a:p>
            <a:pPr marL="0" marR="0" lvl="0" indent="0" algn="l" rtl="0">
              <a:lnSpc>
                <a:spcPct val="166666"/>
              </a:lnSpc>
              <a:spcBef>
                <a:spcPts val="0"/>
              </a:spcBef>
              <a:spcAft>
                <a:spcPts val="0"/>
              </a:spcAft>
              <a:buNone/>
            </a:pPr>
            <a:endParaRPr sz="5400" b="1">
              <a:solidFill>
                <a:srgbClr val="004AAD"/>
              </a:solidFill>
              <a:latin typeface="Montserrat"/>
              <a:ea typeface="Montserrat"/>
              <a:cs typeface="Montserrat"/>
              <a:sym typeface="Montserrat"/>
            </a:endParaRPr>
          </a:p>
        </p:txBody>
      </p:sp>
      <p:sp>
        <p:nvSpPr>
          <p:cNvPr id="491" name="Google Shape;491;p32"/>
          <p:cNvSpPr txBox="1"/>
          <p:nvPr/>
        </p:nvSpPr>
        <p:spPr>
          <a:xfrm>
            <a:off x="1853777" y="260605"/>
            <a:ext cx="14097000" cy="965136"/>
          </a:xfrm>
          <a:prstGeom prst="rect">
            <a:avLst/>
          </a:prstGeom>
          <a:noFill/>
          <a:ln>
            <a:noFill/>
          </a:ln>
        </p:spPr>
        <p:txBody>
          <a:bodyPr spcFirstLastPara="1" wrap="square" lIns="0" tIns="0" rIns="0" bIns="0" anchor="t" anchorCtr="0">
            <a:spAutoFit/>
          </a:bodyPr>
          <a:lstStyle/>
          <a:p>
            <a:pPr marL="0" marR="0" lvl="0" indent="0" algn="ctr" rtl="0">
              <a:lnSpc>
                <a:spcPct val="225000"/>
              </a:lnSpc>
              <a:spcBef>
                <a:spcPts val="0"/>
              </a:spcBef>
              <a:spcAft>
                <a:spcPts val="0"/>
              </a:spcAft>
              <a:buNone/>
            </a:pPr>
            <a:r>
              <a:rPr lang="fr-FR" sz="4000" b="1">
                <a:solidFill>
                  <a:srgbClr val="004AAD"/>
                </a:solidFill>
                <a:latin typeface="Montserrat"/>
                <a:ea typeface="Montserrat"/>
                <a:cs typeface="Montserrat"/>
                <a:sym typeface="Montserrat"/>
              </a:rPr>
              <a:t>Préparation des tableaux de données clients</a:t>
            </a:r>
            <a:endParaRPr/>
          </a:p>
        </p:txBody>
      </p:sp>
      <p:sp>
        <p:nvSpPr>
          <p:cNvPr id="492" name="Google Shape;492;p32"/>
          <p:cNvSpPr/>
          <p:nvPr/>
        </p:nvSpPr>
        <p:spPr>
          <a:xfrm>
            <a:off x="6917562" y="1648521"/>
            <a:ext cx="3581400" cy="1069026"/>
          </a:xfrm>
          <a:prstGeom prst="roundRect">
            <a:avLst>
              <a:gd name="adj" fmla="val 16667"/>
            </a:avLst>
          </a:prstGeom>
          <a:solidFill>
            <a:srgbClr val="0070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000" b="1">
                <a:solidFill>
                  <a:schemeClr val="lt1"/>
                </a:solidFill>
                <a:latin typeface="Montserrat"/>
                <a:ea typeface="Montserrat"/>
                <a:cs typeface="Montserrat"/>
                <a:sym typeface="Montserrat"/>
              </a:rPr>
              <a:t>Cycle de Production </a:t>
            </a:r>
            <a:endParaRPr/>
          </a:p>
        </p:txBody>
      </p:sp>
      <p:sp>
        <p:nvSpPr>
          <p:cNvPr id="493" name="Google Shape;493;p32"/>
          <p:cNvSpPr/>
          <p:nvPr/>
        </p:nvSpPr>
        <p:spPr>
          <a:xfrm>
            <a:off x="2130414" y="2156001"/>
            <a:ext cx="3581400" cy="1069026"/>
          </a:xfrm>
          <a:prstGeom prst="roundRect">
            <a:avLst>
              <a:gd name="adj" fmla="val 16667"/>
            </a:avLst>
          </a:prstGeom>
          <a:solidFill>
            <a:srgbClr val="92D0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000" b="1">
                <a:solidFill>
                  <a:schemeClr val="lt1"/>
                </a:solidFill>
                <a:latin typeface="Montserrat"/>
                <a:ea typeface="Montserrat"/>
                <a:cs typeface="Montserrat"/>
                <a:sym typeface="Montserrat"/>
              </a:rPr>
              <a:t>KPIs de Production</a:t>
            </a:r>
            <a:endParaRPr/>
          </a:p>
        </p:txBody>
      </p:sp>
      <p:sp>
        <p:nvSpPr>
          <p:cNvPr id="494" name="Google Shape;494;p32"/>
          <p:cNvSpPr/>
          <p:nvPr/>
        </p:nvSpPr>
        <p:spPr>
          <a:xfrm>
            <a:off x="6937345" y="3336562"/>
            <a:ext cx="3581400" cy="1069026"/>
          </a:xfrm>
          <a:prstGeom prst="roundRect">
            <a:avLst>
              <a:gd name="adj" fmla="val 16667"/>
            </a:avLst>
          </a:prstGeom>
          <a:solidFill>
            <a:srgbClr val="FA910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000" b="1">
                <a:solidFill>
                  <a:schemeClr val="lt1"/>
                </a:solidFill>
                <a:latin typeface="Montserrat"/>
                <a:ea typeface="Montserrat"/>
                <a:cs typeface="Montserrat"/>
                <a:sym typeface="Montserrat"/>
              </a:rPr>
              <a:t>KPIs de Maintenance</a:t>
            </a:r>
            <a:endParaRPr/>
          </a:p>
        </p:txBody>
      </p:sp>
      <p:sp>
        <p:nvSpPr>
          <p:cNvPr id="495" name="Google Shape;495;p32"/>
          <p:cNvSpPr/>
          <p:nvPr/>
        </p:nvSpPr>
        <p:spPr>
          <a:xfrm>
            <a:off x="11974999" y="2096777"/>
            <a:ext cx="3581400" cy="1069026"/>
          </a:xfrm>
          <a:prstGeom prst="roundRect">
            <a:avLst>
              <a:gd name="adj" fmla="val 16667"/>
            </a:avLst>
          </a:prstGeom>
          <a:solidFill>
            <a:srgbClr val="7030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000" b="1">
                <a:solidFill>
                  <a:schemeClr val="lt1"/>
                </a:solidFill>
                <a:latin typeface="Montserrat"/>
                <a:ea typeface="Montserrat"/>
                <a:cs typeface="Montserrat"/>
                <a:sym typeface="Montserrat"/>
              </a:rPr>
              <a:t>Analyse des données de Pareto</a:t>
            </a:r>
            <a:endParaRPr/>
          </a:p>
        </p:txBody>
      </p:sp>
      <p:sp>
        <p:nvSpPr>
          <p:cNvPr id="496" name="Google Shape;496;p32"/>
          <p:cNvSpPr/>
          <p:nvPr/>
        </p:nvSpPr>
        <p:spPr>
          <a:xfrm>
            <a:off x="250293" y="6737902"/>
            <a:ext cx="2565823" cy="1069026"/>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MTTR</a:t>
            </a:r>
            <a:endParaRPr/>
          </a:p>
        </p:txBody>
      </p:sp>
      <p:sp>
        <p:nvSpPr>
          <p:cNvPr id="497" name="Google Shape;497;p32"/>
          <p:cNvSpPr/>
          <p:nvPr/>
        </p:nvSpPr>
        <p:spPr>
          <a:xfrm>
            <a:off x="3095189" y="6737902"/>
            <a:ext cx="2362200" cy="1069026"/>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MTBF</a:t>
            </a:r>
            <a:endParaRPr/>
          </a:p>
        </p:txBody>
      </p:sp>
      <p:sp>
        <p:nvSpPr>
          <p:cNvPr id="498" name="Google Shape;498;p32"/>
          <p:cNvSpPr/>
          <p:nvPr/>
        </p:nvSpPr>
        <p:spPr>
          <a:xfrm>
            <a:off x="5736462" y="6737902"/>
            <a:ext cx="2362200" cy="1069026"/>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Taux défaillance</a:t>
            </a:r>
            <a:endParaRPr/>
          </a:p>
        </p:txBody>
      </p:sp>
      <p:sp>
        <p:nvSpPr>
          <p:cNvPr id="499" name="Google Shape;499;p32"/>
          <p:cNvSpPr/>
          <p:nvPr/>
        </p:nvSpPr>
        <p:spPr>
          <a:xfrm>
            <a:off x="8377735" y="6737902"/>
            <a:ext cx="2362200" cy="1069026"/>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Taux de Réparation </a:t>
            </a:r>
            <a:endParaRPr/>
          </a:p>
        </p:txBody>
      </p:sp>
      <p:sp>
        <p:nvSpPr>
          <p:cNvPr id="500" name="Google Shape;500;p32"/>
          <p:cNvSpPr/>
          <p:nvPr/>
        </p:nvSpPr>
        <p:spPr>
          <a:xfrm>
            <a:off x="11019008" y="6737902"/>
            <a:ext cx="3642247" cy="1069026"/>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Taux de maintenance Préventive </a:t>
            </a:r>
            <a:endParaRPr/>
          </a:p>
        </p:txBody>
      </p:sp>
      <p:sp>
        <p:nvSpPr>
          <p:cNvPr id="501" name="Google Shape;501;p32"/>
          <p:cNvSpPr/>
          <p:nvPr/>
        </p:nvSpPr>
        <p:spPr>
          <a:xfrm rot="2117940">
            <a:off x="10005878" y="5454735"/>
            <a:ext cx="3200400" cy="228600"/>
          </a:xfrm>
          <a:prstGeom prst="rightArrow">
            <a:avLst>
              <a:gd name="adj1" fmla="val 50000"/>
              <a:gd name="adj2" fmla="val 50000"/>
            </a:avLst>
          </a:prstGeom>
          <a:solidFill>
            <a:srgbClr val="FA910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02" name="Google Shape;502;p32"/>
          <p:cNvSpPr/>
          <p:nvPr/>
        </p:nvSpPr>
        <p:spPr>
          <a:xfrm rot="4916857">
            <a:off x="8315585" y="5537618"/>
            <a:ext cx="1477854" cy="304560"/>
          </a:xfrm>
          <a:prstGeom prst="rightArrow">
            <a:avLst>
              <a:gd name="adj1" fmla="val 50000"/>
              <a:gd name="adj2" fmla="val 50000"/>
            </a:avLst>
          </a:prstGeom>
          <a:solidFill>
            <a:srgbClr val="FA910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03" name="Google Shape;503;p32"/>
          <p:cNvSpPr/>
          <p:nvPr/>
        </p:nvSpPr>
        <p:spPr>
          <a:xfrm rot="-3153051" flipH="1">
            <a:off x="6453148" y="5571946"/>
            <a:ext cx="1703284" cy="258272"/>
          </a:xfrm>
          <a:prstGeom prst="rightArrow">
            <a:avLst>
              <a:gd name="adj1" fmla="val 50000"/>
              <a:gd name="adj2" fmla="val 50000"/>
            </a:avLst>
          </a:prstGeom>
          <a:solidFill>
            <a:srgbClr val="FA910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04" name="Google Shape;504;p32"/>
          <p:cNvSpPr/>
          <p:nvPr/>
        </p:nvSpPr>
        <p:spPr>
          <a:xfrm rot="-1996509" flipH="1">
            <a:off x="4118854" y="5467887"/>
            <a:ext cx="3200400" cy="228600"/>
          </a:xfrm>
          <a:prstGeom prst="rightArrow">
            <a:avLst>
              <a:gd name="adj1" fmla="val 50000"/>
              <a:gd name="adj2" fmla="val 50000"/>
            </a:avLst>
          </a:prstGeom>
          <a:solidFill>
            <a:srgbClr val="FA910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05" name="Google Shape;505;p32"/>
          <p:cNvSpPr/>
          <p:nvPr/>
        </p:nvSpPr>
        <p:spPr>
          <a:xfrm>
            <a:off x="14940329" y="6737902"/>
            <a:ext cx="3184969" cy="1069026"/>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Taux de Réactivité</a:t>
            </a:r>
            <a:endParaRPr/>
          </a:p>
        </p:txBody>
      </p:sp>
      <p:sp>
        <p:nvSpPr>
          <p:cNvPr id="506" name="Google Shape;506;p32"/>
          <p:cNvSpPr/>
          <p:nvPr/>
        </p:nvSpPr>
        <p:spPr>
          <a:xfrm rot="1376575">
            <a:off x="11064653" y="5283429"/>
            <a:ext cx="5488783" cy="239406"/>
          </a:xfrm>
          <a:prstGeom prst="rightArrow">
            <a:avLst>
              <a:gd name="adj1" fmla="val 50000"/>
              <a:gd name="adj2" fmla="val 50000"/>
            </a:avLst>
          </a:prstGeom>
          <a:solidFill>
            <a:srgbClr val="FA910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07" name="Google Shape;507;p32"/>
          <p:cNvSpPr/>
          <p:nvPr/>
        </p:nvSpPr>
        <p:spPr>
          <a:xfrm rot="-1376575" flipH="1">
            <a:off x="1320911" y="5190505"/>
            <a:ext cx="5488783" cy="239406"/>
          </a:xfrm>
          <a:prstGeom prst="rightArrow">
            <a:avLst>
              <a:gd name="adj1" fmla="val 50000"/>
              <a:gd name="adj2" fmla="val 50000"/>
            </a:avLst>
          </a:prstGeom>
          <a:solidFill>
            <a:srgbClr val="FA910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33"/>
          <p:cNvSpPr txBox="1"/>
          <p:nvPr/>
        </p:nvSpPr>
        <p:spPr>
          <a:xfrm>
            <a:off x="3026229" y="319120"/>
            <a:ext cx="12302440" cy="999954"/>
          </a:xfrm>
          <a:prstGeom prst="rect">
            <a:avLst/>
          </a:prstGeom>
          <a:noFill/>
          <a:ln>
            <a:noFill/>
          </a:ln>
        </p:spPr>
        <p:txBody>
          <a:bodyPr spcFirstLastPara="1" wrap="square" lIns="0" tIns="0" rIns="0" bIns="0" anchor="t" anchorCtr="0">
            <a:spAutoFit/>
          </a:bodyPr>
          <a:lstStyle/>
          <a:p>
            <a:pPr marL="0" marR="0" lvl="0" indent="0" algn="l" rtl="0">
              <a:lnSpc>
                <a:spcPct val="166666"/>
              </a:lnSpc>
              <a:spcBef>
                <a:spcPts val="0"/>
              </a:spcBef>
              <a:spcAft>
                <a:spcPts val="0"/>
              </a:spcAft>
              <a:buNone/>
            </a:pPr>
            <a:endParaRPr sz="5400" b="1">
              <a:solidFill>
                <a:srgbClr val="004AAD"/>
              </a:solidFill>
              <a:latin typeface="Montserrat"/>
              <a:ea typeface="Montserrat"/>
              <a:cs typeface="Montserrat"/>
              <a:sym typeface="Montserrat"/>
            </a:endParaRPr>
          </a:p>
        </p:txBody>
      </p:sp>
      <p:sp>
        <p:nvSpPr>
          <p:cNvPr id="514" name="Google Shape;514;p33"/>
          <p:cNvSpPr txBox="1"/>
          <p:nvPr/>
        </p:nvSpPr>
        <p:spPr>
          <a:xfrm>
            <a:off x="1853777" y="260605"/>
            <a:ext cx="14097000" cy="965136"/>
          </a:xfrm>
          <a:prstGeom prst="rect">
            <a:avLst/>
          </a:prstGeom>
          <a:noFill/>
          <a:ln>
            <a:noFill/>
          </a:ln>
        </p:spPr>
        <p:txBody>
          <a:bodyPr spcFirstLastPara="1" wrap="square" lIns="0" tIns="0" rIns="0" bIns="0" anchor="t" anchorCtr="0">
            <a:spAutoFit/>
          </a:bodyPr>
          <a:lstStyle/>
          <a:p>
            <a:pPr marL="0" marR="0" lvl="0" indent="0" algn="ctr" rtl="0">
              <a:lnSpc>
                <a:spcPct val="225000"/>
              </a:lnSpc>
              <a:spcBef>
                <a:spcPts val="0"/>
              </a:spcBef>
              <a:spcAft>
                <a:spcPts val="0"/>
              </a:spcAft>
              <a:buNone/>
            </a:pPr>
            <a:r>
              <a:rPr lang="fr-FR" sz="4000" b="1">
                <a:solidFill>
                  <a:srgbClr val="004AAD"/>
                </a:solidFill>
                <a:latin typeface="Montserrat"/>
                <a:ea typeface="Montserrat"/>
                <a:cs typeface="Montserrat"/>
                <a:sym typeface="Montserrat"/>
              </a:rPr>
              <a:t>Préparation des tableaux de données clients</a:t>
            </a:r>
            <a:endParaRPr/>
          </a:p>
        </p:txBody>
      </p:sp>
      <p:sp>
        <p:nvSpPr>
          <p:cNvPr id="515" name="Google Shape;515;p33"/>
          <p:cNvSpPr/>
          <p:nvPr/>
        </p:nvSpPr>
        <p:spPr>
          <a:xfrm>
            <a:off x="7048319" y="1718714"/>
            <a:ext cx="3581400" cy="1069026"/>
          </a:xfrm>
          <a:prstGeom prst="roundRect">
            <a:avLst>
              <a:gd name="adj" fmla="val 16667"/>
            </a:avLst>
          </a:prstGeom>
          <a:solidFill>
            <a:srgbClr val="0070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000" b="1">
                <a:solidFill>
                  <a:schemeClr val="lt1"/>
                </a:solidFill>
                <a:latin typeface="Montserrat"/>
                <a:ea typeface="Montserrat"/>
                <a:cs typeface="Montserrat"/>
                <a:sym typeface="Montserrat"/>
              </a:rPr>
              <a:t>Cycle de Production </a:t>
            </a:r>
            <a:endParaRPr/>
          </a:p>
        </p:txBody>
      </p:sp>
      <p:sp>
        <p:nvSpPr>
          <p:cNvPr id="516" name="Google Shape;516;p33"/>
          <p:cNvSpPr/>
          <p:nvPr/>
        </p:nvSpPr>
        <p:spPr>
          <a:xfrm>
            <a:off x="7055727" y="3412570"/>
            <a:ext cx="3581400" cy="1069026"/>
          </a:xfrm>
          <a:prstGeom prst="roundRect">
            <a:avLst>
              <a:gd name="adj" fmla="val 16667"/>
            </a:avLst>
          </a:prstGeom>
          <a:solidFill>
            <a:srgbClr val="92D0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000" b="1">
                <a:solidFill>
                  <a:schemeClr val="lt1"/>
                </a:solidFill>
                <a:latin typeface="Montserrat"/>
                <a:ea typeface="Montserrat"/>
                <a:cs typeface="Montserrat"/>
                <a:sym typeface="Montserrat"/>
              </a:rPr>
              <a:t>KPIs de Production</a:t>
            </a:r>
            <a:endParaRPr/>
          </a:p>
        </p:txBody>
      </p:sp>
      <p:sp>
        <p:nvSpPr>
          <p:cNvPr id="517" name="Google Shape;517;p33"/>
          <p:cNvSpPr/>
          <p:nvPr/>
        </p:nvSpPr>
        <p:spPr>
          <a:xfrm>
            <a:off x="1529806" y="2143443"/>
            <a:ext cx="3581400" cy="1069026"/>
          </a:xfrm>
          <a:prstGeom prst="roundRect">
            <a:avLst>
              <a:gd name="adj" fmla="val 16667"/>
            </a:avLst>
          </a:prstGeom>
          <a:solidFill>
            <a:srgbClr val="FA910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000" b="1">
                <a:solidFill>
                  <a:schemeClr val="lt1"/>
                </a:solidFill>
                <a:latin typeface="Montserrat"/>
                <a:ea typeface="Montserrat"/>
                <a:cs typeface="Montserrat"/>
                <a:sym typeface="Montserrat"/>
              </a:rPr>
              <a:t>KPIs de Maintenance</a:t>
            </a:r>
            <a:endParaRPr/>
          </a:p>
        </p:txBody>
      </p:sp>
      <p:sp>
        <p:nvSpPr>
          <p:cNvPr id="518" name="Google Shape;518;p33"/>
          <p:cNvSpPr/>
          <p:nvPr/>
        </p:nvSpPr>
        <p:spPr>
          <a:xfrm>
            <a:off x="12183687" y="2096776"/>
            <a:ext cx="3581400" cy="1069026"/>
          </a:xfrm>
          <a:prstGeom prst="roundRect">
            <a:avLst>
              <a:gd name="adj" fmla="val 16667"/>
            </a:avLst>
          </a:prstGeom>
          <a:solidFill>
            <a:srgbClr val="7030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000" b="1">
                <a:solidFill>
                  <a:schemeClr val="lt1"/>
                </a:solidFill>
                <a:latin typeface="Montserrat"/>
                <a:ea typeface="Montserrat"/>
                <a:cs typeface="Montserrat"/>
                <a:sym typeface="Montserrat"/>
              </a:rPr>
              <a:t>Analyse des données de Pareto</a:t>
            </a:r>
            <a:endParaRPr/>
          </a:p>
        </p:txBody>
      </p:sp>
      <p:sp>
        <p:nvSpPr>
          <p:cNvPr id="519" name="Google Shape;519;p33"/>
          <p:cNvSpPr/>
          <p:nvPr/>
        </p:nvSpPr>
        <p:spPr>
          <a:xfrm>
            <a:off x="250294" y="6761758"/>
            <a:ext cx="1603484" cy="1069026"/>
          </a:xfrm>
          <a:prstGeom prst="roundRect">
            <a:avLst>
              <a:gd name="adj" fmla="val 16667"/>
            </a:avLst>
          </a:prstGeom>
          <a:solidFill>
            <a:srgbClr val="00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TSE%</a:t>
            </a:r>
            <a:endParaRPr/>
          </a:p>
        </p:txBody>
      </p:sp>
      <p:sp>
        <p:nvSpPr>
          <p:cNvPr id="520" name="Google Shape;520;p33"/>
          <p:cNvSpPr/>
          <p:nvPr/>
        </p:nvSpPr>
        <p:spPr>
          <a:xfrm>
            <a:off x="2581177" y="6761758"/>
            <a:ext cx="1603484" cy="1069026"/>
          </a:xfrm>
          <a:prstGeom prst="roundRect">
            <a:avLst>
              <a:gd name="adj" fmla="val 16667"/>
            </a:avLst>
          </a:prstGeom>
          <a:solidFill>
            <a:srgbClr val="00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TC%</a:t>
            </a:r>
            <a:endParaRPr/>
          </a:p>
        </p:txBody>
      </p:sp>
      <p:sp>
        <p:nvSpPr>
          <p:cNvPr id="521" name="Google Shape;521;p33"/>
          <p:cNvSpPr/>
          <p:nvPr/>
        </p:nvSpPr>
        <p:spPr>
          <a:xfrm>
            <a:off x="4912060" y="6761758"/>
            <a:ext cx="1603484" cy="1069026"/>
          </a:xfrm>
          <a:prstGeom prst="roundRect">
            <a:avLst>
              <a:gd name="adj" fmla="val 16667"/>
            </a:avLst>
          </a:prstGeom>
          <a:solidFill>
            <a:srgbClr val="00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TDT%</a:t>
            </a:r>
            <a:endParaRPr/>
          </a:p>
        </p:txBody>
      </p:sp>
      <p:sp>
        <p:nvSpPr>
          <p:cNvPr id="522" name="Google Shape;522;p33"/>
          <p:cNvSpPr/>
          <p:nvPr/>
        </p:nvSpPr>
        <p:spPr>
          <a:xfrm>
            <a:off x="7242943" y="6761758"/>
            <a:ext cx="1603484" cy="1069026"/>
          </a:xfrm>
          <a:prstGeom prst="roundRect">
            <a:avLst>
              <a:gd name="adj" fmla="val 16667"/>
            </a:avLst>
          </a:prstGeom>
          <a:solidFill>
            <a:srgbClr val="00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TRS%</a:t>
            </a:r>
            <a:endParaRPr/>
          </a:p>
        </p:txBody>
      </p:sp>
      <p:sp>
        <p:nvSpPr>
          <p:cNvPr id="523" name="Google Shape;523;p33"/>
          <p:cNvSpPr/>
          <p:nvPr/>
        </p:nvSpPr>
        <p:spPr>
          <a:xfrm>
            <a:off x="9573826" y="6761758"/>
            <a:ext cx="1851121" cy="1069026"/>
          </a:xfrm>
          <a:prstGeom prst="roundRect">
            <a:avLst>
              <a:gd name="adj" fmla="val 16667"/>
            </a:avLst>
          </a:prstGeom>
          <a:solidFill>
            <a:srgbClr val="00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TRG%</a:t>
            </a:r>
            <a:endParaRPr/>
          </a:p>
        </p:txBody>
      </p:sp>
      <p:sp>
        <p:nvSpPr>
          <p:cNvPr id="524" name="Google Shape;524;p33"/>
          <p:cNvSpPr/>
          <p:nvPr/>
        </p:nvSpPr>
        <p:spPr>
          <a:xfrm rot="2117940">
            <a:off x="10412477" y="5596772"/>
            <a:ext cx="2727385" cy="316553"/>
          </a:xfrm>
          <a:prstGeom prst="rightArrow">
            <a:avLst>
              <a:gd name="adj1" fmla="val 50000"/>
              <a:gd name="adj2" fmla="val 50000"/>
            </a:avLst>
          </a:prstGeom>
          <a:solidFill>
            <a:srgbClr val="92D0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5" name="Google Shape;525;p33"/>
          <p:cNvSpPr/>
          <p:nvPr/>
        </p:nvSpPr>
        <p:spPr>
          <a:xfrm rot="4916857">
            <a:off x="7221252" y="5642723"/>
            <a:ext cx="1477854" cy="304560"/>
          </a:xfrm>
          <a:prstGeom prst="rightArrow">
            <a:avLst>
              <a:gd name="adj1" fmla="val 50000"/>
              <a:gd name="adj2" fmla="val 50000"/>
            </a:avLst>
          </a:prstGeom>
          <a:solidFill>
            <a:srgbClr val="92D0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6" name="Google Shape;526;p33"/>
          <p:cNvSpPr/>
          <p:nvPr/>
        </p:nvSpPr>
        <p:spPr>
          <a:xfrm rot="-3153051" flipH="1">
            <a:off x="5576309" y="5643066"/>
            <a:ext cx="1703284" cy="258272"/>
          </a:xfrm>
          <a:prstGeom prst="rightArrow">
            <a:avLst>
              <a:gd name="adj1" fmla="val 50000"/>
              <a:gd name="adj2" fmla="val 50000"/>
            </a:avLst>
          </a:prstGeom>
          <a:solidFill>
            <a:srgbClr val="92D0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7" name="Google Shape;527;p33"/>
          <p:cNvSpPr/>
          <p:nvPr/>
        </p:nvSpPr>
        <p:spPr>
          <a:xfrm rot="-1996509" flipH="1">
            <a:off x="3638506" y="5410311"/>
            <a:ext cx="3200400" cy="228600"/>
          </a:xfrm>
          <a:prstGeom prst="rightArrow">
            <a:avLst>
              <a:gd name="adj1" fmla="val 50000"/>
              <a:gd name="adj2" fmla="val 50000"/>
            </a:avLst>
          </a:prstGeom>
          <a:solidFill>
            <a:srgbClr val="92D0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8" name="Google Shape;528;p33"/>
          <p:cNvSpPr/>
          <p:nvPr/>
        </p:nvSpPr>
        <p:spPr>
          <a:xfrm>
            <a:off x="12152346" y="6761758"/>
            <a:ext cx="1442671" cy="1069026"/>
          </a:xfrm>
          <a:prstGeom prst="roundRect">
            <a:avLst>
              <a:gd name="adj" fmla="val 16667"/>
            </a:avLst>
          </a:prstGeom>
          <a:solidFill>
            <a:srgbClr val="00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TRE%</a:t>
            </a:r>
            <a:endParaRPr/>
          </a:p>
        </p:txBody>
      </p:sp>
      <p:sp>
        <p:nvSpPr>
          <p:cNvPr id="529" name="Google Shape;529;p33"/>
          <p:cNvSpPr/>
          <p:nvPr/>
        </p:nvSpPr>
        <p:spPr>
          <a:xfrm rot="1376575">
            <a:off x="11418087" y="5209478"/>
            <a:ext cx="5590145" cy="259191"/>
          </a:xfrm>
          <a:prstGeom prst="rightArrow">
            <a:avLst>
              <a:gd name="adj1" fmla="val 50000"/>
              <a:gd name="adj2" fmla="val 50000"/>
            </a:avLst>
          </a:prstGeom>
          <a:solidFill>
            <a:srgbClr val="92D0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30" name="Google Shape;530;p33"/>
          <p:cNvSpPr/>
          <p:nvPr/>
        </p:nvSpPr>
        <p:spPr>
          <a:xfrm rot="-1376575" flipH="1">
            <a:off x="1320911" y="5190505"/>
            <a:ext cx="5488783" cy="239406"/>
          </a:xfrm>
          <a:prstGeom prst="rightArrow">
            <a:avLst>
              <a:gd name="adj1" fmla="val 50000"/>
              <a:gd name="adj2" fmla="val 50000"/>
            </a:avLst>
          </a:prstGeom>
          <a:solidFill>
            <a:srgbClr val="92D0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31" name="Google Shape;531;p33"/>
          <p:cNvSpPr/>
          <p:nvPr/>
        </p:nvSpPr>
        <p:spPr>
          <a:xfrm>
            <a:off x="16492487" y="6761758"/>
            <a:ext cx="1442671" cy="1069026"/>
          </a:xfrm>
          <a:prstGeom prst="roundRect">
            <a:avLst>
              <a:gd name="adj" fmla="val 16667"/>
            </a:avLst>
          </a:prstGeom>
          <a:solidFill>
            <a:srgbClr val="00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TQ%</a:t>
            </a:r>
            <a:endParaRPr/>
          </a:p>
        </p:txBody>
      </p:sp>
      <p:sp>
        <p:nvSpPr>
          <p:cNvPr id="532" name="Google Shape;532;p33"/>
          <p:cNvSpPr/>
          <p:nvPr/>
        </p:nvSpPr>
        <p:spPr>
          <a:xfrm>
            <a:off x="14322416" y="6761758"/>
            <a:ext cx="1442671" cy="1069026"/>
          </a:xfrm>
          <a:prstGeom prst="roundRect">
            <a:avLst>
              <a:gd name="adj" fmla="val 16667"/>
            </a:avLst>
          </a:prstGeom>
          <a:solidFill>
            <a:srgbClr val="00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TP%</a:t>
            </a:r>
            <a:endParaRPr/>
          </a:p>
        </p:txBody>
      </p:sp>
      <p:sp>
        <p:nvSpPr>
          <p:cNvPr id="533" name="Google Shape;533;p33"/>
          <p:cNvSpPr/>
          <p:nvPr/>
        </p:nvSpPr>
        <p:spPr>
          <a:xfrm rot="3481688">
            <a:off x="8831820" y="5722863"/>
            <a:ext cx="1986297" cy="282082"/>
          </a:xfrm>
          <a:prstGeom prst="rightArrow">
            <a:avLst>
              <a:gd name="adj1" fmla="val 50000"/>
              <a:gd name="adj2" fmla="val 50000"/>
            </a:avLst>
          </a:prstGeom>
          <a:solidFill>
            <a:srgbClr val="92D0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34" name="Google Shape;534;p33"/>
          <p:cNvSpPr/>
          <p:nvPr/>
        </p:nvSpPr>
        <p:spPr>
          <a:xfrm rot="1751452">
            <a:off x="11044813" y="5433609"/>
            <a:ext cx="3863613" cy="279461"/>
          </a:xfrm>
          <a:prstGeom prst="rightArrow">
            <a:avLst>
              <a:gd name="adj1" fmla="val 50000"/>
              <a:gd name="adj2" fmla="val 50000"/>
            </a:avLst>
          </a:prstGeom>
          <a:solidFill>
            <a:srgbClr val="92D0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sp>
        <p:nvSpPr>
          <p:cNvPr id="540" name="Google Shape;540;p34"/>
          <p:cNvSpPr txBox="1"/>
          <p:nvPr/>
        </p:nvSpPr>
        <p:spPr>
          <a:xfrm>
            <a:off x="3026229" y="319120"/>
            <a:ext cx="12302440" cy="999954"/>
          </a:xfrm>
          <a:prstGeom prst="rect">
            <a:avLst/>
          </a:prstGeom>
          <a:noFill/>
          <a:ln>
            <a:noFill/>
          </a:ln>
        </p:spPr>
        <p:txBody>
          <a:bodyPr spcFirstLastPara="1" wrap="square" lIns="0" tIns="0" rIns="0" bIns="0" anchor="t" anchorCtr="0">
            <a:spAutoFit/>
          </a:bodyPr>
          <a:lstStyle/>
          <a:p>
            <a:pPr marL="0" marR="0" lvl="0" indent="0" algn="l" rtl="0">
              <a:lnSpc>
                <a:spcPct val="166666"/>
              </a:lnSpc>
              <a:spcBef>
                <a:spcPts val="0"/>
              </a:spcBef>
              <a:spcAft>
                <a:spcPts val="0"/>
              </a:spcAft>
              <a:buNone/>
            </a:pPr>
            <a:endParaRPr sz="5400" b="1">
              <a:solidFill>
                <a:srgbClr val="004AAD"/>
              </a:solidFill>
              <a:latin typeface="Montserrat"/>
              <a:ea typeface="Montserrat"/>
              <a:cs typeface="Montserrat"/>
              <a:sym typeface="Montserrat"/>
            </a:endParaRPr>
          </a:p>
        </p:txBody>
      </p:sp>
      <p:sp>
        <p:nvSpPr>
          <p:cNvPr id="541" name="Google Shape;541;p34"/>
          <p:cNvSpPr txBox="1"/>
          <p:nvPr/>
        </p:nvSpPr>
        <p:spPr>
          <a:xfrm>
            <a:off x="1853777" y="260605"/>
            <a:ext cx="14097000" cy="965136"/>
          </a:xfrm>
          <a:prstGeom prst="rect">
            <a:avLst/>
          </a:prstGeom>
          <a:noFill/>
          <a:ln>
            <a:noFill/>
          </a:ln>
        </p:spPr>
        <p:txBody>
          <a:bodyPr spcFirstLastPara="1" wrap="square" lIns="0" tIns="0" rIns="0" bIns="0" anchor="t" anchorCtr="0">
            <a:spAutoFit/>
          </a:bodyPr>
          <a:lstStyle/>
          <a:p>
            <a:pPr marL="0" marR="0" lvl="0" indent="0" algn="ctr" rtl="0">
              <a:lnSpc>
                <a:spcPct val="225000"/>
              </a:lnSpc>
              <a:spcBef>
                <a:spcPts val="0"/>
              </a:spcBef>
              <a:spcAft>
                <a:spcPts val="0"/>
              </a:spcAft>
              <a:buNone/>
            </a:pPr>
            <a:r>
              <a:rPr lang="fr-FR" sz="4000" b="1">
                <a:solidFill>
                  <a:srgbClr val="004AAD"/>
                </a:solidFill>
                <a:latin typeface="Montserrat"/>
                <a:ea typeface="Montserrat"/>
                <a:cs typeface="Montserrat"/>
                <a:sym typeface="Montserrat"/>
              </a:rPr>
              <a:t>Préparation des tableaux de données clients</a:t>
            </a:r>
            <a:endParaRPr/>
          </a:p>
        </p:txBody>
      </p:sp>
      <p:sp>
        <p:nvSpPr>
          <p:cNvPr id="542" name="Google Shape;542;p34"/>
          <p:cNvSpPr/>
          <p:nvPr/>
        </p:nvSpPr>
        <p:spPr>
          <a:xfrm>
            <a:off x="7055727" y="1816703"/>
            <a:ext cx="3581400" cy="1069026"/>
          </a:xfrm>
          <a:prstGeom prst="roundRect">
            <a:avLst>
              <a:gd name="adj" fmla="val 16667"/>
            </a:avLst>
          </a:prstGeom>
          <a:solidFill>
            <a:srgbClr val="0070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000" b="1">
                <a:solidFill>
                  <a:schemeClr val="lt1"/>
                </a:solidFill>
                <a:latin typeface="Montserrat"/>
                <a:ea typeface="Montserrat"/>
                <a:cs typeface="Montserrat"/>
                <a:sym typeface="Montserrat"/>
              </a:rPr>
              <a:t>Cycle de Production </a:t>
            </a:r>
            <a:endParaRPr/>
          </a:p>
        </p:txBody>
      </p:sp>
      <p:sp>
        <p:nvSpPr>
          <p:cNvPr id="543" name="Google Shape;543;p34"/>
          <p:cNvSpPr/>
          <p:nvPr/>
        </p:nvSpPr>
        <p:spPr>
          <a:xfrm>
            <a:off x="12194573" y="2540474"/>
            <a:ext cx="3581400" cy="1069026"/>
          </a:xfrm>
          <a:prstGeom prst="roundRect">
            <a:avLst>
              <a:gd name="adj" fmla="val 16667"/>
            </a:avLst>
          </a:prstGeom>
          <a:solidFill>
            <a:srgbClr val="92D0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000" b="1">
                <a:solidFill>
                  <a:schemeClr val="lt1"/>
                </a:solidFill>
                <a:latin typeface="Montserrat"/>
                <a:ea typeface="Montserrat"/>
                <a:cs typeface="Montserrat"/>
                <a:sym typeface="Montserrat"/>
              </a:rPr>
              <a:t>KPIs de Production</a:t>
            </a:r>
            <a:endParaRPr/>
          </a:p>
        </p:txBody>
      </p:sp>
      <p:sp>
        <p:nvSpPr>
          <p:cNvPr id="544" name="Google Shape;544;p34"/>
          <p:cNvSpPr/>
          <p:nvPr/>
        </p:nvSpPr>
        <p:spPr>
          <a:xfrm>
            <a:off x="1916881" y="2633807"/>
            <a:ext cx="3581400" cy="1069026"/>
          </a:xfrm>
          <a:prstGeom prst="roundRect">
            <a:avLst>
              <a:gd name="adj" fmla="val 16667"/>
            </a:avLst>
          </a:prstGeom>
          <a:solidFill>
            <a:srgbClr val="FA910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000" b="1">
                <a:solidFill>
                  <a:schemeClr val="lt1"/>
                </a:solidFill>
                <a:latin typeface="Montserrat"/>
                <a:ea typeface="Montserrat"/>
                <a:cs typeface="Montserrat"/>
                <a:sym typeface="Montserrat"/>
              </a:rPr>
              <a:t>KPIs de Maintenance</a:t>
            </a:r>
            <a:endParaRPr/>
          </a:p>
        </p:txBody>
      </p:sp>
      <p:sp>
        <p:nvSpPr>
          <p:cNvPr id="545" name="Google Shape;545;p34"/>
          <p:cNvSpPr/>
          <p:nvPr/>
        </p:nvSpPr>
        <p:spPr>
          <a:xfrm>
            <a:off x="7104006" y="3604496"/>
            <a:ext cx="3581400" cy="1069026"/>
          </a:xfrm>
          <a:prstGeom prst="roundRect">
            <a:avLst>
              <a:gd name="adj" fmla="val 16667"/>
            </a:avLst>
          </a:prstGeom>
          <a:solidFill>
            <a:srgbClr val="7030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000" b="1">
                <a:solidFill>
                  <a:schemeClr val="lt1"/>
                </a:solidFill>
                <a:latin typeface="Montserrat"/>
                <a:ea typeface="Montserrat"/>
                <a:cs typeface="Montserrat"/>
                <a:sym typeface="Montserrat"/>
              </a:rPr>
              <a:t>Analyse des données de Pareto</a:t>
            </a:r>
            <a:endParaRPr/>
          </a:p>
        </p:txBody>
      </p:sp>
      <p:sp>
        <p:nvSpPr>
          <p:cNvPr id="546" name="Google Shape;546;p34"/>
          <p:cNvSpPr/>
          <p:nvPr/>
        </p:nvSpPr>
        <p:spPr>
          <a:xfrm>
            <a:off x="547578" y="6900858"/>
            <a:ext cx="3587860" cy="1069026"/>
          </a:xfrm>
          <a:prstGeom prst="roundRect">
            <a:avLst>
              <a:gd name="adj" fmla="val 16667"/>
            </a:avLst>
          </a:prstGeom>
          <a:solidFill>
            <a:srgbClr val="B2A0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Les équipement en Mode de défaillance </a:t>
            </a:r>
            <a:endParaRPr/>
          </a:p>
        </p:txBody>
      </p:sp>
      <p:sp>
        <p:nvSpPr>
          <p:cNvPr id="547" name="Google Shape;547;p34"/>
          <p:cNvSpPr/>
          <p:nvPr/>
        </p:nvSpPr>
        <p:spPr>
          <a:xfrm>
            <a:off x="5257181" y="6900858"/>
            <a:ext cx="3165140" cy="1069026"/>
          </a:xfrm>
          <a:prstGeom prst="roundRect">
            <a:avLst>
              <a:gd name="adj" fmla="val 16667"/>
            </a:avLst>
          </a:prstGeom>
          <a:solidFill>
            <a:srgbClr val="B2A0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Sommes de Temps de Pannes</a:t>
            </a:r>
            <a:endParaRPr/>
          </a:p>
        </p:txBody>
      </p:sp>
      <p:sp>
        <p:nvSpPr>
          <p:cNvPr id="548" name="Google Shape;548;p34"/>
          <p:cNvSpPr/>
          <p:nvPr/>
        </p:nvSpPr>
        <p:spPr>
          <a:xfrm>
            <a:off x="9544064" y="6900858"/>
            <a:ext cx="3406777" cy="1069026"/>
          </a:xfrm>
          <a:prstGeom prst="roundRect">
            <a:avLst>
              <a:gd name="adj" fmla="val 16667"/>
            </a:avLst>
          </a:prstGeom>
          <a:solidFill>
            <a:srgbClr val="B2A0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Sommes cumulées des temps</a:t>
            </a:r>
            <a:endParaRPr/>
          </a:p>
        </p:txBody>
      </p:sp>
      <p:sp>
        <p:nvSpPr>
          <p:cNvPr id="549" name="Google Shape;549;p34"/>
          <p:cNvSpPr/>
          <p:nvPr/>
        </p:nvSpPr>
        <p:spPr>
          <a:xfrm rot="-3153051" flipH="1">
            <a:off x="6514688" y="5642392"/>
            <a:ext cx="1908131" cy="315147"/>
          </a:xfrm>
          <a:prstGeom prst="rightArrow">
            <a:avLst>
              <a:gd name="adj1" fmla="val 50000"/>
              <a:gd name="adj2" fmla="val 50000"/>
            </a:avLst>
          </a:prstGeom>
          <a:solidFill>
            <a:srgbClr val="5F497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0" name="Google Shape;550;p34"/>
          <p:cNvSpPr/>
          <p:nvPr/>
        </p:nvSpPr>
        <p:spPr>
          <a:xfrm rot="-1610676" flipH="1">
            <a:off x="2885107" y="5495332"/>
            <a:ext cx="3974089" cy="323373"/>
          </a:xfrm>
          <a:prstGeom prst="rightArrow">
            <a:avLst>
              <a:gd name="adj1" fmla="val 50000"/>
              <a:gd name="adj2" fmla="val 50000"/>
            </a:avLst>
          </a:prstGeom>
          <a:solidFill>
            <a:srgbClr val="5F497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1" name="Google Shape;551;p34"/>
          <p:cNvSpPr/>
          <p:nvPr/>
        </p:nvSpPr>
        <p:spPr>
          <a:xfrm>
            <a:off x="13963502" y="6880628"/>
            <a:ext cx="3406777" cy="1069026"/>
          </a:xfrm>
          <a:prstGeom prst="roundRect">
            <a:avLst>
              <a:gd name="adj" fmla="val 16667"/>
            </a:avLst>
          </a:prstGeom>
          <a:solidFill>
            <a:srgbClr val="B2A0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Pourcentage des sommes cumulées</a:t>
            </a:r>
            <a:endParaRPr/>
          </a:p>
        </p:txBody>
      </p:sp>
      <p:sp>
        <p:nvSpPr>
          <p:cNvPr id="552" name="Google Shape;552;p34"/>
          <p:cNvSpPr/>
          <p:nvPr/>
        </p:nvSpPr>
        <p:spPr>
          <a:xfrm rot="3481688">
            <a:off x="9549471" y="5722860"/>
            <a:ext cx="1986297" cy="282082"/>
          </a:xfrm>
          <a:prstGeom prst="rightArrow">
            <a:avLst>
              <a:gd name="adj1" fmla="val 50000"/>
              <a:gd name="adj2" fmla="val 50000"/>
            </a:avLst>
          </a:prstGeom>
          <a:solidFill>
            <a:srgbClr val="5F497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3" name="Google Shape;553;p34"/>
          <p:cNvSpPr/>
          <p:nvPr/>
        </p:nvSpPr>
        <p:spPr>
          <a:xfrm rot="1751452">
            <a:off x="11513686" y="5577185"/>
            <a:ext cx="3863613" cy="279461"/>
          </a:xfrm>
          <a:prstGeom prst="rightArrow">
            <a:avLst>
              <a:gd name="adj1" fmla="val 50000"/>
              <a:gd name="adj2" fmla="val 50000"/>
            </a:avLst>
          </a:prstGeom>
          <a:solidFill>
            <a:srgbClr val="5F497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35"/>
          <p:cNvSpPr txBox="1"/>
          <p:nvPr/>
        </p:nvSpPr>
        <p:spPr>
          <a:xfrm>
            <a:off x="3026229" y="319120"/>
            <a:ext cx="12302440" cy="999954"/>
          </a:xfrm>
          <a:prstGeom prst="rect">
            <a:avLst/>
          </a:prstGeom>
          <a:noFill/>
          <a:ln>
            <a:noFill/>
          </a:ln>
        </p:spPr>
        <p:txBody>
          <a:bodyPr spcFirstLastPara="1" wrap="square" lIns="0" tIns="0" rIns="0" bIns="0" anchor="t" anchorCtr="0">
            <a:spAutoFit/>
          </a:bodyPr>
          <a:lstStyle/>
          <a:p>
            <a:pPr marL="0" marR="0" lvl="0" indent="0" algn="l" rtl="0">
              <a:lnSpc>
                <a:spcPct val="166666"/>
              </a:lnSpc>
              <a:spcBef>
                <a:spcPts val="0"/>
              </a:spcBef>
              <a:spcAft>
                <a:spcPts val="0"/>
              </a:spcAft>
              <a:buNone/>
            </a:pPr>
            <a:endParaRPr sz="5400" b="1">
              <a:solidFill>
                <a:srgbClr val="004AAD"/>
              </a:solidFill>
              <a:latin typeface="Montserrat"/>
              <a:ea typeface="Montserrat"/>
              <a:cs typeface="Montserrat"/>
              <a:sym typeface="Montserrat"/>
            </a:endParaRPr>
          </a:p>
        </p:txBody>
      </p:sp>
      <p:sp>
        <p:nvSpPr>
          <p:cNvPr id="560" name="Google Shape;560;p35"/>
          <p:cNvSpPr txBox="1"/>
          <p:nvPr/>
        </p:nvSpPr>
        <p:spPr>
          <a:xfrm>
            <a:off x="1853777" y="260605"/>
            <a:ext cx="14097000" cy="965136"/>
          </a:xfrm>
          <a:prstGeom prst="rect">
            <a:avLst/>
          </a:prstGeom>
          <a:noFill/>
          <a:ln>
            <a:noFill/>
          </a:ln>
        </p:spPr>
        <p:txBody>
          <a:bodyPr spcFirstLastPara="1" wrap="square" lIns="0" tIns="0" rIns="0" bIns="0" anchor="t" anchorCtr="0">
            <a:spAutoFit/>
          </a:bodyPr>
          <a:lstStyle/>
          <a:p>
            <a:pPr marL="0" marR="0" lvl="0" indent="0" algn="ctr" rtl="0">
              <a:lnSpc>
                <a:spcPct val="225000"/>
              </a:lnSpc>
              <a:spcBef>
                <a:spcPts val="0"/>
              </a:spcBef>
              <a:spcAft>
                <a:spcPts val="0"/>
              </a:spcAft>
              <a:buNone/>
            </a:pPr>
            <a:r>
              <a:rPr lang="fr-FR" sz="4000" b="1">
                <a:solidFill>
                  <a:srgbClr val="004AAD"/>
                </a:solidFill>
                <a:latin typeface="Montserrat"/>
                <a:ea typeface="Montserrat"/>
                <a:cs typeface="Montserrat"/>
                <a:sym typeface="Montserrat"/>
              </a:rPr>
              <a:t>Programmation et automatisation des processus</a:t>
            </a:r>
            <a:endParaRPr sz="4000" b="1">
              <a:solidFill>
                <a:srgbClr val="004AAD"/>
              </a:solidFill>
              <a:latin typeface="Montserrat"/>
              <a:ea typeface="Montserrat"/>
              <a:cs typeface="Montserrat"/>
              <a:sym typeface="Montserrat"/>
            </a:endParaRPr>
          </a:p>
        </p:txBody>
      </p:sp>
      <p:sp>
        <p:nvSpPr>
          <p:cNvPr id="561" name="Google Shape;561;p35"/>
          <p:cNvSpPr txBox="1"/>
          <p:nvPr/>
        </p:nvSpPr>
        <p:spPr>
          <a:xfrm>
            <a:off x="1138349" y="2568970"/>
            <a:ext cx="16078200" cy="15696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2400">
                <a:solidFill>
                  <a:srgbClr val="2E2E2E"/>
                </a:solidFill>
                <a:latin typeface="Montserrat"/>
                <a:ea typeface="Montserrat"/>
                <a:cs typeface="Montserrat"/>
                <a:sym typeface="Montserrat"/>
              </a:rPr>
              <a:t>Programmation de requêtes SQL (T-SQL) </a:t>
            </a:r>
            <a:endParaRPr/>
          </a:p>
          <a:p>
            <a:pPr marL="0" marR="0" lvl="0" indent="0" algn="l" rtl="0">
              <a:spcBef>
                <a:spcPts val="0"/>
              </a:spcBef>
              <a:spcAft>
                <a:spcPts val="0"/>
              </a:spcAft>
              <a:buNone/>
            </a:pPr>
            <a:r>
              <a:rPr lang="fr-FR" sz="2400">
                <a:solidFill>
                  <a:srgbClr val="2E2E2E"/>
                </a:solidFill>
                <a:latin typeface="Montserrat"/>
                <a:ea typeface="Montserrat"/>
                <a:cs typeface="Montserrat"/>
                <a:sym typeface="Montserrat"/>
              </a:rPr>
              <a:t>Calcul automatique et périodique de tous les KPIs (production, maintenance), Temps de Cycle de production et des paramètres de Pareto, directement dans la base de données.</a:t>
            </a:r>
            <a:endParaRPr/>
          </a:p>
          <a:p>
            <a:pPr marL="0" marR="0" lvl="0" indent="0" algn="l" rtl="0">
              <a:spcBef>
                <a:spcPts val="0"/>
              </a:spcBef>
              <a:spcAft>
                <a:spcPts val="0"/>
              </a:spcAft>
              <a:buNone/>
            </a:pPr>
            <a:endParaRPr sz="2400">
              <a:solidFill>
                <a:srgbClr val="2E2E2E"/>
              </a:solidFill>
              <a:latin typeface="Montserrat"/>
              <a:ea typeface="Montserrat"/>
              <a:cs typeface="Montserrat"/>
              <a:sym typeface="Montserrat"/>
            </a:endParaRPr>
          </a:p>
        </p:txBody>
      </p:sp>
      <p:sp>
        <p:nvSpPr>
          <p:cNvPr id="562" name="Google Shape;562;p35"/>
          <p:cNvSpPr/>
          <p:nvPr/>
        </p:nvSpPr>
        <p:spPr>
          <a:xfrm>
            <a:off x="4784272" y="6954356"/>
            <a:ext cx="2565823" cy="1069026"/>
          </a:xfrm>
          <a:prstGeom prst="roundRect">
            <a:avLst>
              <a:gd name="adj" fmla="val 16667"/>
            </a:avLst>
          </a:prstGeom>
          <a:solidFill>
            <a:srgbClr val="00B0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Données Sources</a:t>
            </a:r>
            <a:endParaRPr/>
          </a:p>
        </p:txBody>
      </p:sp>
      <p:sp>
        <p:nvSpPr>
          <p:cNvPr id="563" name="Google Shape;563;p35"/>
          <p:cNvSpPr/>
          <p:nvPr/>
        </p:nvSpPr>
        <p:spPr>
          <a:xfrm>
            <a:off x="4886083" y="4731452"/>
            <a:ext cx="2362200" cy="1069026"/>
          </a:xfrm>
          <a:prstGeom prst="roundRect">
            <a:avLst>
              <a:gd name="adj" fmla="val 16667"/>
            </a:avLst>
          </a:prstGeom>
          <a:solidFill>
            <a:srgbClr val="00B0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Trigger </a:t>
            </a:r>
            <a:endParaRPr/>
          </a:p>
        </p:txBody>
      </p:sp>
      <p:sp>
        <p:nvSpPr>
          <p:cNvPr id="564" name="Google Shape;564;p35"/>
          <p:cNvSpPr/>
          <p:nvPr/>
        </p:nvSpPr>
        <p:spPr>
          <a:xfrm>
            <a:off x="9854777" y="6896100"/>
            <a:ext cx="2870623" cy="1185539"/>
          </a:xfrm>
          <a:prstGeom prst="roundRect">
            <a:avLst>
              <a:gd name="adj" fmla="val 16667"/>
            </a:avLst>
          </a:prstGeom>
          <a:solidFill>
            <a:srgbClr val="00B0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Tableaux des données Calculé</a:t>
            </a:r>
            <a:endParaRPr/>
          </a:p>
        </p:txBody>
      </p:sp>
      <p:sp>
        <p:nvSpPr>
          <p:cNvPr id="565" name="Google Shape;565;p35"/>
          <p:cNvSpPr/>
          <p:nvPr/>
        </p:nvSpPr>
        <p:spPr>
          <a:xfrm>
            <a:off x="10985288" y="6142313"/>
            <a:ext cx="609600" cy="534513"/>
          </a:xfrm>
          <a:prstGeom prst="down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66" name="Google Shape;566;p35"/>
          <p:cNvSpPr/>
          <p:nvPr/>
        </p:nvSpPr>
        <p:spPr>
          <a:xfrm>
            <a:off x="10108988" y="4731452"/>
            <a:ext cx="2362200" cy="1069026"/>
          </a:xfrm>
          <a:prstGeom prst="roundRect">
            <a:avLst>
              <a:gd name="adj" fmla="val 16667"/>
            </a:avLst>
          </a:prstGeom>
          <a:solidFill>
            <a:srgbClr val="00B0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Target</a:t>
            </a:r>
            <a:endParaRPr/>
          </a:p>
        </p:txBody>
      </p:sp>
      <p:sp>
        <p:nvSpPr>
          <p:cNvPr id="567" name="Google Shape;567;p35"/>
          <p:cNvSpPr/>
          <p:nvPr/>
        </p:nvSpPr>
        <p:spPr>
          <a:xfrm>
            <a:off x="5749892" y="6142313"/>
            <a:ext cx="609600" cy="534513"/>
          </a:xfrm>
          <a:prstGeom prst="down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68" name="Google Shape;568;p35"/>
          <p:cNvSpPr/>
          <p:nvPr/>
        </p:nvSpPr>
        <p:spPr>
          <a:xfrm rot="-5400000">
            <a:off x="8400247" y="4942105"/>
            <a:ext cx="609600" cy="2870623"/>
          </a:xfrm>
          <a:prstGeom prst="down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73"/>
        <p:cNvGrpSpPr/>
        <p:nvPr/>
      </p:nvGrpSpPr>
      <p:grpSpPr>
        <a:xfrm>
          <a:off x="0" y="0"/>
          <a:ext cx="0" cy="0"/>
          <a:chOff x="0" y="0"/>
          <a:chExt cx="0" cy="0"/>
        </a:xfrm>
      </p:grpSpPr>
      <p:sp>
        <p:nvSpPr>
          <p:cNvPr id="574" name="Google Shape;574;p36"/>
          <p:cNvSpPr/>
          <p:nvPr/>
        </p:nvSpPr>
        <p:spPr>
          <a:xfrm rot="-6664043">
            <a:off x="519355" y="-1838608"/>
            <a:ext cx="13624687" cy="13964216"/>
          </a:xfrm>
          <a:custGeom>
            <a:avLst/>
            <a:gdLst/>
            <a:ahLst/>
            <a:cxnLst/>
            <a:rect l="l" t="t" r="r" b="b"/>
            <a:pathLst>
              <a:path w="11511802" h="11511802" extrusionOk="0">
                <a:moveTo>
                  <a:pt x="0" y="0"/>
                </a:moveTo>
                <a:lnTo>
                  <a:pt x="11511802" y="0"/>
                </a:lnTo>
                <a:lnTo>
                  <a:pt x="11511802" y="11511802"/>
                </a:lnTo>
                <a:lnTo>
                  <a:pt x="0" y="11511802"/>
                </a:lnTo>
                <a:lnTo>
                  <a:pt x="0" y="0"/>
                </a:lnTo>
                <a:close/>
              </a:path>
            </a:pathLst>
          </a:custGeom>
          <a:blipFill rotWithShape="1">
            <a:blip r:embed="rId3">
              <a:alphaModFix amt="40000"/>
            </a:blip>
            <a:stretch>
              <a:fillRect/>
            </a:stretch>
          </a:blipFill>
          <a:ln>
            <a:noFill/>
          </a:ln>
        </p:spPr>
      </p:sp>
      <p:sp>
        <p:nvSpPr>
          <p:cNvPr id="575" name="Google Shape;575;p36"/>
          <p:cNvSpPr/>
          <p:nvPr/>
        </p:nvSpPr>
        <p:spPr>
          <a:xfrm rot="1505868">
            <a:off x="4218925" y="2601217"/>
            <a:ext cx="12580534" cy="8680686"/>
          </a:xfrm>
          <a:custGeom>
            <a:avLst/>
            <a:gdLst/>
            <a:ahLst/>
            <a:cxnLst/>
            <a:rect l="l" t="t" r="r" b="b"/>
            <a:pathLst>
              <a:path w="12580534" h="8680686" extrusionOk="0">
                <a:moveTo>
                  <a:pt x="0" y="0"/>
                </a:moveTo>
                <a:lnTo>
                  <a:pt x="12580534" y="0"/>
                </a:lnTo>
                <a:lnTo>
                  <a:pt x="12580534" y="8680686"/>
                </a:lnTo>
                <a:lnTo>
                  <a:pt x="0" y="8680686"/>
                </a:lnTo>
                <a:lnTo>
                  <a:pt x="0" y="0"/>
                </a:lnTo>
                <a:close/>
              </a:path>
            </a:pathLst>
          </a:custGeom>
          <a:blipFill rotWithShape="1">
            <a:blip r:embed="rId4">
              <a:alphaModFix amt="50000"/>
            </a:blip>
            <a:stretch>
              <a:fillRect/>
            </a:stretch>
          </a:blipFill>
          <a:ln>
            <a:noFill/>
          </a:ln>
        </p:spPr>
      </p:sp>
      <p:sp>
        <p:nvSpPr>
          <p:cNvPr id="576" name="Google Shape;576;p36"/>
          <p:cNvSpPr txBox="1"/>
          <p:nvPr/>
        </p:nvSpPr>
        <p:spPr>
          <a:xfrm>
            <a:off x="2971799" y="3238500"/>
            <a:ext cx="14042231" cy="2154116"/>
          </a:xfrm>
          <a:prstGeom prst="rect">
            <a:avLst/>
          </a:prstGeom>
          <a:noFill/>
          <a:ln>
            <a:noFill/>
          </a:ln>
        </p:spPr>
        <p:txBody>
          <a:bodyPr spcFirstLastPara="1" wrap="square" lIns="0" tIns="0" rIns="0" bIns="0" anchor="t" anchorCtr="0">
            <a:spAutoFit/>
          </a:bodyPr>
          <a:lstStyle/>
          <a:p>
            <a:pPr marL="0" marR="0" lvl="0" indent="0" algn="l" rtl="0">
              <a:lnSpc>
                <a:spcPct val="166666"/>
              </a:lnSpc>
              <a:spcBef>
                <a:spcPts val="0"/>
              </a:spcBef>
              <a:spcAft>
                <a:spcPts val="0"/>
              </a:spcAft>
              <a:buNone/>
            </a:pPr>
            <a:r>
              <a:rPr lang="fr-FR" sz="5400" b="1">
                <a:solidFill>
                  <a:srgbClr val="FF0000"/>
                </a:solidFill>
                <a:latin typeface="Montserrat"/>
                <a:ea typeface="Montserrat"/>
                <a:cs typeface="Montserrat"/>
                <a:sym typeface="Montserrat"/>
              </a:rPr>
              <a:t>Phase 4 : Mise en place de la stratégie de sauvegarde au Cloud</a:t>
            </a:r>
            <a:endParaRPr sz="5400" b="1">
              <a:solidFill>
                <a:srgbClr val="FF0000"/>
              </a:solidFill>
              <a:latin typeface="Montserrat"/>
              <a:ea typeface="Montserrat"/>
              <a:cs typeface="Montserrat"/>
              <a:sym typeface="Montserrat"/>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81"/>
        <p:cNvGrpSpPr/>
        <p:nvPr/>
      </p:nvGrpSpPr>
      <p:grpSpPr>
        <a:xfrm>
          <a:off x="0" y="0"/>
          <a:ext cx="0" cy="0"/>
          <a:chOff x="0" y="0"/>
          <a:chExt cx="0" cy="0"/>
        </a:xfrm>
      </p:grpSpPr>
      <p:sp>
        <p:nvSpPr>
          <p:cNvPr id="582" name="Google Shape;582;p37"/>
          <p:cNvSpPr txBox="1"/>
          <p:nvPr/>
        </p:nvSpPr>
        <p:spPr>
          <a:xfrm>
            <a:off x="3026229" y="319120"/>
            <a:ext cx="12302440" cy="999954"/>
          </a:xfrm>
          <a:prstGeom prst="rect">
            <a:avLst/>
          </a:prstGeom>
          <a:noFill/>
          <a:ln>
            <a:noFill/>
          </a:ln>
        </p:spPr>
        <p:txBody>
          <a:bodyPr spcFirstLastPara="1" wrap="square" lIns="0" tIns="0" rIns="0" bIns="0" anchor="t" anchorCtr="0">
            <a:spAutoFit/>
          </a:bodyPr>
          <a:lstStyle/>
          <a:p>
            <a:pPr marL="0" marR="0" lvl="0" indent="0" algn="l" rtl="0">
              <a:lnSpc>
                <a:spcPct val="166666"/>
              </a:lnSpc>
              <a:spcBef>
                <a:spcPts val="0"/>
              </a:spcBef>
              <a:spcAft>
                <a:spcPts val="0"/>
              </a:spcAft>
              <a:buNone/>
            </a:pPr>
            <a:endParaRPr sz="5400" b="1">
              <a:solidFill>
                <a:srgbClr val="004AAD"/>
              </a:solidFill>
              <a:latin typeface="Montserrat"/>
              <a:ea typeface="Montserrat"/>
              <a:cs typeface="Montserrat"/>
              <a:sym typeface="Montserrat"/>
            </a:endParaRPr>
          </a:p>
        </p:txBody>
      </p:sp>
      <p:sp>
        <p:nvSpPr>
          <p:cNvPr id="583" name="Google Shape;583;p37"/>
          <p:cNvSpPr txBox="1"/>
          <p:nvPr/>
        </p:nvSpPr>
        <p:spPr>
          <a:xfrm>
            <a:off x="1853777" y="260605"/>
            <a:ext cx="14097000" cy="965136"/>
          </a:xfrm>
          <a:prstGeom prst="rect">
            <a:avLst/>
          </a:prstGeom>
          <a:noFill/>
          <a:ln>
            <a:noFill/>
          </a:ln>
        </p:spPr>
        <p:txBody>
          <a:bodyPr spcFirstLastPara="1" wrap="square" lIns="0" tIns="0" rIns="0" bIns="0" anchor="t" anchorCtr="0">
            <a:spAutoFit/>
          </a:bodyPr>
          <a:lstStyle/>
          <a:p>
            <a:pPr marL="0" marR="0" lvl="0" indent="0" algn="ctr" rtl="0">
              <a:lnSpc>
                <a:spcPct val="225000"/>
              </a:lnSpc>
              <a:spcBef>
                <a:spcPts val="0"/>
              </a:spcBef>
              <a:spcAft>
                <a:spcPts val="0"/>
              </a:spcAft>
              <a:buNone/>
            </a:pPr>
            <a:r>
              <a:rPr lang="fr-FR" sz="4000" b="1">
                <a:solidFill>
                  <a:srgbClr val="004AAD"/>
                </a:solidFill>
                <a:latin typeface="Montserrat"/>
                <a:ea typeface="Montserrat"/>
                <a:cs typeface="Montserrat"/>
                <a:sym typeface="Montserrat"/>
              </a:rPr>
              <a:t>Création d’une Script batch </a:t>
            </a:r>
            <a:endParaRPr sz="4000" b="1">
              <a:solidFill>
                <a:srgbClr val="004AAD"/>
              </a:solidFill>
              <a:latin typeface="Montserrat"/>
              <a:ea typeface="Montserrat"/>
              <a:cs typeface="Montserrat"/>
              <a:sym typeface="Montserrat"/>
            </a:endParaRPr>
          </a:p>
        </p:txBody>
      </p:sp>
      <p:sp>
        <p:nvSpPr>
          <p:cNvPr id="584" name="Google Shape;584;p37"/>
          <p:cNvSpPr/>
          <p:nvPr/>
        </p:nvSpPr>
        <p:spPr>
          <a:xfrm>
            <a:off x="248670" y="5937407"/>
            <a:ext cx="2565823" cy="1069026"/>
          </a:xfrm>
          <a:prstGeom prst="roundRect">
            <a:avLst>
              <a:gd name="adj" fmla="val 16667"/>
            </a:avLst>
          </a:prstGeom>
          <a:solidFill>
            <a:srgbClr val="00B0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Connexion SQL Express</a:t>
            </a:r>
            <a:endParaRPr/>
          </a:p>
        </p:txBody>
      </p:sp>
      <p:sp>
        <p:nvSpPr>
          <p:cNvPr id="585" name="Google Shape;585;p37"/>
          <p:cNvSpPr/>
          <p:nvPr/>
        </p:nvSpPr>
        <p:spPr>
          <a:xfrm>
            <a:off x="8760939" y="5879151"/>
            <a:ext cx="4216612" cy="1185539"/>
          </a:xfrm>
          <a:prstGeom prst="roundRect">
            <a:avLst>
              <a:gd name="adj" fmla="val 16667"/>
            </a:avLst>
          </a:prstGeom>
          <a:solidFill>
            <a:srgbClr val="00B0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Compression &amp; Mot de Passe (7-Zip)</a:t>
            </a:r>
            <a:endParaRPr/>
          </a:p>
        </p:txBody>
      </p:sp>
      <p:sp>
        <p:nvSpPr>
          <p:cNvPr id="586" name="Google Shape;586;p37"/>
          <p:cNvSpPr/>
          <p:nvPr/>
        </p:nvSpPr>
        <p:spPr>
          <a:xfrm>
            <a:off x="3679410" y="5937407"/>
            <a:ext cx="4216612" cy="1069026"/>
          </a:xfrm>
          <a:prstGeom prst="roundRect">
            <a:avLst>
              <a:gd name="adj" fmla="val 16667"/>
            </a:avLst>
          </a:prstGeom>
          <a:solidFill>
            <a:srgbClr val="00B0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Extraction de base de données (.BAK)</a:t>
            </a:r>
            <a:endParaRPr/>
          </a:p>
        </p:txBody>
      </p:sp>
      <p:sp>
        <p:nvSpPr>
          <p:cNvPr id="587" name="Google Shape;587;p37"/>
          <p:cNvSpPr/>
          <p:nvPr/>
        </p:nvSpPr>
        <p:spPr>
          <a:xfrm rot="-5400000">
            <a:off x="2942152" y="6230248"/>
            <a:ext cx="609600" cy="483345"/>
          </a:xfrm>
          <a:prstGeom prst="down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88" name="Google Shape;588;p37"/>
          <p:cNvSpPr/>
          <p:nvPr/>
        </p:nvSpPr>
        <p:spPr>
          <a:xfrm>
            <a:off x="13842471" y="5879151"/>
            <a:ext cx="4216612" cy="1185539"/>
          </a:xfrm>
          <a:prstGeom prst="roundRect">
            <a:avLst>
              <a:gd name="adj" fmla="val 16667"/>
            </a:avLst>
          </a:prstGeom>
          <a:solidFill>
            <a:srgbClr val="00B0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Sauvegarde au Cloud</a:t>
            </a:r>
            <a:endParaRPr/>
          </a:p>
        </p:txBody>
      </p:sp>
      <p:sp>
        <p:nvSpPr>
          <p:cNvPr id="589" name="Google Shape;589;p37"/>
          <p:cNvSpPr/>
          <p:nvPr/>
        </p:nvSpPr>
        <p:spPr>
          <a:xfrm rot="-5400000">
            <a:off x="8023681" y="6230248"/>
            <a:ext cx="609600" cy="483345"/>
          </a:xfrm>
          <a:prstGeom prst="down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90" name="Google Shape;590;p37"/>
          <p:cNvSpPr/>
          <p:nvPr/>
        </p:nvSpPr>
        <p:spPr>
          <a:xfrm rot="-5400000">
            <a:off x="13105210" y="6230248"/>
            <a:ext cx="609600" cy="483345"/>
          </a:xfrm>
          <a:prstGeom prst="down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591" name="Google Shape;591;p37" descr="Sql - Free electronics icons"/>
          <p:cNvPicPr preferRelativeResize="0"/>
          <p:nvPr/>
        </p:nvPicPr>
        <p:blipFill rotWithShape="1">
          <a:blip r:embed="rId3">
            <a:alphaModFix/>
          </a:blip>
          <a:srcRect/>
          <a:stretch/>
        </p:blipFill>
        <p:spPr>
          <a:xfrm>
            <a:off x="533400" y="7591425"/>
            <a:ext cx="1752600" cy="1752600"/>
          </a:xfrm>
          <a:prstGeom prst="rect">
            <a:avLst/>
          </a:prstGeom>
          <a:noFill/>
          <a:ln>
            <a:noFill/>
          </a:ln>
        </p:spPr>
      </p:pic>
      <p:sp>
        <p:nvSpPr>
          <p:cNvPr id="592" name="Google Shape;592;p37"/>
          <p:cNvSpPr/>
          <p:nvPr/>
        </p:nvSpPr>
        <p:spPr>
          <a:xfrm>
            <a:off x="2814493" y="3280567"/>
            <a:ext cx="2565823" cy="1069026"/>
          </a:xfrm>
          <a:prstGeom prst="roundRect">
            <a:avLst>
              <a:gd name="adj" fmla="val 16667"/>
            </a:avLst>
          </a:prstGeom>
          <a:solidFill>
            <a:srgbClr val="00B0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Création Script Batch</a:t>
            </a:r>
            <a:endParaRPr/>
          </a:p>
        </p:txBody>
      </p:sp>
      <p:pic>
        <p:nvPicPr>
          <p:cNvPr id="593" name="Google Shape;593;p37" descr="Backup - Free electronics icons"/>
          <p:cNvPicPr preferRelativeResize="0"/>
          <p:nvPr/>
        </p:nvPicPr>
        <p:blipFill rotWithShape="1">
          <a:blip r:embed="rId4">
            <a:alphaModFix/>
          </a:blip>
          <a:srcRect/>
          <a:stretch/>
        </p:blipFill>
        <p:spPr>
          <a:xfrm>
            <a:off x="4616428" y="7226569"/>
            <a:ext cx="2241572" cy="2241572"/>
          </a:xfrm>
          <a:prstGeom prst="rect">
            <a:avLst/>
          </a:prstGeom>
          <a:noFill/>
          <a:ln>
            <a:noFill/>
          </a:ln>
        </p:spPr>
      </p:pic>
      <p:pic>
        <p:nvPicPr>
          <p:cNvPr id="594" name="Google Shape;594;p37" descr="7zip&quot; Icon - Download for free – Iconduck"/>
          <p:cNvPicPr preferRelativeResize="0"/>
          <p:nvPr/>
        </p:nvPicPr>
        <p:blipFill rotWithShape="1">
          <a:blip r:embed="rId5">
            <a:alphaModFix/>
          </a:blip>
          <a:srcRect/>
          <a:stretch/>
        </p:blipFill>
        <p:spPr>
          <a:xfrm>
            <a:off x="9792920" y="7591425"/>
            <a:ext cx="2152650" cy="2124075"/>
          </a:xfrm>
          <a:prstGeom prst="rect">
            <a:avLst/>
          </a:prstGeom>
          <a:noFill/>
          <a:ln>
            <a:noFill/>
          </a:ln>
        </p:spPr>
      </p:pic>
      <p:pic>
        <p:nvPicPr>
          <p:cNvPr id="595" name="Google Shape;595;p37" descr="Backup - Free files and folders icons"/>
          <p:cNvPicPr preferRelativeResize="0"/>
          <p:nvPr/>
        </p:nvPicPr>
        <p:blipFill rotWithShape="1">
          <a:blip r:embed="rId6">
            <a:alphaModFix/>
          </a:blip>
          <a:srcRect/>
          <a:stretch/>
        </p:blipFill>
        <p:spPr>
          <a:xfrm>
            <a:off x="14880490" y="7381281"/>
            <a:ext cx="2241572" cy="2241572"/>
          </a:xfrm>
          <a:prstGeom prst="rect">
            <a:avLst/>
          </a:prstGeom>
          <a:noFill/>
          <a:ln>
            <a:noFill/>
          </a:ln>
        </p:spPr>
      </p:pic>
      <p:sp>
        <p:nvSpPr>
          <p:cNvPr id="596" name="Google Shape;596;p37"/>
          <p:cNvSpPr/>
          <p:nvPr/>
        </p:nvSpPr>
        <p:spPr>
          <a:xfrm rot="-5400000" flipH="1">
            <a:off x="809150" y="3968487"/>
            <a:ext cx="2089255" cy="1543685"/>
          </a:xfrm>
          <a:prstGeom prst="bentArrow">
            <a:avLst>
              <a:gd name="adj1" fmla="val 20550"/>
              <a:gd name="adj2" fmla="val 25000"/>
              <a:gd name="adj3" fmla="val 42799"/>
              <a:gd name="adj4" fmla="val 4375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597" name="Google Shape;597;p37" descr="CMD Terminal icon SVG Vector &amp; PNG Free Download | UXWing"/>
          <p:cNvPicPr preferRelativeResize="0"/>
          <p:nvPr/>
        </p:nvPicPr>
        <p:blipFill rotWithShape="1">
          <a:blip r:embed="rId7">
            <a:alphaModFix/>
          </a:blip>
          <a:srcRect/>
          <a:stretch/>
        </p:blipFill>
        <p:spPr>
          <a:xfrm>
            <a:off x="3246952" y="1774368"/>
            <a:ext cx="1545111" cy="1304479"/>
          </a:xfrm>
          <a:prstGeom prst="rect">
            <a:avLst/>
          </a:prstGeom>
          <a:noFill/>
          <a:ln>
            <a:noFill/>
          </a:ln>
        </p:spPr>
      </p:pic>
      <p:sp>
        <p:nvSpPr>
          <p:cNvPr id="598" name="Google Shape;598;p37"/>
          <p:cNvSpPr/>
          <p:nvPr/>
        </p:nvSpPr>
        <p:spPr>
          <a:xfrm rot="10800000">
            <a:off x="15645977" y="4819822"/>
            <a:ext cx="609600" cy="965135"/>
          </a:xfrm>
          <a:prstGeom prst="down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99" name="Google Shape;599;p37"/>
          <p:cNvSpPr/>
          <p:nvPr/>
        </p:nvSpPr>
        <p:spPr>
          <a:xfrm>
            <a:off x="13651683" y="3466767"/>
            <a:ext cx="4216612" cy="1185539"/>
          </a:xfrm>
          <a:prstGeom prst="roundRect">
            <a:avLst>
              <a:gd name="adj" fmla="val 16667"/>
            </a:avLst>
          </a:prstGeom>
          <a:solidFill>
            <a:srgbClr val="00B0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Synchronisation avec Cloud </a:t>
            </a:r>
            <a:endParaRPr/>
          </a:p>
        </p:txBody>
      </p:sp>
      <p:pic>
        <p:nvPicPr>
          <p:cNvPr id="600" name="Google Shape;600;p37" descr="Cloud backup - Free seo and web icons"/>
          <p:cNvPicPr preferRelativeResize="0"/>
          <p:nvPr/>
        </p:nvPicPr>
        <p:blipFill rotWithShape="1">
          <a:blip r:embed="rId8">
            <a:alphaModFix/>
          </a:blip>
          <a:srcRect/>
          <a:stretch/>
        </p:blipFill>
        <p:spPr>
          <a:xfrm>
            <a:off x="14569652" y="1163597"/>
            <a:ext cx="2152650" cy="21526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05"/>
        <p:cNvGrpSpPr/>
        <p:nvPr/>
      </p:nvGrpSpPr>
      <p:grpSpPr>
        <a:xfrm>
          <a:off x="0" y="0"/>
          <a:ext cx="0" cy="0"/>
          <a:chOff x="0" y="0"/>
          <a:chExt cx="0" cy="0"/>
        </a:xfrm>
      </p:grpSpPr>
      <p:sp>
        <p:nvSpPr>
          <p:cNvPr id="606" name="Google Shape;606;p38"/>
          <p:cNvSpPr/>
          <p:nvPr/>
        </p:nvSpPr>
        <p:spPr>
          <a:xfrm rot="-6664043">
            <a:off x="519355" y="-1838608"/>
            <a:ext cx="13624687" cy="13964216"/>
          </a:xfrm>
          <a:custGeom>
            <a:avLst/>
            <a:gdLst/>
            <a:ahLst/>
            <a:cxnLst/>
            <a:rect l="l" t="t" r="r" b="b"/>
            <a:pathLst>
              <a:path w="11511802" h="11511802" extrusionOk="0">
                <a:moveTo>
                  <a:pt x="0" y="0"/>
                </a:moveTo>
                <a:lnTo>
                  <a:pt x="11511802" y="0"/>
                </a:lnTo>
                <a:lnTo>
                  <a:pt x="11511802" y="11511802"/>
                </a:lnTo>
                <a:lnTo>
                  <a:pt x="0" y="11511802"/>
                </a:lnTo>
                <a:lnTo>
                  <a:pt x="0" y="0"/>
                </a:lnTo>
                <a:close/>
              </a:path>
            </a:pathLst>
          </a:custGeom>
          <a:blipFill rotWithShape="1">
            <a:blip r:embed="rId3">
              <a:alphaModFix amt="40000"/>
            </a:blip>
            <a:stretch>
              <a:fillRect/>
            </a:stretch>
          </a:blipFill>
          <a:ln>
            <a:noFill/>
          </a:ln>
        </p:spPr>
      </p:sp>
      <p:sp>
        <p:nvSpPr>
          <p:cNvPr id="607" name="Google Shape;607;p38"/>
          <p:cNvSpPr/>
          <p:nvPr/>
        </p:nvSpPr>
        <p:spPr>
          <a:xfrm rot="1505868">
            <a:off x="4218925" y="2601217"/>
            <a:ext cx="12580534" cy="8680686"/>
          </a:xfrm>
          <a:custGeom>
            <a:avLst/>
            <a:gdLst/>
            <a:ahLst/>
            <a:cxnLst/>
            <a:rect l="l" t="t" r="r" b="b"/>
            <a:pathLst>
              <a:path w="12580534" h="8680686" extrusionOk="0">
                <a:moveTo>
                  <a:pt x="0" y="0"/>
                </a:moveTo>
                <a:lnTo>
                  <a:pt x="12580534" y="0"/>
                </a:lnTo>
                <a:lnTo>
                  <a:pt x="12580534" y="8680686"/>
                </a:lnTo>
                <a:lnTo>
                  <a:pt x="0" y="8680686"/>
                </a:lnTo>
                <a:lnTo>
                  <a:pt x="0" y="0"/>
                </a:lnTo>
                <a:close/>
              </a:path>
            </a:pathLst>
          </a:custGeom>
          <a:blipFill rotWithShape="1">
            <a:blip r:embed="rId4">
              <a:alphaModFix amt="50000"/>
            </a:blip>
            <a:stretch>
              <a:fillRect/>
            </a:stretch>
          </a:blipFill>
          <a:ln>
            <a:noFill/>
          </a:ln>
        </p:spPr>
      </p:sp>
      <p:sp>
        <p:nvSpPr>
          <p:cNvPr id="608" name="Google Shape;608;p38"/>
          <p:cNvSpPr txBox="1"/>
          <p:nvPr/>
        </p:nvSpPr>
        <p:spPr>
          <a:xfrm>
            <a:off x="2971799" y="3238500"/>
            <a:ext cx="14042231" cy="3308278"/>
          </a:xfrm>
          <a:prstGeom prst="rect">
            <a:avLst/>
          </a:prstGeom>
          <a:noFill/>
          <a:ln>
            <a:noFill/>
          </a:ln>
        </p:spPr>
        <p:txBody>
          <a:bodyPr spcFirstLastPara="1" wrap="square" lIns="0" tIns="0" rIns="0" bIns="0" anchor="t" anchorCtr="0">
            <a:spAutoFit/>
          </a:bodyPr>
          <a:lstStyle/>
          <a:p>
            <a:pPr marL="0" marR="0" lvl="0" indent="0" algn="l" rtl="0">
              <a:lnSpc>
                <a:spcPct val="166666"/>
              </a:lnSpc>
              <a:spcBef>
                <a:spcPts val="0"/>
              </a:spcBef>
              <a:spcAft>
                <a:spcPts val="0"/>
              </a:spcAft>
              <a:buNone/>
            </a:pPr>
            <a:r>
              <a:rPr lang="fr-FR" sz="5400" b="1">
                <a:solidFill>
                  <a:srgbClr val="FF0000"/>
                </a:solidFill>
                <a:latin typeface="Montserrat"/>
                <a:ea typeface="Montserrat"/>
                <a:cs typeface="Montserrat"/>
                <a:sym typeface="Montserrat"/>
              </a:rPr>
              <a:t>Phase 5 : Elaboration de tableau de bord pour la visualisation des résultats des Tableau Clients</a:t>
            </a:r>
            <a:endParaRPr sz="5400" b="1">
              <a:solidFill>
                <a:srgbClr val="FF0000"/>
              </a:solidFill>
              <a:latin typeface="Montserrat"/>
              <a:ea typeface="Montserrat"/>
              <a:cs typeface="Montserrat"/>
              <a:sym typeface="Montserrat"/>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4" name="Google Shape;614;p39"/>
          <p:cNvSpPr txBox="1"/>
          <p:nvPr/>
        </p:nvSpPr>
        <p:spPr>
          <a:xfrm>
            <a:off x="3026229" y="319120"/>
            <a:ext cx="12302440" cy="999954"/>
          </a:xfrm>
          <a:prstGeom prst="rect">
            <a:avLst/>
          </a:prstGeom>
          <a:noFill/>
          <a:ln>
            <a:noFill/>
          </a:ln>
        </p:spPr>
        <p:txBody>
          <a:bodyPr spcFirstLastPara="1" wrap="square" lIns="0" tIns="0" rIns="0" bIns="0" anchor="t" anchorCtr="0">
            <a:spAutoFit/>
          </a:bodyPr>
          <a:lstStyle/>
          <a:p>
            <a:pPr marL="0" marR="0" lvl="0" indent="0" algn="l" rtl="0">
              <a:lnSpc>
                <a:spcPct val="166666"/>
              </a:lnSpc>
              <a:spcBef>
                <a:spcPts val="0"/>
              </a:spcBef>
              <a:spcAft>
                <a:spcPts val="0"/>
              </a:spcAft>
              <a:buNone/>
            </a:pPr>
            <a:endParaRPr sz="5400" b="1">
              <a:solidFill>
                <a:srgbClr val="004AAD"/>
              </a:solidFill>
              <a:latin typeface="Montserrat"/>
              <a:ea typeface="Montserrat"/>
              <a:cs typeface="Montserrat"/>
              <a:sym typeface="Montserrat"/>
            </a:endParaRPr>
          </a:p>
        </p:txBody>
      </p:sp>
      <p:sp>
        <p:nvSpPr>
          <p:cNvPr id="615" name="Google Shape;615;p39"/>
          <p:cNvSpPr txBox="1"/>
          <p:nvPr/>
        </p:nvSpPr>
        <p:spPr>
          <a:xfrm>
            <a:off x="1853777" y="260605"/>
            <a:ext cx="14097000" cy="965136"/>
          </a:xfrm>
          <a:prstGeom prst="rect">
            <a:avLst/>
          </a:prstGeom>
          <a:noFill/>
          <a:ln>
            <a:noFill/>
          </a:ln>
        </p:spPr>
        <p:txBody>
          <a:bodyPr spcFirstLastPara="1" wrap="square" lIns="0" tIns="0" rIns="0" bIns="0" anchor="t" anchorCtr="0">
            <a:spAutoFit/>
          </a:bodyPr>
          <a:lstStyle/>
          <a:p>
            <a:pPr marL="0" marR="0" lvl="0" indent="0" algn="ctr" rtl="0">
              <a:lnSpc>
                <a:spcPct val="225000"/>
              </a:lnSpc>
              <a:spcBef>
                <a:spcPts val="0"/>
              </a:spcBef>
              <a:spcAft>
                <a:spcPts val="0"/>
              </a:spcAft>
              <a:buNone/>
            </a:pPr>
            <a:r>
              <a:rPr lang="fr-FR" sz="4000" b="1">
                <a:solidFill>
                  <a:srgbClr val="004AAD"/>
                </a:solidFill>
                <a:latin typeface="Montserrat"/>
                <a:ea typeface="Montserrat"/>
                <a:cs typeface="Montserrat"/>
                <a:sym typeface="Montserrat"/>
              </a:rPr>
              <a:t>Processus de l’Elaboration de Tableau de bord </a:t>
            </a:r>
            <a:endParaRPr sz="4000" b="1">
              <a:solidFill>
                <a:srgbClr val="004AAD"/>
              </a:solidFill>
              <a:latin typeface="Montserrat"/>
              <a:ea typeface="Montserrat"/>
              <a:cs typeface="Montserrat"/>
              <a:sym typeface="Montserrat"/>
            </a:endParaRPr>
          </a:p>
        </p:txBody>
      </p:sp>
      <p:sp>
        <p:nvSpPr>
          <p:cNvPr id="616" name="Google Shape;616;p39"/>
          <p:cNvSpPr/>
          <p:nvPr/>
        </p:nvSpPr>
        <p:spPr>
          <a:xfrm>
            <a:off x="174531" y="4287356"/>
            <a:ext cx="2565823" cy="1200328"/>
          </a:xfrm>
          <a:prstGeom prst="roundRect">
            <a:avLst>
              <a:gd name="adj" fmla="val 16667"/>
            </a:avLst>
          </a:prstGeom>
          <a:solidFill>
            <a:srgbClr val="00B0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Conception de Tableau de bord </a:t>
            </a:r>
            <a:endParaRPr/>
          </a:p>
        </p:txBody>
      </p:sp>
      <p:sp>
        <p:nvSpPr>
          <p:cNvPr id="617" name="Google Shape;617;p39"/>
          <p:cNvSpPr/>
          <p:nvPr/>
        </p:nvSpPr>
        <p:spPr>
          <a:xfrm>
            <a:off x="8686800" y="4229100"/>
            <a:ext cx="4216612" cy="1185539"/>
          </a:xfrm>
          <a:prstGeom prst="roundRect">
            <a:avLst>
              <a:gd name="adj" fmla="val 16667"/>
            </a:avLst>
          </a:prstGeom>
          <a:solidFill>
            <a:srgbClr val="00B0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Télécharger les données </a:t>
            </a:r>
            <a:endParaRPr/>
          </a:p>
        </p:txBody>
      </p:sp>
      <p:sp>
        <p:nvSpPr>
          <p:cNvPr id="618" name="Google Shape;618;p39"/>
          <p:cNvSpPr/>
          <p:nvPr/>
        </p:nvSpPr>
        <p:spPr>
          <a:xfrm>
            <a:off x="3605271" y="4075822"/>
            <a:ext cx="4216612" cy="1492093"/>
          </a:xfrm>
          <a:prstGeom prst="roundRect">
            <a:avLst>
              <a:gd name="adj" fmla="val 16667"/>
            </a:avLst>
          </a:prstGeom>
          <a:solidFill>
            <a:srgbClr val="00B0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Configuration de la Connexion entre SQL server Avec Power BI </a:t>
            </a:r>
            <a:endParaRPr/>
          </a:p>
        </p:txBody>
      </p:sp>
      <p:sp>
        <p:nvSpPr>
          <p:cNvPr id="619" name="Google Shape;619;p39"/>
          <p:cNvSpPr/>
          <p:nvPr/>
        </p:nvSpPr>
        <p:spPr>
          <a:xfrm rot="-5400000">
            <a:off x="2868013" y="4580197"/>
            <a:ext cx="609600" cy="483345"/>
          </a:xfrm>
          <a:prstGeom prst="down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0" name="Google Shape;620;p39"/>
          <p:cNvSpPr/>
          <p:nvPr/>
        </p:nvSpPr>
        <p:spPr>
          <a:xfrm>
            <a:off x="13748579" y="4075821"/>
            <a:ext cx="4216612" cy="1492093"/>
          </a:xfrm>
          <a:prstGeom prst="roundRect">
            <a:avLst>
              <a:gd name="adj" fmla="val 16667"/>
            </a:avLst>
          </a:prstGeom>
          <a:solidFill>
            <a:srgbClr val="00B0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Création des ‘measure’</a:t>
            </a:r>
            <a:endParaRPr/>
          </a:p>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Pourcentage, Moyenne, Somme </a:t>
            </a:r>
            <a:endParaRPr/>
          </a:p>
        </p:txBody>
      </p:sp>
      <p:sp>
        <p:nvSpPr>
          <p:cNvPr id="621" name="Google Shape;621;p39"/>
          <p:cNvSpPr/>
          <p:nvPr/>
        </p:nvSpPr>
        <p:spPr>
          <a:xfrm rot="-5400000">
            <a:off x="7949542" y="4580197"/>
            <a:ext cx="609600" cy="483345"/>
          </a:xfrm>
          <a:prstGeom prst="down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2" name="Google Shape;622;p39"/>
          <p:cNvSpPr/>
          <p:nvPr/>
        </p:nvSpPr>
        <p:spPr>
          <a:xfrm rot="-5400000">
            <a:off x="13031071" y="4580197"/>
            <a:ext cx="609600" cy="483345"/>
          </a:xfrm>
          <a:prstGeom prst="down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3" name="Google Shape;623;p39"/>
          <p:cNvSpPr/>
          <p:nvPr/>
        </p:nvSpPr>
        <p:spPr>
          <a:xfrm>
            <a:off x="13768332" y="6617649"/>
            <a:ext cx="4216612" cy="1492093"/>
          </a:xfrm>
          <a:prstGeom prst="roundRect">
            <a:avLst>
              <a:gd name="adj" fmla="val 16667"/>
            </a:avLst>
          </a:prstGeom>
          <a:solidFill>
            <a:srgbClr val="00B0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400" b="1">
                <a:solidFill>
                  <a:schemeClr val="lt1"/>
                </a:solidFill>
                <a:latin typeface="Montserrat"/>
                <a:ea typeface="Montserrat"/>
                <a:cs typeface="Montserrat"/>
                <a:sym typeface="Montserrat"/>
              </a:rPr>
              <a:t>Assignation des données aux graphiques en vue de leur visualisation</a:t>
            </a:r>
            <a:endParaRPr/>
          </a:p>
        </p:txBody>
      </p:sp>
      <p:sp>
        <p:nvSpPr>
          <p:cNvPr id="624" name="Google Shape;624;p39"/>
          <p:cNvSpPr/>
          <p:nvPr/>
        </p:nvSpPr>
        <p:spPr>
          <a:xfrm>
            <a:off x="15552085" y="5851109"/>
            <a:ext cx="609600" cy="483345"/>
          </a:xfrm>
          <a:prstGeom prst="down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29"/>
        <p:cNvGrpSpPr/>
        <p:nvPr/>
      </p:nvGrpSpPr>
      <p:grpSpPr>
        <a:xfrm>
          <a:off x="0" y="0"/>
          <a:ext cx="0" cy="0"/>
          <a:chOff x="0" y="0"/>
          <a:chExt cx="0" cy="0"/>
        </a:xfrm>
      </p:grpSpPr>
      <p:sp>
        <p:nvSpPr>
          <p:cNvPr id="630" name="Google Shape;630;p40"/>
          <p:cNvSpPr txBox="1"/>
          <p:nvPr/>
        </p:nvSpPr>
        <p:spPr>
          <a:xfrm>
            <a:off x="3026229" y="319120"/>
            <a:ext cx="12302440" cy="999954"/>
          </a:xfrm>
          <a:prstGeom prst="rect">
            <a:avLst/>
          </a:prstGeom>
          <a:noFill/>
          <a:ln>
            <a:noFill/>
          </a:ln>
        </p:spPr>
        <p:txBody>
          <a:bodyPr spcFirstLastPara="1" wrap="square" lIns="0" tIns="0" rIns="0" bIns="0" anchor="t" anchorCtr="0">
            <a:spAutoFit/>
          </a:bodyPr>
          <a:lstStyle/>
          <a:p>
            <a:pPr marL="0" marR="0" lvl="0" indent="0" algn="l" rtl="0">
              <a:lnSpc>
                <a:spcPct val="166666"/>
              </a:lnSpc>
              <a:spcBef>
                <a:spcPts val="0"/>
              </a:spcBef>
              <a:spcAft>
                <a:spcPts val="0"/>
              </a:spcAft>
              <a:buNone/>
            </a:pPr>
            <a:endParaRPr sz="5400" b="1">
              <a:solidFill>
                <a:srgbClr val="004AAD"/>
              </a:solidFill>
              <a:latin typeface="Montserrat"/>
              <a:ea typeface="Montserrat"/>
              <a:cs typeface="Montserrat"/>
              <a:sym typeface="Montserrat"/>
            </a:endParaRPr>
          </a:p>
        </p:txBody>
      </p:sp>
      <p:sp>
        <p:nvSpPr>
          <p:cNvPr id="631" name="Google Shape;631;p40"/>
          <p:cNvSpPr txBox="1"/>
          <p:nvPr/>
        </p:nvSpPr>
        <p:spPr>
          <a:xfrm>
            <a:off x="1853777" y="260605"/>
            <a:ext cx="14097000" cy="965136"/>
          </a:xfrm>
          <a:prstGeom prst="rect">
            <a:avLst/>
          </a:prstGeom>
          <a:noFill/>
          <a:ln>
            <a:noFill/>
          </a:ln>
        </p:spPr>
        <p:txBody>
          <a:bodyPr spcFirstLastPara="1" wrap="square" lIns="0" tIns="0" rIns="0" bIns="0" anchor="t" anchorCtr="0">
            <a:spAutoFit/>
          </a:bodyPr>
          <a:lstStyle/>
          <a:p>
            <a:pPr marL="0" marR="0" lvl="0" indent="0" algn="ctr" rtl="0">
              <a:lnSpc>
                <a:spcPct val="225000"/>
              </a:lnSpc>
              <a:spcBef>
                <a:spcPts val="0"/>
              </a:spcBef>
              <a:spcAft>
                <a:spcPts val="0"/>
              </a:spcAft>
              <a:buNone/>
            </a:pPr>
            <a:r>
              <a:rPr lang="fr-FR" sz="4000" b="1">
                <a:solidFill>
                  <a:srgbClr val="004AAD"/>
                </a:solidFill>
                <a:latin typeface="Montserrat"/>
                <a:ea typeface="Montserrat"/>
                <a:cs typeface="Montserrat"/>
                <a:sym typeface="Montserrat"/>
              </a:rPr>
              <a:t>Visualisation du temps du cycle de production    </a:t>
            </a:r>
            <a:endParaRPr sz="4000" b="1">
              <a:solidFill>
                <a:srgbClr val="004AAD"/>
              </a:solidFill>
              <a:latin typeface="Montserrat"/>
              <a:ea typeface="Montserrat"/>
              <a:cs typeface="Montserrat"/>
              <a:sym typeface="Montserrat"/>
            </a:endParaRPr>
          </a:p>
        </p:txBody>
      </p:sp>
      <p:pic>
        <p:nvPicPr>
          <p:cNvPr id="632" name="Google Shape;632;p40"/>
          <p:cNvPicPr preferRelativeResize="0"/>
          <p:nvPr/>
        </p:nvPicPr>
        <p:blipFill rotWithShape="1">
          <a:blip r:embed="rId3">
            <a:alphaModFix/>
          </a:blip>
          <a:srcRect/>
          <a:stretch/>
        </p:blipFill>
        <p:spPr>
          <a:xfrm>
            <a:off x="1590937" y="1943100"/>
            <a:ext cx="14338069" cy="74676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37"/>
        <p:cNvGrpSpPr/>
        <p:nvPr/>
      </p:nvGrpSpPr>
      <p:grpSpPr>
        <a:xfrm>
          <a:off x="0" y="0"/>
          <a:ext cx="0" cy="0"/>
          <a:chOff x="0" y="0"/>
          <a:chExt cx="0" cy="0"/>
        </a:xfrm>
      </p:grpSpPr>
      <p:sp>
        <p:nvSpPr>
          <p:cNvPr id="638" name="Google Shape;638;p41"/>
          <p:cNvSpPr txBox="1"/>
          <p:nvPr/>
        </p:nvSpPr>
        <p:spPr>
          <a:xfrm>
            <a:off x="3026229" y="319120"/>
            <a:ext cx="12302440" cy="999954"/>
          </a:xfrm>
          <a:prstGeom prst="rect">
            <a:avLst/>
          </a:prstGeom>
          <a:noFill/>
          <a:ln>
            <a:noFill/>
          </a:ln>
        </p:spPr>
        <p:txBody>
          <a:bodyPr spcFirstLastPara="1" wrap="square" lIns="0" tIns="0" rIns="0" bIns="0" anchor="t" anchorCtr="0">
            <a:spAutoFit/>
          </a:bodyPr>
          <a:lstStyle/>
          <a:p>
            <a:pPr marL="0" marR="0" lvl="0" indent="0" algn="l" rtl="0">
              <a:lnSpc>
                <a:spcPct val="166666"/>
              </a:lnSpc>
              <a:spcBef>
                <a:spcPts val="0"/>
              </a:spcBef>
              <a:spcAft>
                <a:spcPts val="0"/>
              </a:spcAft>
              <a:buNone/>
            </a:pPr>
            <a:endParaRPr sz="5400" b="1">
              <a:solidFill>
                <a:srgbClr val="004AAD"/>
              </a:solidFill>
              <a:latin typeface="Montserrat"/>
              <a:ea typeface="Montserrat"/>
              <a:cs typeface="Montserrat"/>
              <a:sym typeface="Montserrat"/>
            </a:endParaRPr>
          </a:p>
        </p:txBody>
      </p:sp>
      <p:sp>
        <p:nvSpPr>
          <p:cNvPr id="639" name="Google Shape;639;p41"/>
          <p:cNvSpPr txBox="1"/>
          <p:nvPr/>
        </p:nvSpPr>
        <p:spPr>
          <a:xfrm>
            <a:off x="1853777" y="260605"/>
            <a:ext cx="14097000" cy="965136"/>
          </a:xfrm>
          <a:prstGeom prst="rect">
            <a:avLst/>
          </a:prstGeom>
          <a:noFill/>
          <a:ln>
            <a:noFill/>
          </a:ln>
        </p:spPr>
        <p:txBody>
          <a:bodyPr spcFirstLastPara="1" wrap="square" lIns="0" tIns="0" rIns="0" bIns="0" anchor="t" anchorCtr="0">
            <a:spAutoFit/>
          </a:bodyPr>
          <a:lstStyle/>
          <a:p>
            <a:pPr marL="0" marR="0" lvl="0" indent="0" algn="ctr" rtl="0">
              <a:lnSpc>
                <a:spcPct val="225000"/>
              </a:lnSpc>
              <a:spcBef>
                <a:spcPts val="0"/>
              </a:spcBef>
              <a:spcAft>
                <a:spcPts val="0"/>
              </a:spcAft>
              <a:buNone/>
            </a:pPr>
            <a:r>
              <a:rPr lang="fr-FR" sz="4000" b="1">
                <a:solidFill>
                  <a:srgbClr val="004AAD"/>
                </a:solidFill>
                <a:latin typeface="Montserrat"/>
                <a:ea typeface="Montserrat"/>
                <a:cs typeface="Montserrat"/>
                <a:sym typeface="Montserrat"/>
              </a:rPr>
              <a:t>Visualisation du KPIs de Maintenance   </a:t>
            </a:r>
            <a:endParaRPr sz="4000" b="1">
              <a:solidFill>
                <a:srgbClr val="004AAD"/>
              </a:solidFill>
              <a:latin typeface="Montserrat"/>
              <a:ea typeface="Montserrat"/>
              <a:cs typeface="Montserrat"/>
              <a:sym typeface="Montserrat"/>
            </a:endParaRPr>
          </a:p>
        </p:txBody>
      </p:sp>
      <p:pic>
        <p:nvPicPr>
          <p:cNvPr id="640" name="Google Shape;640;p41"/>
          <p:cNvPicPr preferRelativeResize="0"/>
          <p:nvPr/>
        </p:nvPicPr>
        <p:blipFill rotWithShape="1">
          <a:blip r:embed="rId3">
            <a:alphaModFix/>
          </a:blip>
          <a:srcRect/>
          <a:stretch/>
        </p:blipFill>
        <p:spPr>
          <a:xfrm>
            <a:off x="2254574" y="1943100"/>
            <a:ext cx="13283384" cy="73914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42"/>
          <p:cNvSpPr txBox="1"/>
          <p:nvPr/>
        </p:nvSpPr>
        <p:spPr>
          <a:xfrm>
            <a:off x="3026229" y="319120"/>
            <a:ext cx="12302440" cy="999954"/>
          </a:xfrm>
          <a:prstGeom prst="rect">
            <a:avLst/>
          </a:prstGeom>
          <a:noFill/>
          <a:ln>
            <a:noFill/>
          </a:ln>
        </p:spPr>
        <p:txBody>
          <a:bodyPr spcFirstLastPara="1" wrap="square" lIns="0" tIns="0" rIns="0" bIns="0" anchor="t" anchorCtr="0">
            <a:spAutoFit/>
          </a:bodyPr>
          <a:lstStyle/>
          <a:p>
            <a:pPr marL="0" marR="0" lvl="0" indent="0" algn="l" rtl="0">
              <a:lnSpc>
                <a:spcPct val="166666"/>
              </a:lnSpc>
              <a:spcBef>
                <a:spcPts val="0"/>
              </a:spcBef>
              <a:spcAft>
                <a:spcPts val="0"/>
              </a:spcAft>
              <a:buNone/>
            </a:pPr>
            <a:endParaRPr sz="5400" b="1">
              <a:solidFill>
                <a:srgbClr val="004AAD"/>
              </a:solidFill>
              <a:latin typeface="Montserrat"/>
              <a:ea typeface="Montserrat"/>
              <a:cs typeface="Montserrat"/>
              <a:sym typeface="Montserrat"/>
            </a:endParaRPr>
          </a:p>
        </p:txBody>
      </p:sp>
      <p:sp>
        <p:nvSpPr>
          <p:cNvPr id="647" name="Google Shape;647;p42"/>
          <p:cNvSpPr txBox="1"/>
          <p:nvPr/>
        </p:nvSpPr>
        <p:spPr>
          <a:xfrm>
            <a:off x="1853777" y="260605"/>
            <a:ext cx="14097000" cy="965136"/>
          </a:xfrm>
          <a:prstGeom prst="rect">
            <a:avLst/>
          </a:prstGeom>
          <a:noFill/>
          <a:ln>
            <a:noFill/>
          </a:ln>
        </p:spPr>
        <p:txBody>
          <a:bodyPr spcFirstLastPara="1" wrap="square" lIns="0" tIns="0" rIns="0" bIns="0" anchor="t" anchorCtr="0">
            <a:spAutoFit/>
          </a:bodyPr>
          <a:lstStyle/>
          <a:p>
            <a:pPr marL="0" marR="0" lvl="0" indent="0" algn="ctr" rtl="0">
              <a:lnSpc>
                <a:spcPct val="225000"/>
              </a:lnSpc>
              <a:spcBef>
                <a:spcPts val="0"/>
              </a:spcBef>
              <a:spcAft>
                <a:spcPts val="0"/>
              </a:spcAft>
              <a:buNone/>
            </a:pPr>
            <a:r>
              <a:rPr lang="fr-FR" sz="4000" b="1">
                <a:solidFill>
                  <a:srgbClr val="004AAD"/>
                </a:solidFill>
                <a:latin typeface="Montserrat"/>
                <a:ea typeface="Montserrat"/>
                <a:cs typeface="Montserrat"/>
                <a:sym typeface="Montserrat"/>
              </a:rPr>
              <a:t>Visualisation du KPIs de production  </a:t>
            </a:r>
            <a:endParaRPr sz="4000" b="1">
              <a:solidFill>
                <a:srgbClr val="004AAD"/>
              </a:solidFill>
              <a:latin typeface="Montserrat"/>
              <a:ea typeface="Montserrat"/>
              <a:cs typeface="Montserrat"/>
              <a:sym typeface="Montserrat"/>
            </a:endParaRPr>
          </a:p>
        </p:txBody>
      </p:sp>
      <p:pic>
        <p:nvPicPr>
          <p:cNvPr id="648" name="Google Shape;648;p42"/>
          <p:cNvPicPr preferRelativeResize="0"/>
          <p:nvPr/>
        </p:nvPicPr>
        <p:blipFill rotWithShape="1">
          <a:blip r:embed="rId3">
            <a:alphaModFix/>
          </a:blip>
          <a:srcRect/>
          <a:stretch/>
        </p:blipFill>
        <p:spPr>
          <a:xfrm>
            <a:off x="2882582" y="1790700"/>
            <a:ext cx="12522835" cy="7003257"/>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53"/>
        <p:cNvGrpSpPr/>
        <p:nvPr/>
      </p:nvGrpSpPr>
      <p:grpSpPr>
        <a:xfrm>
          <a:off x="0" y="0"/>
          <a:ext cx="0" cy="0"/>
          <a:chOff x="0" y="0"/>
          <a:chExt cx="0" cy="0"/>
        </a:xfrm>
      </p:grpSpPr>
      <p:sp>
        <p:nvSpPr>
          <p:cNvPr id="654" name="Google Shape;654;p43"/>
          <p:cNvSpPr txBox="1"/>
          <p:nvPr/>
        </p:nvSpPr>
        <p:spPr>
          <a:xfrm>
            <a:off x="3026229" y="319120"/>
            <a:ext cx="12302440" cy="999954"/>
          </a:xfrm>
          <a:prstGeom prst="rect">
            <a:avLst/>
          </a:prstGeom>
          <a:noFill/>
          <a:ln>
            <a:noFill/>
          </a:ln>
        </p:spPr>
        <p:txBody>
          <a:bodyPr spcFirstLastPara="1" wrap="square" lIns="0" tIns="0" rIns="0" bIns="0" anchor="t" anchorCtr="0">
            <a:spAutoFit/>
          </a:bodyPr>
          <a:lstStyle/>
          <a:p>
            <a:pPr marL="0" marR="0" lvl="0" indent="0" algn="l" rtl="0">
              <a:lnSpc>
                <a:spcPct val="166666"/>
              </a:lnSpc>
              <a:spcBef>
                <a:spcPts val="0"/>
              </a:spcBef>
              <a:spcAft>
                <a:spcPts val="0"/>
              </a:spcAft>
              <a:buNone/>
            </a:pPr>
            <a:endParaRPr sz="5400" b="1">
              <a:solidFill>
                <a:srgbClr val="004AAD"/>
              </a:solidFill>
              <a:latin typeface="Montserrat"/>
              <a:ea typeface="Montserrat"/>
              <a:cs typeface="Montserrat"/>
              <a:sym typeface="Montserrat"/>
            </a:endParaRPr>
          </a:p>
        </p:txBody>
      </p:sp>
      <p:sp>
        <p:nvSpPr>
          <p:cNvPr id="655" name="Google Shape;655;p43"/>
          <p:cNvSpPr txBox="1"/>
          <p:nvPr/>
        </p:nvSpPr>
        <p:spPr>
          <a:xfrm>
            <a:off x="1853777" y="260605"/>
            <a:ext cx="14097000" cy="965136"/>
          </a:xfrm>
          <a:prstGeom prst="rect">
            <a:avLst/>
          </a:prstGeom>
          <a:noFill/>
          <a:ln>
            <a:noFill/>
          </a:ln>
        </p:spPr>
        <p:txBody>
          <a:bodyPr spcFirstLastPara="1" wrap="square" lIns="0" tIns="0" rIns="0" bIns="0" anchor="t" anchorCtr="0">
            <a:spAutoFit/>
          </a:bodyPr>
          <a:lstStyle/>
          <a:p>
            <a:pPr marL="0" marR="0" lvl="0" indent="0" algn="ctr" rtl="0">
              <a:lnSpc>
                <a:spcPct val="225000"/>
              </a:lnSpc>
              <a:spcBef>
                <a:spcPts val="0"/>
              </a:spcBef>
              <a:spcAft>
                <a:spcPts val="0"/>
              </a:spcAft>
              <a:buNone/>
            </a:pPr>
            <a:r>
              <a:rPr lang="fr-FR" sz="4000" b="1">
                <a:solidFill>
                  <a:srgbClr val="004AAD"/>
                </a:solidFill>
                <a:latin typeface="Montserrat"/>
                <a:ea typeface="Montserrat"/>
                <a:cs typeface="Montserrat"/>
                <a:sym typeface="Montserrat"/>
              </a:rPr>
              <a:t>Visualisation du diagramme de Pareto 2080  </a:t>
            </a:r>
            <a:endParaRPr sz="4000" b="1">
              <a:solidFill>
                <a:srgbClr val="004AAD"/>
              </a:solidFill>
              <a:latin typeface="Montserrat"/>
              <a:ea typeface="Montserrat"/>
              <a:cs typeface="Montserrat"/>
              <a:sym typeface="Montserrat"/>
            </a:endParaRPr>
          </a:p>
        </p:txBody>
      </p:sp>
      <p:pic>
        <p:nvPicPr>
          <p:cNvPr id="656" name="Google Shape;656;p43"/>
          <p:cNvPicPr preferRelativeResize="0"/>
          <p:nvPr/>
        </p:nvPicPr>
        <p:blipFill rotWithShape="1">
          <a:blip r:embed="rId3">
            <a:alphaModFix/>
          </a:blip>
          <a:srcRect/>
          <a:stretch/>
        </p:blipFill>
        <p:spPr>
          <a:xfrm>
            <a:off x="1853777" y="1638300"/>
            <a:ext cx="14580444" cy="80772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44"/>
          <p:cNvSpPr txBox="1"/>
          <p:nvPr/>
        </p:nvSpPr>
        <p:spPr>
          <a:xfrm>
            <a:off x="3026229" y="319120"/>
            <a:ext cx="12302440" cy="999954"/>
          </a:xfrm>
          <a:prstGeom prst="rect">
            <a:avLst/>
          </a:prstGeom>
          <a:noFill/>
          <a:ln>
            <a:noFill/>
          </a:ln>
        </p:spPr>
        <p:txBody>
          <a:bodyPr spcFirstLastPara="1" wrap="square" lIns="0" tIns="0" rIns="0" bIns="0" anchor="t" anchorCtr="0">
            <a:spAutoFit/>
          </a:bodyPr>
          <a:lstStyle/>
          <a:p>
            <a:pPr marL="0" marR="0" lvl="0" indent="0" algn="l" rtl="0">
              <a:lnSpc>
                <a:spcPct val="166666"/>
              </a:lnSpc>
              <a:spcBef>
                <a:spcPts val="0"/>
              </a:spcBef>
              <a:spcAft>
                <a:spcPts val="0"/>
              </a:spcAft>
              <a:buNone/>
            </a:pPr>
            <a:endParaRPr sz="5400" b="1">
              <a:solidFill>
                <a:srgbClr val="004AAD"/>
              </a:solidFill>
              <a:latin typeface="Montserrat"/>
              <a:ea typeface="Montserrat"/>
              <a:cs typeface="Montserrat"/>
              <a:sym typeface="Montserrat"/>
            </a:endParaRPr>
          </a:p>
        </p:txBody>
      </p:sp>
      <p:sp>
        <p:nvSpPr>
          <p:cNvPr id="663" name="Google Shape;663;p44"/>
          <p:cNvSpPr txBox="1"/>
          <p:nvPr/>
        </p:nvSpPr>
        <p:spPr>
          <a:xfrm>
            <a:off x="1853777" y="260605"/>
            <a:ext cx="14097000" cy="965136"/>
          </a:xfrm>
          <a:prstGeom prst="rect">
            <a:avLst/>
          </a:prstGeom>
          <a:noFill/>
          <a:ln>
            <a:noFill/>
          </a:ln>
        </p:spPr>
        <p:txBody>
          <a:bodyPr spcFirstLastPara="1" wrap="square" lIns="0" tIns="0" rIns="0" bIns="0" anchor="t" anchorCtr="0">
            <a:spAutoFit/>
          </a:bodyPr>
          <a:lstStyle/>
          <a:p>
            <a:pPr marL="0" marR="0" lvl="0" indent="0" algn="ctr" rtl="0">
              <a:lnSpc>
                <a:spcPct val="225000"/>
              </a:lnSpc>
              <a:spcBef>
                <a:spcPts val="0"/>
              </a:spcBef>
              <a:spcAft>
                <a:spcPts val="0"/>
              </a:spcAft>
              <a:buNone/>
            </a:pPr>
            <a:r>
              <a:rPr lang="fr-FR" sz="4000" b="1">
                <a:solidFill>
                  <a:srgbClr val="004AAD"/>
                </a:solidFill>
                <a:latin typeface="Montserrat"/>
                <a:ea typeface="Montserrat"/>
                <a:cs typeface="Montserrat"/>
                <a:sym typeface="Montserrat"/>
              </a:rPr>
              <a:t>Visualisation du Qualité et Quantité de production  </a:t>
            </a:r>
            <a:endParaRPr sz="4000" b="1">
              <a:solidFill>
                <a:srgbClr val="004AAD"/>
              </a:solidFill>
              <a:latin typeface="Montserrat"/>
              <a:ea typeface="Montserrat"/>
              <a:cs typeface="Montserrat"/>
              <a:sym typeface="Montserrat"/>
            </a:endParaRPr>
          </a:p>
        </p:txBody>
      </p:sp>
      <p:pic>
        <p:nvPicPr>
          <p:cNvPr id="664" name="Google Shape;664;p44"/>
          <p:cNvPicPr preferRelativeResize="0"/>
          <p:nvPr/>
        </p:nvPicPr>
        <p:blipFill rotWithShape="1">
          <a:blip r:embed="rId3">
            <a:alphaModFix/>
          </a:blip>
          <a:srcRect/>
          <a:stretch/>
        </p:blipFill>
        <p:spPr>
          <a:xfrm>
            <a:off x="1842891" y="1415689"/>
            <a:ext cx="14580446" cy="8229602"/>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69"/>
        <p:cNvGrpSpPr/>
        <p:nvPr/>
      </p:nvGrpSpPr>
      <p:grpSpPr>
        <a:xfrm>
          <a:off x="0" y="0"/>
          <a:ext cx="0" cy="0"/>
          <a:chOff x="0" y="0"/>
          <a:chExt cx="0" cy="0"/>
        </a:xfrm>
      </p:grpSpPr>
      <p:sp>
        <p:nvSpPr>
          <p:cNvPr id="670" name="Google Shape;670;p45"/>
          <p:cNvSpPr/>
          <p:nvPr/>
        </p:nvSpPr>
        <p:spPr>
          <a:xfrm rot="-6664043">
            <a:off x="519355" y="-1838608"/>
            <a:ext cx="13624687" cy="13964216"/>
          </a:xfrm>
          <a:custGeom>
            <a:avLst/>
            <a:gdLst/>
            <a:ahLst/>
            <a:cxnLst/>
            <a:rect l="l" t="t" r="r" b="b"/>
            <a:pathLst>
              <a:path w="11511802" h="11511802" extrusionOk="0">
                <a:moveTo>
                  <a:pt x="0" y="0"/>
                </a:moveTo>
                <a:lnTo>
                  <a:pt x="11511802" y="0"/>
                </a:lnTo>
                <a:lnTo>
                  <a:pt x="11511802" y="11511802"/>
                </a:lnTo>
                <a:lnTo>
                  <a:pt x="0" y="11511802"/>
                </a:lnTo>
                <a:lnTo>
                  <a:pt x="0" y="0"/>
                </a:lnTo>
                <a:close/>
              </a:path>
            </a:pathLst>
          </a:custGeom>
          <a:blipFill rotWithShape="1">
            <a:blip r:embed="rId3">
              <a:alphaModFix amt="40000"/>
            </a:blip>
            <a:stretch>
              <a:fillRect/>
            </a:stretch>
          </a:blipFill>
          <a:ln>
            <a:noFill/>
          </a:ln>
        </p:spPr>
      </p:sp>
      <p:sp>
        <p:nvSpPr>
          <p:cNvPr id="671" name="Google Shape;671;p45"/>
          <p:cNvSpPr/>
          <p:nvPr/>
        </p:nvSpPr>
        <p:spPr>
          <a:xfrm rot="1505868">
            <a:off x="4218925" y="2601217"/>
            <a:ext cx="12580534" cy="8680686"/>
          </a:xfrm>
          <a:custGeom>
            <a:avLst/>
            <a:gdLst/>
            <a:ahLst/>
            <a:cxnLst/>
            <a:rect l="l" t="t" r="r" b="b"/>
            <a:pathLst>
              <a:path w="12580534" h="8680686" extrusionOk="0">
                <a:moveTo>
                  <a:pt x="0" y="0"/>
                </a:moveTo>
                <a:lnTo>
                  <a:pt x="12580534" y="0"/>
                </a:lnTo>
                <a:lnTo>
                  <a:pt x="12580534" y="8680686"/>
                </a:lnTo>
                <a:lnTo>
                  <a:pt x="0" y="8680686"/>
                </a:lnTo>
                <a:lnTo>
                  <a:pt x="0" y="0"/>
                </a:lnTo>
                <a:close/>
              </a:path>
            </a:pathLst>
          </a:custGeom>
          <a:blipFill rotWithShape="1">
            <a:blip r:embed="rId4">
              <a:alphaModFix amt="50000"/>
            </a:blip>
            <a:stretch>
              <a:fillRect/>
            </a:stretch>
          </a:blipFill>
          <a:ln>
            <a:noFill/>
          </a:ln>
        </p:spPr>
      </p:sp>
      <p:sp>
        <p:nvSpPr>
          <p:cNvPr id="672" name="Google Shape;672;p45"/>
          <p:cNvSpPr txBox="1"/>
          <p:nvPr/>
        </p:nvSpPr>
        <p:spPr>
          <a:xfrm>
            <a:off x="2971799" y="3238500"/>
            <a:ext cx="14042231" cy="2154116"/>
          </a:xfrm>
          <a:prstGeom prst="rect">
            <a:avLst/>
          </a:prstGeom>
          <a:noFill/>
          <a:ln>
            <a:noFill/>
          </a:ln>
        </p:spPr>
        <p:txBody>
          <a:bodyPr spcFirstLastPara="1" wrap="square" lIns="0" tIns="0" rIns="0" bIns="0" anchor="t" anchorCtr="0">
            <a:spAutoFit/>
          </a:bodyPr>
          <a:lstStyle/>
          <a:p>
            <a:pPr marL="0" marR="0" lvl="0" indent="0" algn="l" rtl="0">
              <a:lnSpc>
                <a:spcPct val="166666"/>
              </a:lnSpc>
              <a:spcBef>
                <a:spcPts val="0"/>
              </a:spcBef>
              <a:spcAft>
                <a:spcPts val="0"/>
              </a:spcAft>
              <a:buNone/>
            </a:pPr>
            <a:r>
              <a:rPr lang="fr-FR" sz="5400" b="1">
                <a:solidFill>
                  <a:srgbClr val="FF0000"/>
                </a:solidFill>
                <a:latin typeface="Montserrat"/>
                <a:ea typeface="Montserrat"/>
                <a:cs typeface="Montserrat"/>
                <a:sym typeface="Montserrat"/>
              </a:rPr>
              <a:t>Les aspects proposés pour l'amélioration future de ce projet</a:t>
            </a:r>
            <a:endParaRPr sz="5400" b="1">
              <a:solidFill>
                <a:srgbClr val="FF0000"/>
              </a:solidFill>
              <a:latin typeface="Montserrat"/>
              <a:ea typeface="Montserrat"/>
              <a:cs typeface="Montserrat"/>
              <a:sym typeface="Montserrat"/>
            </a:endParaRPr>
          </a:p>
        </p:txBody>
      </p:sp>
      <p:sp>
        <p:nvSpPr>
          <p:cNvPr id="673" name="Google Shape;673;p45"/>
          <p:cNvSpPr txBox="1"/>
          <p:nvPr/>
        </p:nvSpPr>
        <p:spPr>
          <a:xfrm>
            <a:off x="3243773" y="5905500"/>
            <a:ext cx="13411200" cy="13234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4000" b="1">
                <a:solidFill>
                  <a:srgbClr val="004AAD"/>
                </a:solidFill>
                <a:latin typeface="Montserrat"/>
                <a:ea typeface="Montserrat"/>
                <a:cs typeface="Montserrat"/>
                <a:sym typeface="Montserrat"/>
              </a:rPr>
              <a:t>Mise en place d'un système de traçabilité des données en temps réel de la ligne</a:t>
            </a:r>
            <a:endParaRPr sz="4000" b="1">
              <a:solidFill>
                <a:srgbClr val="004AAD"/>
              </a:solidFill>
              <a:latin typeface="Montserrat"/>
              <a:ea typeface="Montserrat"/>
              <a:cs typeface="Montserrat"/>
              <a:sym typeface="Montserrat"/>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78"/>
        <p:cNvGrpSpPr/>
        <p:nvPr/>
      </p:nvGrpSpPr>
      <p:grpSpPr>
        <a:xfrm>
          <a:off x="0" y="0"/>
          <a:ext cx="0" cy="0"/>
          <a:chOff x="0" y="0"/>
          <a:chExt cx="0" cy="0"/>
        </a:xfrm>
      </p:grpSpPr>
      <p:sp>
        <p:nvSpPr>
          <p:cNvPr id="679" name="Google Shape;679;p46"/>
          <p:cNvSpPr txBox="1"/>
          <p:nvPr/>
        </p:nvSpPr>
        <p:spPr>
          <a:xfrm>
            <a:off x="3026229" y="319120"/>
            <a:ext cx="12302440" cy="999954"/>
          </a:xfrm>
          <a:prstGeom prst="rect">
            <a:avLst/>
          </a:prstGeom>
          <a:noFill/>
          <a:ln>
            <a:noFill/>
          </a:ln>
        </p:spPr>
        <p:txBody>
          <a:bodyPr spcFirstLastPara="1" wrap="square" lIns="0" tIns="0" rIns="0" bIns="0" anchor="t" anchorCtr="0">
            <a:spAutoFit/>
          </a:bodyPr>
          <a:lstStyle/>
          <a:p>
            <a:pPr marL="0" marR="0" lvl="0" indent="0" algn="l" rtl="0">
              <a:lnSpc>
                <a:spcPct val="166666"/>
              </a:lnSpc>
              <a:spcBef>
                <a:spcPts val="0"/>
              </a:spcBef>
              <a:spcAft>
                <a:spcPts val="0"/>
              </a:spcAft>
              <a:buNone/>
            </a:pPr>
            <a:endParaRPr sz="5400" b="1">
              <a:solidFill>
                <a:srgbClr val="004AAD"/>
              </a:solidFill>
              <a:latin typeface="Montserrat"/>
              <a:ea typeface="Montserrat"/>
              <a:cs typeface="Montserrat"/>
              <a:sym typeface="Montserrat"/>
            </a:endParaRPr>
          </a:p>
        </p:txBody>
      </p:sp>
      <p:pic>
        <p:nvPicPr>
          <p:cNvPr id="680" name="Google Shape;680;p46"/>
          <p:cNvPicPr preferRelativeResize="0"/>
          <p:nvPr/>
        </p:nvPicPr>
        <p:blipFill rotWithShape="1">
          <a:blip r:embed="rId3">
            <a:alphaModFix/>
          </a:blip>
          <a:srcRect/>
          <a:stretch/>
        </p:blipFill>
        <p:spPr>
          <a:xfrm>
            <a:off x="2073729" y="319120"/>
            <a:ext cx="14096999" cy="8458200"/>
          </a:xfrm>
          <a:prstGeom prst="rect">
            <a:avLst/>
          </a:prstGeom>
          <a:noFill/>
          <a:ln>
            <a:noFill/>
          </a:ln>
        </p:spPr>
      </p:pic>
      <p:sp>
        <p:nvSpPr>
          <p:cNvPr id="681" name="Google Shape;681;p46"/>
          <p:cNvSpPr txBox="1"/>
          <p:nvPr/>
        </p:nvSpPr>
        <p:spPr>
          <a:xfrm>
            <a:off x="2073729" y="9259994"/>
            <a:ext cx="13411200"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4000" b="1">
                <a:solidFill>
                  <a:srgbClr val="004AAD"/>
                </a:solidFill>
                <a:latin typeface="Montserrat"/>
                <a:ea typeface="Montserrat"/>
                <a:cs typeface="Montserrat"/>
                <a:sym typeface="Montserrat"/>
              </a:rPr>
              <a:t>Schéma explicatif du processus proposé</a:t>
            </a:r>
            <a:endParaRPr sz="4000" b="1">
              <a:solidFill>
                <a:srgbClr val="004AAD"/>
              </a:solidFill>
              <a:latin typeface="Montserrat"/>
              <a:ea typeface="Montserrat"/>
              <a:cs typeface="Montserrat"/>
              <a:sym typeface="Montserrat"/>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86"/>
        <p:cNvGrpSpPr/>
        <p:nvPr/>
      </p:nvGrpSpPr>
      <p:grpSpPr>
        <a:xfrm>
          <a:off x="0" y="0"/>
          <a:ext cx="0" cy="0"/>
          <a:chOff x="0" y="0"/>
          <a:chExt cx="0" cy="0"/>
        </a:xfrm>
      </p:grpSpPr>
      <p:sp>
        <p:nvSpPr>
          <p:cNvPr id="687" name="Google Shape;687;p47"/>
          <p:cNvSpPr txBox="1"/>
          <p:nvPr/>
        </p:nvSpPr>
        <p:spPr>
          <a:xfrm>
            <a:off x="3026229" y="319120"/>
            <a:ext cx="12302440" cy="999954"/>
          </a:xfrm>
          <a:prstGeom prst="rect">
            <a:avLst/>
          </a:prstGeom>
          <a:noFill/>
          <a:ln>
            <a:noFill/>
          </a:ln>
        </p:spPr>
        <p:txBody>
          <a:bodyPr spcFirstLastPara="1" wrap="square" lIns="0" tIns="0" rIns="0" bIns="0" anchor="t" anchorCtr="0">
            <a:spAutoFit/>
          </a:bodyPr>
          <a:lstStyle/>
          <a:p>
            <a:pPr marL="0" marR="0" lvl="0" indent="0" algn="l" rtl="0">
              <a:lnSpc>
                <a:spcPct val="166666"/>
              </a:lnSpc>
              <a:spcBef>
                <a:spcPts val="0"/>
              </a:spcBef>
              <a:spcAft>
                <a:spcPts val="0"/>
              </a:spcAft>
              <a:buNone/>
            </a:pPr>
            <a:endParaRPr sz="5400" b="1">
              <a:solidFill>
                <a:srgbClr val="004AAD"/>
              </a:solidFill>
              <a:latin typeface="Montserrat"/>
              <a:ea typeface="Montserrat"/>
              <a:cs typeface="Montserrat"/>
              <a:sym typeface="Montserrat"/>
            </a:endParaRPr>
          </a:p>
        </p:txBody>
      </p:sp>
      <p:sp>
        <p:nvSpPr>
          <p:cNvPr id="688" name="Google Shape;688;p47"/>
          <p:cNvSpPr txBox="1"/>
          <p:nvPr/>
        </p:nvSpPr>
        <p:spPr>
          <a:xfrm>
            <a:off x="2095500" y="4621113"/>
            <a:ext cx="14097000" cy="1044773"/>
          </a:xfrm>
          <a:prstGeom prst="rect">
            <a:avLst/>
          </a:prstGeom>
          <a:noFill/>
          <a:ln>
            <a:noFill/>
          </a:ln>
        </p:spPr>
        <p:txBody>
          <a:bodyPr spcFirstLastPara="1" wrap="square" lIns="0" tIns="0" rIns="0" bIns="0" anchor="t" anchorCtr="0">
            <a:spAutoFit/>
          </a:bodyPr>
          <a:lstStyle/>
          <a:p>
            <a:pPr marL="0" marR="0" lvl="0" indent="0" algn="ctr" rtl="0">
              <a:lnSpc>
                <a:spcPct val="125000"/>
              </a:lnSpc>
              <a:spcBef>
                <a:spcPts val="0"/>
              </a:spcBef>
              <a:spcAft>
                <a:spcPts val="0"/>
              </a:spcAft>
              <a:buNone/>
            </a:pPr>
            <a:r>
              <a:rPr lang="fr-FR" sz="7200" b="1">
                <a:solidFill>
                  <a:srgbClr val="004AAD"/>
                </a:solidFill>
                <a:latin typeface="Montserrat"/>
                <a:ea typeface="Montserrat"/>
                <a:cs typeface="Montserrat"/>
                <a:sym typeface="Montserrat"/>
              </a:rPr>
              <a:t>Conclusion </a:t>
            </a:r>
            <a:endParaRPr sz="7200" b="1">
              <a:solidFill>
                <a:srgbClr val="004AAD"/>
              </a:solidFill>
              <a:latin typeface="Montserrat"/>
              <a:ea typeface="Montserrat"/>
              <a:cs typeface="Montserrat"/>
              <a:sym typeface="Montserrat"/>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92"/>
        <p:cNvGrpSpPr/>
        <p:nvPr/>
      </p:nvGrpSpPr>
      <p:grpSpPr>
        <a:xfrm>
          <a:off x="0" y="0"/>
          <a:ext cx="0" cy="0"/>
          <a:chOff x="0" y="0"/>
          <a:chExt cx="0" cy="0"/>
        </a:xfrm>
      </p:grpSpPr>
      <p:sp>
        <p:nvSpPr>
          <p:cNvPr id="693" name="Google Shape;693;p48"/>
          <p:cNvSpPr txBox="1"/>
          <p:nvPr/>
        </p:nvSpPr>
        <p:spPr>
          <a:xfrm>
            <a:off x="2776678" y="3848100"/>
            <a:ext cx="9167258" cy="1667123"/>
          </a:xfrm>
          <a:prstGeom prst="rect">
            <a:avLst/>
          </a:prstGeom>
          <a:noFill/>
          <a:ln>
            <a:noFill/>
          </a:ln>
        </p:spPr>
        <p:txBody>
          <a:bodyPr spcFirstLastPara="1" wrap="square" lIns="0" tIns="0" rIns="0" bIns="0" anchor="t" anchorCtr="0">
            <a:spAutoFit/>
          </a:bodyPr>
          <a:lstStyle/>
          <a:p>
            <a:pPr marL="0" marR="0" lvl="0" indent="0" algn="l" rtl="0">
              <a:lnSpc>
                <a:spcPct val="83525"/>
              </a:lnSpc>
              <a:spcBef>
                <a:spcPts val="0"/>
              </a:spcBef>
              <a:spcAft>
                <a:spcPts val="0"/>
              </a:spcAft>
              <a:buNone/>
            </a:pPr>
            <a:r>
              <a:rPr lang="fr-FR" sz="15600" b="1">
                <a:solidFill>
                  <a:srgbClr val="004AAD"/>
                </a:solidFill>
                <a:latin typeface="Montserrat"/>
                <a:ea typeface="Montserrat"/>
                <a:cs typeface="Montserrat"/>
                <a:sym typeface="Montserrat"/>
              </a:rPr>
              <a:t>Merci !</a:t>
            </a:r>
            <a:endParaRPr/>
          </a:p>
        </p:txBody>
      </p:sp>
      <p:sp>
        <p:nvSpPr>
          <p:cNvPr id="694" name="Google Shape;694;p48"/>
          <p:cNvSpPr txBox="1"/>
          <p:nvPr/>
        </p:nvSpPr>
        <p:spPr>
          <a:xfrm>
            <a:off x="944640" y="9402786"/>
            <a:ext cx="4794862" cy="386709"/>
          </a:xfrm>
          <a:prstGeom prst="rect">
            <a:avLst/>
          </a:prstGeom>
          <a:noFill/>
          <a:ln>
            <a:noFill/>
          </a:ln>
        </p:spPr>
        <p:txBody>
          <a:bodyPr spcFirstLastPara="1" wrap="square" lIns="0" tIns="0" rIns="0" bIns="0" anchor="t" anchorCtr="0">
            <a:spAutoFit/>
          </a:bodyPr>
          <a:lstStyle/>
          <a:p>
            <a:pPr marL="0" marR="0" lvl="0" indent="0" algn="l" rtl="0">
              <a:lnSpc>
                <a:spcPct val="139974"/>
              </a:lnSpc>
              <a:spcBef>
                <a:spcPts val="0"/>
              </a:spcBef>
              <a:spcAft>
                <a:spcPts val="0"/>
              </a:spcAft>
              <a:buNone/>
            </a:pPr>
            <a:r>
              <a:rPr lang="fr-FR" sz="2399" b="1" i="1">
                <a:solidFill>
                  <a:srgbClr val="2E2E2E"/>
                </a:solidFill>
                <a:latin typeface="Montserrat"/>
                <a:ea typeface="Montserrat"/>
                <a:cs typeface="Montserrat"/>
                <a:sym typeface="Montserrat"/>
              </a:rPr>
              <a:t>Rachid kherbech</a:t>
            </a:r>
            <a:endParaRPr/>
          </a:p>
        </p:txBody>
      </p:sp>
      <p:sp>
        <p:nvSpPr>
          <p:cNvPr id="695" name="Google Shape;695;p48"/>
          <p:cNvSpPr/>
          <p:nvPr/>
        </p:nvSpPr>
        <p:spPr>
          <a:xfrm rot="-1766807">
            <a:off x="7657129" y="1769902"/>
            <a:ext cx="12112141" cy="9843868"/>
          </a:xfrm>
          <a:custGeom>
            <a:avLst/>
            <a:gdLst/>
            <a:ahLst/>
            <a:cxnLst/>
            <a:rect l="l" t="t" r="r" b="b"/>
            <a:pathLst>
              <a:path w="12112141" h="9843868" extrusionOk="0">
                <a:moveTo>
                  <a:pt x="0" y="0"/>
                </a:moveTo>
                <a:lnTo>
                  <a:pt x="12112141" y="0"/>
                </a:lnTo>
                <a:lnTo>
                  <a:pt x="12112141" y="9843868"/>
                </a:lnTo>
                <a:lnTo>
                  <a:pt x="0" y="9843868"/>
                </a:lnTo>
                <a:lnTo>
                  <a:pt x="0" y="0"/>
                </a:lnTo>
                <a:close/>
              </a:path>
            </a:pathLst>
          </a:custGeom>
          <a:blipFill rotWithShape="1">
            <a:blip r:embed="rId3">
              <a:alphaModFix amt="50000"/>
            </a:blip>
            <a:stretch>
              <a:fillRect/>
            </a:stretch>
          </a:blipFill>
          <a:ln>
            <a:noFill/>
          </a:ln>
        </p:spPr>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2977</Words>
  <Application>Microsoft Office PowerPoint</Application>
  <PresentationFormat>Custom</PresentationFormat>
  <Paragraphs>331</Paragraphs>
  <Slides>48</Slides>
  <Notes>48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48</vt:i4>
      </vt:variant>
    </vt:vector>
  </HeadingPairs>
  <TitlesOfParts>
    <vt:vector size="54" baseType="lpstr">
      <vt:lpstr>Arial</vt:lpstr>
      <vt:lpstr>Times New Roman</vt:lpstr>
      <vt:lpstr>League Spartan</vt:lpstr>
      <vt:lpstr>Montserrat</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rachid</dc:creator>
  <cp:lastModifiedBy>rachid kherbech</cp:lastModifiedBy>
  <cp:revision>1</cp:revision>
  <dcterms:created xsi:type="dcterms:W3CDTF">2006-08-16T00:00:00Z</dcterms:created>
  <dcterms:modified xsi:type="dcterms:W3CDTF">2025-12-07T16:06:23Z</dcterms:modified>
</cp:coreProperties>
</file>